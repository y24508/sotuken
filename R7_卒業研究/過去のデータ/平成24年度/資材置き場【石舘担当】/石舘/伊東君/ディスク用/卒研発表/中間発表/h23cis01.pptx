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2" r:id="rId11"/>
    <p:sldId id="265" r:id="rId12"/>
    <p:sldId id="270" r:id="rId13"/>
    <p:sldId id="264" r:id="rId14"/>
    <p:sldId id="266" r:id="rId15"/>
    <p:sldId id="267" r:id="rId16"/>
    <p:sldId id="268" r:id="rId17"/>
    <p:sldId id="269" r:id="rId18"/>
  </p:sldIdLst>
  <p:sldSz cx="9144000" cy="6858000" type="screen4x3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37" autoAdjust="0"/>
    <p:restoredTop sz="94660"/>
  </p:normalViewPr>
  <p:slideViewPr>
    <p:cSldViewPr>
      <p:cViewPr>
        <p:scale>
          <a:sx n="75" d="100"/>
          <a:sy n="75" d="100"/>
        </p:scale>
        <p:origin x="-2400" y="-9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ja-JP" altLang="en-US" smtClean="0"/>
              <a:t>マスター サブタイトルの書式設定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4A83-0613-47F2-BBEB-D355A6C6CFF2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BE840-849E-4EB0-B559-780D2DED09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4A83-0613-47F2-BBEB-D355A6C6CFF2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BE840-849E-4EB0-B559-780D2DED09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4A83-0613-47F2-BBEB-D355A6C6CFF2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BE840-849E-4EB0-B559-780D2DED09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4A83-0613-47F2-BBEB-D355A6C6CFF2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BE840-849E-4EB0-B559-780D2DED09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4A83-0613-47F2-BBEB-D355A6C6CFF2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BE840-849E-4EB0-B559-780D2DED09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4A83-0613-47F2-BBEB-D355A6C6CFF2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BE840-849E-4EB0-B559-780D2DED09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4A83-0613-47F2-BBEB-D355A6C6CFF2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BE840-849E-4EB0-B559-780D2DED09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4A83-0613-47F2-BBEB-D355A6C6CFF2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BE840-849E-4EB0-B559-780D2DED09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4A83-0613-47F2-BBEB-D355A6C6CFF2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354BE840-849E-4EB0-B559-780D2DED099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ja-JP" altLang="en-US" smtClean="0"/>
              <a:t>アイコンをクリックして図を追加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4A83-0613-47F2-BBEB-D355A6C6CFF2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BE840-849E-4EB0-B559-780D2DED09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4A83-0613-47F2-BBEB-D355A6C6CFF2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BE840-849E-4EB0-B559-780D2DED09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  <a:p>
            <a:pPr lvl="1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2 </a:t>
            </a:r>
            <a:r>
              <a:rPr kumimoji="0" lang="ja-JP" altLang="en-US" smtClean="0"/>
              <a:t>レベル</a:t>
            </a:r>
          </a:p>
          <a:p>
            <a:pPr lvl="2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3 </a:t>
            </a:r>
            <a:r>
              <a:rPr kumimoji="0" lang="ja-JP" altLang="en-US" smtClean="0"/>
              <a:t>レベル</a:t>
            </a:r>
          </a:p>
          <a:p>
            <a:pPr lvl="3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4 </a:t>
            </a:r>
            <a:r>
              <a:rPr kumimoji="0" lang="ja-JP" altLang="en-US" smtClean="0"/>
              <a:t>レベル</a:t>
            </a:r>
          </a:p>
          <a:p>
            <a:pPr lvl="4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5 </a:t>
            </a:r>
            <a:r>
              <a:rPr kumimoji="0" lang="ja-JP" altLang="en-US" smtClean="0"/>
              <a:t>レベル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3414A83-0613-47F2-BBEB-D355A6C6CFF2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54BE840-849E-4EB0-B559-780D2DED099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1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1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467544" y="1196752"/>
            <a:ext cx="7992888" cy="1872208"/>
          </a:xfrm>
        </p:spPr>
        <p:txBody>
          <a:bodyPr>
            <a:normAutofit/>
          </a:bodyPr>
          <a:lstStyle/>
          <a:p>
            <a:pPr algn="ctr"/>
            <a:r>
              <a:rPr kumimoji="1" lang="en-US" altLang="ja-JP" dirty="0" err="1" smtClean="0"/>
              <a:t>Kinect</a:t>
            </a:r>
            <a:r>
              <a:rPr kumimoji="1" lang="ja-JP" altLang="en-US" dirty="0" smtClean="0"/>
              <a:t>を使った</a:t>
            </a:r>
            <a:r>
              <a:rPr kumimoji="1" lang="en-US" altLang="ja-JP" dirty="0" smtClean="0"/>
              <a:t>	</a:t>
            </a:r>
            <a:br>
              <a:rPr kumimoji="1" lang="en-US" altLang="ja-JP" dirty="0" smtClean="0"/>
            </a:br>
            <a:r>
              <a:rPr kumimoji="1" lang="ja-JP" altLang="en-US" dirty="0" smtClean="0"/>
              <a:t>ペイントツールの作成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情報技術科　　　　</a:t>
            </a:r>
            <a:r>
              <a:rPr lang="ja-JP" altLang="en-US" dirty="0" smtClean="0"/>
              <a:t>２</a:t>
            </a:r>
            <a:r>
              <a:rPr kumimoji="1" lang="ja-JP" altLang="en-US" dirty="0" smtClean="0"/>
              <a:t>年</a:t>
            </a:r>
            <a:endParaRPr kumimoji="1" lang="en-US" altLang="ja-JP" dirty="0" smtClean="0"/>
          </a:p>
          <a:p>
            <a:r>
              <a:rPr lang="ja-JP" altLang="en-US" dirty="0" smtClean="0"/>
              <a:t>　１番　　　　伊東　秀輔　</a:t>
            </a:r>
            <a:endParaRPr lang="en-US" altLang="ja-JP" dirty="0" smtClean="0"/>
          </a:p>
          <a:p>
            <a:r>
              <a:rPr kumimoji="1" lang="ja-JP" altLang="en-US" dirty="0" smtClean="0"/>
              <a:t>担当教員　</a:t>
            </a:r>
            <a:r>
              <a:rPr kumimoji="1" lang="ja-JP" altLang="en-US" dirty="0" smtClean="0"/>
              <a:t>石</a:t>
            </a:r>
            <a:r>
              <a:rPr lang="ja-JP" altLang="en-US" dirty="0"/>
              <a:t>舘</a:t>
            </a:r>
            <a:r>
              <a:rPr kumimoji="1" lang="ja-JP" altLang="en-US" dirty="0" smtClean="0"/>
              <a:t>　勝好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09621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smtClean="0"/>
              <a:t>発表</a:t>
            </a:r>
            <a:r>
              <a:rPr lang="ja-JP" altLang="en-US" smtClean="0"/>
              <a:t>項目</a:t>
            </a:r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517856"/>
          </a:xfrm>
        </p:spPr>
        <p:txBody>
          <a:bodyPr>
            <a:noAutofit/>
          </a:bodyPr>
          <a:lstStyle/>
          <a:p>
            <a:r>
              <a:rPr kumimoji="1" lang="ja-JP" altLang="en-US" sz="3600" dirty="0" smtClean="0"/>
              <a:t>はじめに</a:t>
            </a:r>
            <a:endParaRPr kumimoji="1" lang="en-US" altLang="ja-JP" sz="3600" dirty="0" smtClean="0"/>
          </a:p>
          <a:p>
            <a:r>
              <a:rPr kumimoji="1" lang="ja-JP" altLang="en-US" sz="3600" dirty="0" smtClean="0"/>
              <a:t>開発環境</a:t>
            </a:r>
            <a:endParaRPr kumimoji="1" lang="en-US" altLang="ja-JP" sz="3600" dirty="0" smtClean="0"/>
          </a:p>
          <a:p>
            <a:r>
              <a:rPr lang="ja-JP" altLang="en-US" sz="3600" dirty="0" smtClean="0"/>
              <a:t>システムの概要</a:t>
            </a:r>
            <a:endParaRPr lang="en-US" altLang="ja-JP" sz="3600" dirty="0" smtClean="0"/>
          </a:p>
          <a:p>
            <a:r>
              <a:rPr kumimoji="1" lang="en-US" altLang="ja-JP" sz="3600" dirty="0" err="1" smtClean="0"/>
              <a:t>OpenNI</a:t>
            </a:r>
            <a:r>
              <a:rPr kumimoji="1" lang="ja-JP" altLang="en-US" sz="3600" dirty="0" smtClean="0"/>
              <a:t>の概要</a:t>
            </a:r>
            <a:endParaRPr kumimoji="1" lang="en-US" altLang="ja-JP" sz="3600" dirty="0" smtClean="0"/>
          </a:p>
          <a:p>
            <a:r>
              <a:rPr lang="ja-JP" altLang="en-US" sz="3600" dirty="0" smtClean="0"/>
              <a:t>アプリケーションの試作</a:t>
            </a:r>
            <a:endParaRPr lang="en-US" altLang="ja-JP" sz="3600" dirty="0" smtClean="0"/>
          </a:p>
          <a:p>
            <a:r>
              <a:rPr kumimoji="1" lang="ja-JP" altLang="en-US" sz="3600" dirty="0" smtClean="0"/>
              <a:t>アプリケーションの作成</a:t>
            </a:r>
            <a:endParaRPr kumimoji="1" lang="en-US" altLang="ja-JP" sz="3600" dirty="0" smtClean="0"/>
          </a:p>
          <a:p>
            <a:r>
              <a:rPr kumimoji="1" lang="ja-JP" altLang="en-US" sz="3600" dirty="0" smtClean="0"/>
              <a:t>まとめ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624394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ja-JP" altLang="en-US" dirty="0" smtClean="0"/>
              <a:t>１．はじめ</a:t>
            </a:r>
            <a:r>
              <a:rPr lang="ja-JP" altLang="en-US" dirty="0"/>
              <a:t>に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3600" dirty="0"/>
              <a:t>私</a:t>
            </a:r>
            <a:r>
              <a:rPr lang="ja-JP" altLang="en-US" sz="3600" dirty="0" smtClean="0"/>
              <a:t>は，</a:t>
            </a:r>
            <a:r>
              <a:rPr lang="en-US" altLang="ja-JP" sz="3600" dirty="0" smtClean="0"/>
              <a:t>Java</a:t>
            </a:r>
            <a:r>
              <a:rPr lang="ja-JP" altLang="en-US" sz="3600" dirty="0" smtClean="0"/>
              <a:t>を通じて学んだオブジェクト指向について興味を持ち</a:t>
            </a:r>
            <a:r>
              <a:rPr lang="en-US" altLang="ja-JP" sz="3600" dirty="0" smtClean="0"/>
              <a:t>C#</a:t>
            </a:r>
            <a:r>
              <a:rPr lang="ja-JP" altLang="en-US" sz="3600" dirty="0" smtClean="0"/>
              <a:t>を使って学びたいと考えた．</a:t>
            </a:r>
            <a:endParaRPr lang="en-US" altLang="ja-JP" sz="3600" dirty="0" smtClean="0"/>
          </a:p>
          <a:p>
            <a:endParaRPr kumimoji="1" lang="en-US" altLang="ja-JP" sz="3600" dirty="0"/>
          </a:p>
          <a:p>
            <a:r>
              <a:rPr lang="en-US" altLang="ja-JP" sz="3600" dirty="0" smtClean="0"/>
              <a:t>NUI</a:t>
            </a:r>
            <a:r>
              <a:rPr lang="ja-JP" altLang="en-US" sz="3600" dirty="0" smtClean="0"/>
              <a:t>を実現するデバイスとして話題となっている</a:t>
            </a:r>
            <a:r>
              <a:rPr lang="en-US" altLang="ja-JP" sz="3600" dirty="0" err="1" smtClean="0"/>
              <a:t>Kinect</a:t>
            </a:r>
            <a:r>
              <a:rPr lang="ja-JP" altLang="en-US" sz="3600" dirty="0" smtClean="0"/>
              <a:t>を活用したいと考えた．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0766765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dirty="0" smtClean="0"/>
              <a:t>２．開発環境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ja-JP" sz="3200" dirty="0"/>
          </a:p>
          <a:p>
            <a:r>
              <a:rPr kumimoji="1" lang="ja-JP" altLang="en-US" sz="3200" dirty="0" smtClean="0"/>
              <a:t>ハードウェア：</a:t>
            </a:r>
            <a:r>
              <a:rPr kumimoji="1" lang="en-US" altLang="ja-JP" sz="3200" dirty="0" err="1" smtClean="0"/>
              <a:t>Kinect</a:t>
            </a:r>
            <a:r>
              <a:rPr kumimoji="1" lang="ja-JP" altLang="en-US" sz="3200" dirty="0" err="1" smtClean="0"/>
              <a:t>，</a:t>
            </a:r>
            <a:r>
              <a:rPr kumimoji="1" lang="ja-JP" altLang="en-US" sz="3200" dirty="0" smtClean="0"/>
              <a:t>プロジェクタ</a:t>
            </a:r>
            <a:r>
              <a:rPr lang="ja-JP" altLang="en-US" sz="3200" dirty="0" smtClean="0"/>
              <a:t>，</a:t>
            </a:r>
            <a:r>
              <a:rPr lang="en-US" altLang="ja-JP" sz="3200" dirty="0" smtClean="0"/>
              <a:t>PC</a:t>
            </a:r>
            <a:endParaRPr kumimoji="1" lang="en-US" altLang="ja-JP" sz="3200" dirty="0" smtClean="0"/>
          </a:p>
          <a:p>
            <a:r>
              <a:rPr lang="ja-JP" altLang="en-US" sz="3200" dirty="0"/>
              <a:t>ライブラリ</a:t>
            </a:r>
            <a:r>
              <a:rPr lang="ja-JP" altLang="en-US" sz="3200" dirty="0" smtClean="0"/>
              <a:t>：</a:t>
            </a:r>
            <a:r>
              <a:rPr lang="en-US" altLang="ja-JP" sz="3200" dirty="0" err="1" smtClean="0"/>
              <a:t>OpenNI</a:t>
            </a:r>
            <a:r>
              <a:rPr lang="ja-JP" altLang="en-US" sz="3200" dirty="0" err="1" smtClean="0"/>
              <a:t>，</a:t>
            </a:r>
            <a:r>
              <a:rPr lang="en-US" altLang="ja-JP" sz="3200" dirty="0" smtClean="0"/>
              <a:t>NITE</a:t>
            </a:r>
          </a:p>
          <a:p>
            <a:r>
              <a:rPr kumimoji="1" lang="en-US" altLang="ja-JP" sz="3200" dirty="0" smtClean="0"/>
              <a:t>OS</a:t>
            </a:r>
            <a:r>
              <a:rPr kumimoji="1" lang="ja-JP" altLang="en-US" sz="3200" dirty="0" smtClean="0"/>
              <a:t>：</a:t>
            </a:r>
            <a:r>
              <a:rPr kumimoji="1" lang="en-US" altLang="ja-JP" sz="3200" dirty="0" smtClean="0"/>
              <a:t>Windows </a:t>
            </a:r>
            <a:r>
              <a:rPr kumimoji="1" lang="ja-JP" altLang="en-US" sz="3200" dirty="0" smtClean="0"/>
              <a:t>７</a:t>
            </a:r>
            <a:endParaRPr kumimoji="1" lang="en-US" altLang="ja-JP" sz="3200" dirty="0" smtClean="0"/>
          </a:p>
          <a:p>
            <a:r>
              <a:rPr lang="ja-JP" altLang="en-US" sz="3200" dirty="0" smtClean="0"/>
              <a:t>開発言語：</a:t>
            </a:r>
            <a:r>
              <a:rPr lang="en-US" altLang="ja-JP" sz="3200" dirty="0" smtClean="0"/>
              <a:t>Microsoft Visual Studio </a:t>
            </a:r>
            <a:r>
              <a:rPr lang="ja-JP" altLang="en-US" sz="3200" dirty="0" smtClean="0"/>
              <a:t>２０１０　</a:t>
            </a:r>
            <a:r>
              <a:rPr lang="en-US" altLang="ja-JP" sz="3200" dirty="0" smtClean="0"/>
              <a:t>C#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225092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dirty="0" smtClean="0"/>
              <a:t>３．システムの概要</a:t>
            </a:r>
            <a:endParaRPr kumimoji="1" lang="ja-JP" altLang="en-US" dirty="0"/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636912"/>
            <a:ext cx="8229600" cy="2594707"/>
          </a:xfrm>
        </p:spPr>
      </p:pic>
    </p:spTree>
    <p:extLst>
      <p:ext uri="{BB962C8B-B14F-4D97-AF65-F5344CB8AC3E}">
        <p14:creationId xmlns:p14="http://schemas.microsoft.com/office/powerpoint/2010/main" val="3422256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ja-JP" dirty="0" smtClean="0"/>
              <a:t>4.1</a:t>
            </a:r>
            <a:r>
              <a:rPr lang="ja-JP" altLang="en-US" dirty="0" smtClean="0"/>
              <a:t>　</a:t>
            </a:r>
            <a:r>
              <a:rPr lang="en-US" altLang="ja-JP" dirty="0" err="1" smtClean="0"/>
              <a:t>OpenNI</a:t>
            </a:r>
            <a:r>
              <a:rPr lang="ja-JP" altLang="en-US" dirty="0" smtClean="0"/>
              <a:t>のライブラリ構成</a:t>
            </a:r>
            <a:endParaRPr kumimoji="1" lang="ja-JP" altLang="en-US" dirty="0"/>
          </a:p>
        </p:txBody>
      </p:sp>
      <p:pic>
        <p:nvPicPr>
          <p:cNvPr id="1026" name="Picture 2" descr="伊東卒研イラスト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988840"/>
            <a:ext cx="6390425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5891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kumimoji="1" lang="en-US" altLang="ja-JP" sz="4000" dirty="0" smtClean="0"/>
              <a:t>4.2</a:t>
            </a:r>
            <a:r>
              <a:rPr kumimoji="1" lang="ja-JP" altLang="en-US" sz="4000" dirty="0" smtClean="0"/>
              <a:t>使用する</a:t>
            </a:r>
            <a:r>
              <a:rPr kumimoji="1" lang="en-US" altLang="ja-JP" sz="4000" dirty="0" err="1" smtClean="0"/>
              <a:t>OpenNI</a:t>
            </a:r>
            <a:r>
              <a:rPr kumimoji="1" lang="ja-JP" altLang="en-US" sz="4000" dirty="0" smtClean="0"/>
              <a:t>ライブラリのクラス</a:t>
            </a:r>
            <a:endParaRPr kumimoji="1" lang="ja-JP" altLang="en-US" sz="4000" dirty="0"/>
          </a:p>
        </p:txBody>
      </p:sp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1339801"/>
              </p:ext>
            </p:extLst>
          </p:nvPr>
        </p:nvGraphicFramePr>
        <p:xfrm>
          <a:off x="611561" y="2318151"/>
          <a:ext cx="8136905" cy="3660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4215"/>
                <a:gridCol w="3959205"/>
                <a:gridCol w="2233485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ja-JP" sz="2800" kern="100" dirty="0">
                          <a:effectLst/>
                        </a:rPr>
                        <a:t>分類</a:t>
                      </a:r>
                      <a:endParaRPr lang="ja-JP" sz="2800" kern="100" dirty="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2865" marR="6286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ja-JP" sz="2800" kern="100" dirty="0">
                          <a:effectLst/>
                        </a:rPr>
                        <a:t>クラス</a:t>
                      </a:r>
                      <a:endParaRPr lang="ja-JP" sz="2800" kern="100" dirty="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2865" marR="6286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ja-JP" sz="2800" kern="100">
                          <a:effectLst/>
                        </a:rPr>
                        <a:t>概要</a:t>
                      </a:r>
                      <a:endParaRPr lang="ja-JP" sz="2800" kern="10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2865" marR="62865" marT="0" marB="0"/>
                </a:tc>
              </a:tr>
              <a:tr h="3928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Context</a:t>
                      </a:r>
                      <a:endParaRPr lang="ja-JP" sz="2800" kern="100" dirty="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Context</a:t>
                      </a:r>
                      <a:endParaRPr lang="ja-JP" sz="2800" kern="100" dirty="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2865" marR="6286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Kinect</a:t>
                      </a:r>
                      <a:r>
                        <a:rPr lang="ja-JP" sz="2400" kern="100">
                          <a:effectLst/>
                        </a:rPr>
                        <a:t>初期化</a:t>
                      </a:r>
                      <a:endParaRPr lang="ja-JP" sz="2800" kern="10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2865" marR="62865" marT="0" marB="0"/>
                </a:tc>
              </a:tr>
              <a:tr h="387381">
                <a:tc row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Generator</a:t>
                      </a:r>
                      <a:endParaRPr lang="ja-JP" sz="2800" kern="10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 err="1">
                          <a:effectLst/>
                        </a:rPr>
                        <a:t>ImageGenerator</a:t>
                      </a:r>
                      <a:endParaRPr lang="ja-JP" sz="2800" kern="100" dirty="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2865" marR="6286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ja-JP" sz="2400" kern="100">
                          <a:effectLst/>
                        </a:rPr>
                        <a:t>カメラ画像生成</a:t>
                      </a:r>
                      <a:endParaRPr lang="ja-JP" sz="2800" kern="10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2865" marR="62865" marT="0" marB="0"/>
                </a:tc>
              </a:tr>
              <a:tr h="32676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 err="1" smtClean="0">
                          <a:effectLst/>
                        </a:rPr>
                        <a:t>Depth</a:t>
                      </a:r>
                      <a:r>
                        <a:rPr lang="en-US" altLang="ja-JP" sz="2400" kern="100" dirty="0" err="1" smtClean="0">
                          <a:effectLst/>
                        </a:rPr>
                        <a:t>G</a:t>
                      </a:r>
                      <a:r>
                        <a:rPr lang="en-US" sz="2400" kern="100" dirty="0" err="1" smtClean="0">
                          <a:effectLst/>
                        </a:rPr>
                        <a:t>enerator</a:t>
                      </a:r>
                      <a:endParaRPr lang="ja-JP" sz="2800" kern="100" dirty="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2865" marR="6286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ja-JP" sz="2400" kern="100" dirty="0">
                          <a:effectLst/>
                        </a:rPr>
                        <a:t>距離検出</a:t>
                      </a:r>
                      <a:endParaRPr lang="ja-JP" sz="2800" kern="100" dirty="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2865" marR="62865" marT="0" marB="0"/>
                </a:tc>
              </a:tr>
              <a:tr h="415183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 err="1">
                          <a:effectLst/>
                        </a:rPr>
                        <a:t>UserGenerator</a:t>
                      </a:r>
                      <a:endParaRPr lang="ja-JP" sz="2800" kern="100" dirty="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2865" marR="6286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ja-JP" sz="2400" kern="100" dirty="0">
                          <a:effectLst/>
                        </a:rPr>
                        <a:t>ユーザー検出</a:t>
                      </a:r>
                      <a:endParaRPr lang="ja-JP" sz="2800" kern="100" dirty="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2865" marR="62865" marT="0" marB="0"/>
                </a:tc>
              </a:tr>
              <a:tr h="653541">
                <a:tc row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Capability</a:t>
                      </a:r>
                      <a:endParaRPr lang="ja-JP" sz="2800" kern="10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 err="1">
                          <a:effectLst/>
                        </a:rPr>
                        <a:t>SkeletonCapability</a:t>
                      </a:r>
                      <a:endParaRPr lang="ja-JP" sz="2800" kern="100" dirty="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2865" marR="6286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ja-JP" sz="2400" kern="100" dirty="0">
                          <a:effectLst/>
                        </a:rPr>
                        <a:t>骨格検出機能</a:t>
                      </a:r>
                      <a:endParaRPr lang="ja-JP" sz="2800" kern="100" dirty="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2865" marR="62865" marT="0" marB="0"/>
                </a:tc>
              </a:tr>
              <a:tr h="653541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PoseDetectionCapability</a:t>
                      </a:r>
                      <a:endParaRPr lang="ja-JP" sz="2800" kern="10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2865" marR="6286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ja-JP" sz="2400" kern="100" dirty="0">
                          <a:effectLst/>
                        </a:rPr>
                        <a:t>ポーズ検出機能</a:t>
                      </a:r>
                      <a:endParaRPr lang="ja-JP" sz="2800" kern="100" dirty="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2865" marR="62865" marT="0" marB="0"/>
                </a:tc>
              </a:tr>
              <a:tr h="32676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MirrorCapability</a:t>
                      </a:r>
                      <a:endParaRPr lang="ja-JP" sz="2800" kern="10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2865" marR="6286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ja-JP" sz="2400" kern="100" dirty="0">
                          <a:effectLst/>
                        </a:rPr>
                        <a:t>鏡面機能</a:t>
                      </a:r>
                      <a:endParaRPr lang="ja-JP" sz="2800" kern="100" dirty="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2865" marR="62865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9880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ja-JP" dirty="0" smtClean="0"/>
              <a:t>5.1</a:t>
            </a:r>
            <a:r>
              <a:rPr kumimoji="1" lang="ja-JP" altLang="en-US" dirty="0" smtClean="0"/>
              <a:t>　ペイントソフトの試作</a:t>
            </a:r>
            <a:endParaRPr kumimoji="1" lang="ja-JP" alt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916832"/>
            <a:ext cx="4464496" cy="3970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4659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P:\2年時\卒研フォルダー\図面1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04" y="2132856"/>
            <a:ext cx="8316298" cy="250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519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404664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2000" dirty="0" smtClean="0">
                <a:latin typeface="Consolas" pitchFamily="49" charset="0"/>
                <a:cs typeface="Consolas" pitchFamily="49" charset="0"/>
              </a:rPr>
              <a:t>void 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Form1_MouseDown(object sender, </a:t>
            </a:r>
            <a:r>
              <a:rPr lang="en-US" altLang="ja-JP" sz="2000" dirty="0" err="1">
                <a:latin typeface="Consolas" pitchFamily="49" charset="0"/>
                <a:cs typeface="Consolas" pitchFamily="49" charset="0"/>
              </a:rPr>
              <a:t>MouseEventArgs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 e</a:t>
            </a:r>
            <a:r>
              <a:rPr lang="en-US" altLang="ja-JP" sz="2000" dirty="0" smtClean="0">
                <a:latin typeface="Consolas" pitchFamily="49" charset="0"/>
                <a:cs typeface="Consolas" pitchFamily="49" charset="0"/>
              </a:rPr>
              <a:t>){</a:t>
            </a:r>
            <a:endParaRPr lang="en-US" altLang="ja-JP" sz="20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      </a:t>
            </a:r>
            <a:r>
              <a:rPr lang="en-US" altLang="ja-JP" sz="2000" dirty="0" err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bFlag</a:t>
            </a:r>
            <a:r>
              <a:rPr lang="en-US" altLang="ja-JP" sz="20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ja-JP" sz="20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= true</a:t>
            </a:r>
            <a:r>
              <a:rPr lang="en-US" altLang="ja-JP" sz="20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; </a:t>
            </a:r>
            <a:r>
              <a:rPr lang="en-US" altLang="ja-JP" sz="2000" dirty="0" smtClean="0">
                <a:latin typeface="Consolas" pitchFamily="49" charset="0"/>
                <a:cs typeface="Consolas" pitchFamily="49" charset="0"/>
              </a:rPr>
              <a:t>//</a:t>
            </a:r>
            <a:r>
              <a:rPr lang="ja-JP" altLang="en-US" sz="2000" dirty="0" smtClean="0">
                <a:latin typeface="Consolas" pitchFamily="49" charset="0"/>
                <a:cs typeface="Consolas" pitchFamily="49" charset="0"/>
              </a:rPr>
              <a:t>　</a:t>
            </a:r>
            <a:r>
              <a:rPr lang="ja-JP" altLang="en-US" sz="2000" dirty="0">
                <a:latin typeface="Consolas" pitchFamily="49" charset="0"/>
                <a:cs typeface="Consolas" pitchFamily="49" charset="0"/>
              </a:rPr>
              <a:t>動かしたとき</a:t>
            </a:r>
            <a:r>
              <a:rPr lang="ja-JP" altLang="en-US" sz="2000" dirty="0" smtClean="0">
                <a:latin typeface="Consolas" pitchFamily="49" charset="0"/>
                <a:cs typeface="Consolas" pitchFamily="49" charset="0"/>
              </a:rPr>
              <a:t>に描く事ができるように</a:t>
            </a:r>
            <a:endParaRPr lang="en-US" altLang="ja-JP" sz="20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      </a:t>
            </a:r>
            <a:r>
              <a:rPr lang="en-US" altLang="ja-JP" sz="2000" dirty="0" err="1" smtClean="0">
                <a:latin typeface="Consolas" pitchFamily="49" charset="0"/>
                <a:cs typeface="Consolas" pitchFamily="49" charset="0"/>
              </a:rPr>
              <a:t>MyDraw</a:t>
            </a:r>
            <a:r>
              <a:rPr lang="en-US" altLang="ja-JP" sz="2000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ja-JP" sz="2000" dirty="0" err="1" smtClean="0">
                <a:latin typeface="Consolas" pitchFamily="49" charset="0"/>
                <a:cs typeface="Consolas" pitchFamily="49" charset="0"/>
              </a:rPr>
              <a:t>e.X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altLang="ja-JP" sz="2000" dirty="0" err="1">
                <a:latin typeface="Consolas" pitchFamily="49" charset="0"/>
                <a:cs typeface="Consolas" pitchFamily="49" charset="0"/>
              </a:rPr>
              <a:t>e.Y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ja-JP" sz="20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void Form1_MouseMove(object sender, </a:t>
            </a:r>
            <a:r>
              <a:rPr lang="en-US" altLang="ja-JP" sz="2000" dirty="0" err="1">
                <a:latin typeface="Consolas" pitchFamily="49" charset="0"/>
                <a:cs typeface="Consolas" pitchFamily="49" charset="0"/>
              </a:rPr>
              <a:t>MouseEventArgs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 e){</a:t>
            </a:r>
          </a:p>
          <a:p>
            <a:pPr marL="0" indent="0">
              <a:buNone/>
            </a:pPr>
            <a:r>
              <a:rPr lang="en-US" altLang="ja-JP" sz="2000" dirty="0" smtClean="0">
                <a:latin typeface="Consolas" pitchFamily="49" charset="0"/>
                <a:cs typeface="Consolas" pitchFamily="49" charset="0"/>
              </a:rPr>
              <a:t>      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if (</a:t>
            </a:r>
            <a:r>
              <a:rPr lang="en-US" altLang="ja-JP" sz="2000" dirty="0" err="1">
                <a:solidFill>
                  <a:schemeClr val="accent1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bFlag</a:t>
            </a:r>
            <a:r>
              <a:rPr lang="en-US" altLang="ja-JP" sz="2000" dirty="0">
                <a:solidFill>
                  <a:schemeClr val="accent1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== true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){</a:t>
            </a:r>
          </a:p>
          <a:p>
            <a:pPr marL="0" indent="0">
              <a:buNone/>
            </a:pPr>
            <a:r>
              <a:rPr lang="en-US" altLang="ja-JP" sz="2000" dirty="0" smtClean="0">
                <a:latin typeface="Consolas" pitchFamily="49" charset="0"/>
                <a:cs typeface="Consolas" pitchFamily="49" charset="0"/>
              </a:rPr>
              <a:t>         </a:t>
            </a:r>
            <a:r>
              <a:rPr lang="en-US" altLang="ja-JP" sz="2000" dirty="0" err="1">
                <a:latin typeface="Consolas" pitchFamily="49" charset="0"/>
                <a:cs typeface="Consolas" pitchFamily="49" charset="0"/>
              </a:rPr>
              <a:t>MyDraw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ja-JP" sz="2000" dirty="0" err="1">
                <a:latin typeface="Consolas" pitchFamily="49" charset="0"/>
                <a:cs typeface="Consolas" pitchFamily="49" charset="0"/>
              </a:rPr>
              <a:t>e.X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altLang="ja-JP" sz="2000" dirty="0" err="1">
                <a:latin typeface="Consolas" pitchFamily="49" charset="0"/>
                <a:cs typeface="Consolas" pitchFamily="49" charset="0"/>
              </a:rPr>
              <a:t>e.Y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ja-JP" sz="2000" dirty="0" smtClean="0">
                <a:latin typeface="Consolas" pitchFamily="49" charset="0"/>
                <a:cs typeface="Consolas" pitchFamily="49" charset="0"/>
              </a:rPr>
              <a:t>      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ja-JP" sz="2000" dirty="0" smtClean="0">
                <a:latin typeface="Consolas" pitchFamily="49" charset="0"/>
                <a:cs typeface="Consolas" pitchFamily="49" charset="0"/>
              </a:rPr>
              <a:t>}</a:t>
            </a:r>
            <a:endParaRPr lang="en-US" altLang="ja-JP" sz="20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altLang="ja-JP" sz="2000" dirty="0" smtClean="0">
                <a:latin typeface="Consolas" pitchFamily="49" charset="0"/>
                <a:cs typeface="Consolas" pitchFamily="49" charset="0"/>
              </a:rPr>
              <a:t>void 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Form1_MouseUp(object sender, </a:t>
            </a:r>
            <a:r>
              <a:rPr lang="en-US" altLang="ja-JP" sz="2000" dirty="0" err="1">
                <a:latin typeface="Consolas" pitchFamily="49" charset="0"/>
                <a:cs typeface="Consolas" pitchFamily="49" charset="0"/>
              </a:rPr>
              <a:t>MouseEventArgs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 e</a:t>
            </a:r>
            <a:r>
              <a:rPr lang="en-US" altLang="ja-JP" sz="2000" dirty="0" smtClean="0">
                <a:latin typeface="Consolas" pitchFamily="49" charset="0"/>
                <a:cs typeface="Consolas" pitchFamily="49" charset="0"/>
              </a:rPr>
              <a:t>){</a:t>
            </a:r>
            <a:endParaRPr lang="en-US" altLang="ja-JP" sz="20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altLang="ja-JP" sz="2000" dirty="0" smtClean="0">
                <a:latin typeface="Consolas" pitchFamily="49" charset="0"/>
                <a:cs typeface="Consolas" pitchFamily="49" charset="0"/>
              </a:rPr>
              <a:t>      </a:t>
            </a:r>
            <a:r>
              <a:rPr lang="en-US" altLang="ja-JP" sz="2000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bFlag</a:t>
            </a:r>
            <a:r>
              <a:rPr lang="en-US" altLang="ja-JP" sz="20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= false;</a:t>
            </a:r>
          </a:p>
          <a:p>
            <a:pPr marL="0" indent="0">
              <a:buNone/>
            </a:pPr>
            <a:r>
              <a:rPr lang="en-US" altLang="ja-JP" sz="20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void </a:t>
            </a:r>
            <a:r>
              <a:rPr lang="en-US" altLang="ja-JP" sz="2000" dirty="0" err="1">
                <a:latin typeface="Consolas" pitchFamily="49" charset="0"/>
                <a:cs typeface="Consolas" pitchFamily="49" charset="0"/>
              </a:rPr>
              <a:t>MyDraw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ja-JP" sz="20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ja-JP" sz="2000" dirty="0" err="1">
                <a:latin typeface="Consolas" pitchFamily="49" charset="0"/>
                <a:cs typeface="Consolas" pitchFamily="49" charset="0"/>
              </a:rPr>
              <a:t>x,int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 y){ </a:t>
            </a:r>
          </a:p>
          <a:p>
            <a:pPr marL="0" indent="0">
              <a:buNone/>
            </a:pP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      g = </a:t>
            </a:r>
            <a:r>
              <a:rPr lang="en-US" altLang="ja-JP" sz="2000" dirty="0" err="1">
                <a:latin typeface="Consolas" pitchFamily="49" charset="0"/>
                <a:cs typeface="Consolas" pitchFamily="49" charset="0"/>
              </a:rPr>
              <a:t>this.CreateGraphics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();</a:t>
            </a:r>
          </a:p>
          <a:p>
            <a:pPr marL="0" indent="0">
              <a:buNone/>
            </a:pP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      </a:t>
            </a:r>
            <a:r>
              <a:rPr lang="en-US" altLang="ja-JP" sz="2000" dirty="0" err="1">
                <a:latin typeface="Consolas" pitchFamily="49" charset="0"/>
                <a:cs typeface="Consolas" pitchFamily="49" charset="0"/>
              </a:rPr>
              <a:t>SolidBrush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ja-JP" sz="2000" dirty="0" err="1">
                <a:latin typeface="Consolas" pitchFamily="49" charset="0"/>
                <a:cs typeface="Consolas" pitchFamily="49" charset="0"/>
              </a:rPr>
              <a:t>myBrush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 = new </a:t>
            </a:r>
            <a:r>
              <a:rPr lang="en-US" altLang="ja-JP" sz="2000" dirty="0" err="1">
                <a:latin typeface="Consolas" pitchFamily="49" charset="0"/>
                <a:cs typeface="Consolas" pitchFamily="49" charset="0"/>
              </a:rPr>
              <a:t>SolidBrush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ja-JP" sz="2000" dirty="0" err="1">
                <a:latin typeface="Consolas" pitchFamily="49" charset="0"/>
                <a:cs typeface="Consolas" pitchFamily="49" charset="0"/>
              </a:rPr>
              <a:t>Color.Aqua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 );</a:t>
            </a:r>
          </a:p>
          <a:p>
            <a:pPr marL="0" indent="0">
              <a:buNone/>
            </a:pP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      </a:t>
            </a:r>
            <a:r>
              <a:rPr lang="en-US" altLang="ja-JP" sz="2000" dirty="0" err="1">
                <a:latin typeface="Consolas" pitchFamily="49" charset="0"/>
                <a:cs typeface="Consolas" pitchFamily="49" charset="0"/>
              </a:rPr>
              <a:t>g.FillEllipse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ja-JP" sz="2000" dirty="0" err="1">
                <a:latin typeface="Consolas" pitchFamily="49" charset="0"/>
                <a:cs typeface="Consolas" pitchFamily="49" charset="0"/>
              </a:rPr>
              <a:t>myBrush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, x </a:t>
            </a:r>
            <a:r>
              <a:rPr lang="en-US" altLang="ja-JP" sz="2000" dirty="0" smtClean="0">
                <a:latin typeface="Consolas" pitchFamily="49" charset="0"/>
                <a:cs typeface="Consolas" pitchFamily="49" charset="0"/>
              </a:rPr>
              <a:t>- 5, </a:t>
            </a: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y - </a:t>
            </a:r>
            <a:r>
              <a:rPr lang="en-US" altLang="ja-JP" sz="2000" dirty="0" smtClean="0">
                <a:latin typeface="Consolas" pitchFamily="49" charset="0"/>
                <a:cs typeface="Consolas" pitchFamily="49" charset="0"/>
              </a:rPr>
              <a:t>5, 10, 10);</a:t>
            </a:r>
            <a:endParaRPr lang="en-US" altLang="ja-JP" sz="20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altLang="ja-JP" sz="2000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ja-JP" sz="2000" dirty="0" smtClean="0">
                <a:latin typeface="Consolas" pitchFamily="49" charset="0"/>
                <a:cs typeface="Consolas" pitchFamily="49" charset="0"/>
              </a:rPr>
              <a:t>:</a:t>
            </a:r>
            <a:endParaRPr lang="en-US" altLang="ja-JP" sz="20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kumimoji="1" lang="ja-JP" altLang="en-US" sz="20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113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ja-JP" altLang="en-US" sz="4000" dirty="0" smtClean="0"/>
              <a:t>　</a:t>
            </a:r>
            <a:r>
              <a:rPr kumimoji="1" lang="en-US" altLang="ja-JP" sz="4000" dirty="0" smtClean="0"/>
              <a:t>5.3</a:t>
            </a:r>
            <a:r>
              <a:rPr kumimoji="1" lang="ja-JP" altLang="en-US" sz="4000" dirty="0" smtClean="0"/>
              <a:t>　関節の</a:t>
            </a:r>
            <a:r>
              <a:rPr kumimoji="1" lang="en-US" altLang="ja-JP" sz="4000" dirty="0" smtClean="0"/>
              <a:t>3</a:t>
            </a:r>
            <a:r>
              <a:rPr kumimoji="1" lang="ja-JP" altLang="en-US" sz="4000" dirty="0" smtClean="0"/>
              <a:t>次元座標を使った描写</a:t>
            </a:r>
            <a:endParaRPr kumimoji="1" lang="ja-JP" altLang="en-US" sz="40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060848"/>
            <a:ext cx="6364093" cy="4263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1915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:\2年時\卒研フォルダー\図面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805856"/>
            <a:ext cx="8526463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3586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サブタイトル 2"/>
          <p:cNvSpPr txBox="1">
            <a:spLocks/>
          </p:cNvSpPr>
          <p:nvPr/>
        </p:nvSpPr>
        <p:spPr>
          <a:xfrm>
            <a:off x="251520" y="620688"/>
            <a:ext cx="8640960" cy="4946104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1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1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000" dirty="0" err="1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SkeletonJointPosition</a:t>
            </a: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 </a:t>
            </a:r>
            <a:r>
              <a:rPr lang="en-US" altLang="ja-JP" sz="2000" dirty="0" err="1" smtClean="0">
                <a:solidFill>
                  <a:srgbClr val="FF0000"/>
                </a:solidFill>
                <a:latin typeface="Consolas" pitchFamily="49" charset="0"/>
                <a:ea typeface="Meiryo UI" pitchFamily="50" charset="-128"/>
                <a:cs typeface="Consolas" pitchFamily="49" charset="0"/>
              </a:rPr>
              <a:t>posRH</a:t>
            </a:r>
            <a:r>
              <a:rPr lang="ja-JP" altLang="en-US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　</a:t>
            </a: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=</a:t>
            </a:r>
            <a:endParaRPr lang="ja-JP" altLang="en-US" sz="2000" dirty="0" smtClean="0">
              <a:latin typeface="Consolas" pitchFamily="49" charset="0"/>
              <a:ea typeface="Meiryo UI" pitchFamily="50" charset="-128"/>
              <a:cs typeface="Consolas" pitchFamily="49" charset="0"/>
            </a:endParaRPr>
          </a:p>
          <a:p>
            <a:pPr marL="0" indent="0">
              <a:buNone/>
            </a:pPr>
            <a:r>
              <a:rPr lang="ja-JP" altLang="en-US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　　</a:t>
            </a: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  </a:t>
            </a:r>
            <a:r>
              <a:rPr lang="en-US" altLang="ja-JP" sz="2000" dirty="0" err="1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this.skeletonCapbility.GetSkeletonJointPosition</a:t>
            </a: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(user, </a:t>
            </a:r>
          </a:p>
          <a:p>
            <a:pPr marL="0" indent="0">
              <a:buNone/>
            </a:pP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         </a:t>
            </a:r>
            <a:r>
              <a:rPr lang="en-US" altLang="ja-JP" sz="2000" dirty="0" err="1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SkeletonJoint.RightHand</a:t>
            </a: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);</a:t>
            </a:r>
            <a:endParaRPr lang="ja-JP" altLang="en-US" sz="2000" dirty="0" smtClean="0">
              <a:latin typeface="Consolas" pitchFamily="49" charset="0"/>
              <a:ea typeface="Meiryo UI" pitchFamily="50" charset="-128"/>
              <a:cs typeface="Consolas" pitchFamily="49" charset="0"/>
            </a:endParaRPr>
          </a:p>
          <a:p>
            <a:pPr marL="0" indent="0">
              <a:buNone/>
            </a:pP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Point3D </a:t>
            </a:r>
            <a:r>
              <a:rPr lang="en-US" altLang="ja-JP" sz="2000" dirty="0" smtClean="0">
                <a:solidFill>
                  <a:srgbClr val="FF0000"/>
                </a:solidFill>
                <a:latin typeface="Consolas" pitchFamily="49" charset="0"/>
                <a:ea typeface="Meiryo UI" pitchFamily="50" charset="-128"/>
                <a:cs typeface="Consolas" pitchFamily="49" charset="0"/>
              </a:rPr>
              <a:t>pos3DRH</a:t>
            </a: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 = </a:t>
            </a:r>
            <a:r>
              <a:rPr lang="en-US" altLang="ja-JP" sz="2000" dirty="0" err="1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posRH.Position</a:t>
            </a: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;</a:t>
            </a:r>
          </a:p>
          <a:p>
            <a:endParaRPr lang="ja-JP" altLang="en-US" sz="2000" dirty="0" smtClean="0">
              <a:latin typeface="Consolas" pitchFamily="49" charset="0"/>
              <a:ea typeface="Meiryo UI" pitchFamily="50" charset="-128"/>
              <a:cs typeface="Consolas" pitchFamily="49" charset="0"/>
            </a:endParaRPr>
          </a:p>
          <a:p>
            <a:pPr marL="0" indent="0">
              <a:buNone/>
            </a:pPr>
            <a:r>
              <a:rPr lang="en-US" altLang="ja-JP" sz="2000" dirty="0" err="1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SkeletonJointPosition</a:t>
            </a: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 </a:t>
            </a:r>
            <a:r>
              <a:rPr lang="en-US" altLang="ja-JP" sz="2000" dirty="0" err="1" smtClean="0">
                <a:solidFill>
                  <a:schemeClr val="accent1">
                    <a:lumMod val="75000"/>
                  </a:schemeClr>
                </a:solidFill>
                <a:latin typeface="Consolas" pitchFamily="49" charset="0"/>
                <a:ea typeface="Meiryo UI" pitchFamily="50" charset="-128"/>
                <a:cs typeface="Consolas" pitchFamily="49" charset="0"/>
              </a:rPr>
              <a:t>posNK</a:t>
            </a:r>
            <a:r>
              <a:rPr lang="ja-JP" altLang="en-US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　</a:t>
            </a: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=</a:t>
            </a:r>
            <a:endParaRPr lang="ja-JP" altLang="en-US" sz="2000" dirty="0" smtClean="0">
              <a:latin typeface="Consolas" pitchFamily="49" charset="0"/>
              <a:ea typeface="Meiryo UI" pitchFamily="50" charset="-128"/>
              <a:cs typeface="Consolas" pitchFamily="49" charset="0"/>
            </a:endParaRPr>
          </a:p>
          <a:p>
            <a:pPr marL="0" indent="0">
              <a:buNone/>
            </a:pPr>
            <a:r>
              <a:rPr lang="ja-JP" altLang="en-US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   </a:t>
            </a: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 </a:t>
            </a:r>
            <a:r>
              <a:rPr lang="en-US" altLang="ja-JP" sz="2000" dirty="0" err="1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this.skeletonCapbility.GetSkeletonJointPosition</a:t>
            </a: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(user,</a:t>
            </a:r>
            <a:r>
              <a:rPr lang="ja-JP" altLang="en-US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    </a:t>
            </a:r>
            <a:endParaRPr lang="en-US" altLang="ja-JP" sz="2000" dirty="0" smtClean="0">
              <a:latin typeface="Consolas" pitchFamily="49" charset="0"/>
              <a:ea typeface="Meiryo UI" pitchFamily="50" charset="-128"/>
              <a:cs typeface="Consolas" pitchFamily="49" charset="0"/>
            </a:endParaRPr>
          </a:p>
          <a:p>
            <a:pPr marL="0" indent="0">
              <a:buNone/>
            </a:pP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         </a:t>
            </a:r>
            <a:r>
              <a:rPr lang="en-US" altLang="ja-JP" sz="2000" dirty="0" err="1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SkeletonJoint.Neck</a:t>
            </a: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Point3D </a:t>
            </a:r>
            <a:r>
              <a:rPr lang="en-US" altLang="ja-JP" sz="2000" dirty="0" smtClean="0">
                <a:solidFill>
                  <a:schemeClr val="accent1">
                    <a:lumMod val="75000"/>
                  </a:schemeClr>
                </a:solidFill>
                <a:latin typeface="Consolas" pitchFamily="49" charset="0"/>
                <a:ea typeface="Meiryo UI" pitchFamily="50" charset="-128"/>
                <a:cs typeface="Consolas" pitchFamily="49" charset="0"/>
              </a:rPr>
              <a:t>pos3DNK</a:t>
            </a: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 = </a:t>
            </a:r>
            <a:r>
              <a:rPr lang="en-US" altLang="ja-JP" sz="2000" dirty="0" err="1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posNK.Position</a:t>
            </a: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;</a:t>
            </a:r>
          </a:p>
          <a:p>
            <a:endParaRPr lang="ja-JP" altLang="en-US" sz="2000" dirty="0" smtClean="0">
              <a:latin typeface="Consolas" pitchFamily="49" charset="0"/>
              <a:ea typeface="Meiryo UI" pitchFamily="50" charset="-128"/>
              <a:cs typeface="Consolas" pitchFamily="49" charset="0"/>
            </a:endParaRPr>
          </a:p>
          <a:p>
            <a:pPr marL="0" indent="0">
              <a:buNone/>
            </a:pP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if (</a:t>
            </a:r>
            <a:r>
              <a:rPr lang="en-US" altLang="ja-JP" sz="2000" dirty="0" smtClean="0">
                <a:solidFill>
                  <a:schemeClr val="accent1">
                    <a:lumMod val="75000"/>
                  </a:schemeClr>
                </a:solidFill>
                <a:latin typeface="Consolas" pitchFamily="49" charset="0"/>
                <a:ea typeface="Meiryo UI" pitchFamily="50" charset="-128"/>
                <a:cs typeface="Consolas" pitchFamily="49" charset="0"/>
              </a:rPr>
              <a:t>pos3DNK.Z</a:t>
            </a: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 - 400 &gt; </a:t>
            </a:r>
            <a:r>
              <a:rPr lang="en-US" altLang="ja-JP" sz="2000" dirty="0" smtClean="0">
                <a:solidFill>
                  <a:srgbClr val="FF0000"/>
                </a:solidFill>
                <a:latin typeface="Consolas" pitchFamily="49" charset="0"/>
                <a:ea typeface="Meiryo UI" pitchFamily="50" charset="-128"/>
                <a:cs typeface="Consolas" pitchFamily="49" charset="0"/>
              </a:rPr>
              <a:t>pos3DRH.Z</a:t>
            </a: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) {</a:t>
            </a:r>
          </a:p>
          <a:p>
            <a:pPr marL="0" indent="0">
              <a:buNone/>
            </a:pPr>
            <a:r>
              <a:rPr lang="ja-JP" altLang="en-US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	</a:t>
            </a:r>
            <a:r>
              <a:rPr lang="en-US" altLang="ja-JP" sz="2000" dirty="0" err="1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bflag</a:t>
            </a: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 = true;</a:t>
            </a:r>
            <a:r>
              <a:rPr lang="ja-JP" altLang="en-US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　</a:t>
            </a: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//</a:t>
            </a:r>
            <a:r>
              <a:rPr lang="ja-JP" altLang="en-US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マウスの機能に対応する処理をさせるため</a:t>
            </a:r>
          </a:p>
          <a:p>
            <a:pPr marL="0" indent="0">
              <a:buNone/>
            </a:pP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else {</a:t>
            </a:r>
          </a:p>
          <a:p>
            <a:pPr marL="0" indent="0">
              <a:buNone/>
            </a:pP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      </a:t>
            </a:r>
            <a:r>
              <a:rPr lang="en-US" altLang="ja-JP" sz="2000" dirty="0" err="1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bflag</a:t>
            </a: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 = false;</a:t>
            </a:r>
          </a:p>
          <a:p>
            <a:pPr marL="0" indent="0">
              <a:buNone/>
            </a:pPr>
            <a:r>
              <a:rPr lang="en-US" altLang="ja-JP" sz="2000" dirty="0" smtClean="0">
                <a:latin typeface="Consolas" pitchFamily="49" charset="0"/>
                <a:ea typeface="Meiryo UI" pitchFamily="50" charset="-128"/>
                <a:cs typeface="Consolas" pitchFamily="49" charset="0"/>
              </a:rPr>
              <a:t>}</a:t>
            </a:r>
            <a:endParaRPr lang="ja-JP" altLang="en-US" sz="2000" dirty="0" smtClean="0">
              <a:latin typeface="Consolas" pitchFamily="49" charset="0"/>
              <a:ea typeface="Meiryo UI" pitchFamily="50" charset="-128"/>
              <a:cs typeface="Consolas" pitchFamily="49" charset="0"/>
            </a:endParaRPr>
          </a:p>
          <a:p>
            <a:endParaRPr lang="ja-JP" altLang="en-US" sz="2000" dirty="0">
              <a:latin typeface="Consolas" pitchFamily="49" charset="0"/>
              <a:ea typeface="Meiryo UI" pitchFamily="50" charset="-128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229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ja-JP" dirty="0" smtClean="0"/>
              <a:t>6.1</a:t>
            </a:r>
            <a:r>
              <a:rPr kumimoji="1" lang="ja-JP" altLang="en-US" dirty="0" smtClean="0"/>
              <a:t>進捗状況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ja-JP" sz="3200" dirty="0" smtClean="0"/>
              <a:t>Windows</a:t>
            </a:r>
            <a:r>
              <a:rPr kumimoji="1" lang="ja-JP" altLang="en-US" sz="3200" dirty="0" smtClean="0"/>
              <a:t>フォームに対するペイント機能の実装</a:t>
            </a:r>
            <a:endParaRPr kumimoji="1" lang="en-US" altLang="ja-JP" sz="3200" dirty="0" smtClean="0"/>
          </a:p>
          <a:p>
            <a:r>
              <a:rPr lang="en-US" altLang="ja-JP" sz="3200" dirty="0" err="1" smtClean="0"/>
              <a:t>Kinect</a:t>
            </a:r>
            <a:r>
              <a:rPr lang="ja-JP" altLang="en-US" sz="3200" dirty="0" smtClean="0"/>
              <a:t>で取得した関節情報の取得</a:t>
            </a:r>
            <a:endParaRPr lang="en-US" altLang="ja-JP" sz="3200" dirty="0" smtClean="0"/>
          </a:p>
          <a:p>
            <a:r>
              <a:rPr lang="ja-JP" altLang="en-US" sz="3200" dirty="0" smtClean="0"/>
              <a:t>３次元情報の処理</a:t>
            </a:r>
            <a:endParaRPr lang="en-US" altLang="ja-JP" sz="3200" dirty="0" smtClean="0"/>
          </a:p>
          <a:p>
            <a:r>
              <a:rPr lang="ja-JP" altLang="en-US" sz="3200" dirty="0" smtClean="0"/>
              <a:t>マウスの機能に対応する右手の処理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442466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ja-JP" dirty="0" smtClean="0"/>
              <a:t>6.2</a:t>
            </a:r>
            <a:r>
              <a:rPr kumimoji="1" lang="ja-JP" altLang="en-US" dirty="0" smtClean="0"/>
              <a:t>今後の計画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600" dirty="0" smtClean="0"/>
              <a:t>ジェスチャーによる描画モードの切り替え機能（円や</a:t>
            </a:r>
            <a:r>
              <a:rPr lang="ja-JP" altLang="en-US" sz="3600" dirty="0"/>
              <a:t>直線</a:t>
            </a:r>
            <a:r>
              <a:rPr kumimoji="1" lang="ja-JP" altLang="en-US" sz="3600" dirty="0" smtClean="0"/>
              <a:t>など）</a:t>
            </a:r>
            <a:endParaRPr kumimoji="1" lang="en-US" altLang="ja-JP" sz="3600" dirty="0" smtClean="0"/>
          </a:p>
          <a:p>
            <a:pPr marL="0" indent="0">
              <a:buNone/>
            </a:pPr>
            <a:endParaRPr kumimoji="1" lang="en-US" altLang="ja-JP" sz="3600" dirty="0" smtClean="0"/>
          </a:p>
          <a:p>
            <a:r>
              <a:rPr lang="ja-JP" altLang="en-US" sz="3600" dirty="0" smtClean="0"/>
              <a:t>ペンの色の切り替えをするアルゴリズム等を検討していく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162791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ja-JP" altLang="en-US" dirty="0" smtClean="0"/>
              <a:t>７．おわり</a:t>
            </a:r>
            <a:r>
              <a:rPr lang="ja-JP" altLang="en-US" dirty="0"/>
              <a:t>に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sz="3200" dirty="0" err="1" smtClean="0"/>
              <a:t>OpenNI</a:t>
            </a:r>
            <a:r>
              <a:rPr lang="ja-JP" altLang="en-US" sz="3200" dirty="0" smtClean="0"/>
              <a:t>のバージョンにあった参考資料がなく，</a:t>
            </a:r>
            <a:r>
              <a:rPr lang="en-US" altLang="ja-JP" sz="3200" dirty="0" err="1" smtClean="0"/>
              <a:t>OpenNI</a:t>
            </a:r>
            <a:r>
              <a:rPr lang="ja-JP" altLang="en-US" sz="3200" dirty="0" smtClean="0"/>
              <a:t>の設定に時間がかかってしまった．</a:t>
            </a:r>
            <a:endParaRPr lang="en-US" altLang="ja-JP" sz="3200" dirty="0" smtClean="0"/>
          </a:p>
          <a:p>
            <a:endParaRPr kumimoji="1" lang="en-US" altLang="ja-JP" sz="3200" dirty="0"/>
          </a:p>
          <a:p>
            <a:r>
              <a:rPr lang="ja-JP" altLang="en-US" sz="3200" dirty="0" smtClean="0"/>
              <a:t>作成するアプリケーションのアルゴリズムが</a:t>
            </a:r>
            <a:r>
              <a:rPr lang="ja-JP" altLang="en-US" sz="3200" dirty="0"/>
              <a:t>ま</a:t>
            </a:r>
            <a:r>
              <a:rPr lang="ja-JP" altLang="en-US" sz="3200" dirty="0" smtClean="0"/>
              <a:t>だ未検討な点が多いが頑張っていきたい．</a:t>
            </a:r>
            <a:endParaRPr lang="en-US" altLang="ja-JP" sz="3200" dirty="0" smtClean="0"/>
          </a:p>
          <a:p>
            <a:endParaRPr kumimoji="1" lang="en-US" altLang="ja-JP" sz="3200" dirty="0"/>
          </a:p>
          <a:p>
            <a:r>
              <a:rPr lang="ja-JP" altLang="en-US" sz="3200" dirty="0" smtClean="0"/>
              <a:t>ソースにまとまりがないのでクラス分けをして見やすくする．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178734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544" y="2780928"/>
            <a:ext cx="8305800" cy="1143000"/>
          </a:xfrm>
        </p:spPr>
        <p:txBody>
          <a:bodyPr/>
          <a:lstStyle/>
          <a:p>
            <a:r>
              <a:rPr kumimoji="1" lang="ja-JP" altLang="en-US" dirty="0" smtClean="0"/>
              <a:t>御清聴ありがとうございました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03254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リゾート">
  <a:themeElements>
    <a:clrScheme name="リゾート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リゾート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リゾート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986</TotalTime>
  <Words>272</Words>
  <Application>Microsoft Office PowerPoint</Application>
  <PresentationFormat>画面に合わせる (4:3)</PresentationFormat>
  <Paragraphs>96</Paragraphs>
  <Slides>17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18" baseType="lpstr">
      <vt:lpstr>リゾート</vt:lpstr>
      <vt:lpstr>Kinectを使った  ペイントツールの作成</vt:lpstr>
      <vt:lpstr>発表項目</vt:lpstr>
      <vt:lpstr>１．はじめに</vt:lpstr>
      <vt:lpstr>２．開発環境</vt:lpstr>
      <vt:lpstr>３．システムの概要</vt:lpstr>
      <vt:lpstr>4.1　OpenNIのライブラリ構成</vt:lpstr>
      <vt:lpstr>4.2使用するOpenNIライブラリのクラス</vt:lpstr>
      <vt:lpstr>5.1　ペイントソフトの試作</vt:lpstr>
      <vt:lpstr>PowerPoint プレゼンテーション</vt:lpstr>
      <vt:lpstr>PowerPoint プレゼンテーション</vt:lpstr>
      <vt:lpstr>　5.3　関節の3次元座標を使った描写</vt:lpstr>
      <vt:lpstr>PowerPoint プレゼンテーション</vt:lpstr>
      <vt:lpstr>PowerPoint プレゼンテーション</vt:lpstr>
      <vt:lpstr>6.1進捗状況</vt:lpstr>
      <vt:lpstr>6.2今後の計画</vt:lpstr>
      <vt:lpstr>７．おわりに</vt:lpstr>
      <vt:lpstr>御清聴ありがとうございました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h23cis01</dc:creator>
  <cp:lastModifiedBy>h23cis00</cp:lastModifiedBy>
  <cp:revision>27</cp:revision>
  <cp:lastPrinted>2012-12-18T00:49:14Z</cp:lastPrinted>
  <dcterms:created xsi:type="dcterms:W3CDTF">2012-12-17T04:14:25Z</dcterms:created>
  <dcterms:modified xsi:type="dcterms:W3CDTF">2012-12-20T02:08:24Z</dcterms:modified>
</cp:coreProperties>
</file>