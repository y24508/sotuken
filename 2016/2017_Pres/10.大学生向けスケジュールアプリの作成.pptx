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handoutMasterIdLst>
    <p:handoutMasterId r:id="rId19"/>
  </p:handoutMasterIdLst>
  <p:sldIdLst>
    <p:sldId id="256" r:id="rId2"/>
    <p:sldId id="258" r:id="rId3"/>
    <p:sldId id="275" r:id="rId4"/>
    <p:sldId id="261" r:id="rId5"/>
    <p:sldId id="262" r:id="rId6"/>
    <p:sldId id="265" r:id="rId7"/>
    <p:sldId id="266" r:id="rId8"/>
    <p:sldId id="279" r:id="rId9"/>
    <p:sldId id="281" r:id="rId10"/>
    <p:sldId id="282" r:id="rId11"/>
    <p:sldId id="283" r:id="rId12"/>
    <p:sldId id="276" r:id="rId13"/>
    <p:sldId id="277" r:id="rId14"/>
    <p:sldId id="271" r:id="rId15"/>
    <p:sldId id="272" r:id="rId16"/>
    <p:sldId id="273" r:id="rId17"/>
    <p:sldId id="268" r:id="rId18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798F2-0A0A-4CB0-90E3-CA290B4AB4B9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2B991-BB37-4180-92E2-6A18904A63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10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8" name="日付プレースホルダー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17" name="フッター プレースホルダー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正方形/長方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正方形/長方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正方形/長方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コネクタ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コネクタ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コネクタ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コネクタ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コネクタ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コネクタ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正方形/長方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円/楕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円/楕円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円/楕円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円/楕円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円/楕円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スライド番号プレースホルダー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8" name="コンテンツ プレースホルダー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フッター プレースホルダー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正方形/長方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正方形/長方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コネクタ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コネクタ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コネクタ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コネクタ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コネクタ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円/楕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円/楕円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円/楕円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円/楕円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円/楕円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コネクタ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コンテンツ プレースホルダー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11" name="コンテンツ プレースホルダー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コンテンツ プレースホルダー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13" name="コンテンツ プレースホルダー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コネクタ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8" name="直線コネクタ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コネクタ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コネクタ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正方形/長方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コネクタ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円/楕円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コンテンツ プレースホルダー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21" name="日付プレースホルダー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22" name="スライド番号プレースホルダー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3" name="フッター プレースホルダー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コネクタ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円/楕円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ja-JP" altLang="en-US" smtClean="0"/>
              <a:t>アイコンをクリックして図を追加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10" name="直線コネクタ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正方形/長方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コネクタ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コネクタ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コネクタ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付プレースホルダー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1" name="フッター プレースホルダー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コネクタ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タイトル プレースホルダー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4" name="日付プレースホルダー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0E602A4-3860-4A0B-AABC-D58766EE88BE}" type="datetimeFigureOut">
              <a:rPr kumimoji="1" lang="ja-JP" altLang="en-US" smtClean="0"/>
              <a:t>2016/12/21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直線コネクタ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コネクタ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コネクタ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円/楕円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スライド番号プレースホルダー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421D789-F841-4D29-A566-34AEAA77F3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1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1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979712" y="3429000"/>
            <a:ext cx="6336704" cy="1008112"/>
          </a:xfrm>
        </p:spPr>
        <p:txBody>
          <a:bodyPr>
            <a:normAutofit/>
          </a:bodyPr>
          <a:lstStyle/>
          <a:p>
            <a:pPr algn="r"/>
            <a:r>
              <a:rPr lang="en-US" altLang="ja-JP" sz="28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10</a:t>
            </a:r>
            <a:r>
              <a:rPr lang="ja-JP" altLang="en-US" sz="28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　大学生向けスケジュールアプリの作成</a:t>
            </a:r>
            <a:endParaRPr kumimoji="1" lang="ja-JP" altLang="en-US" sz="28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123728" y="4941168"/>
            <a:ext cx="6172200" cy="1371600"/>
          </a:xfrm>
        </p:spPr>
        <p:txBody>
          <a:bodyPr>
            <a:normAutofit/>
          </a:bodyPr>
          <a:lstStyle/>
          <a:p>
            <a:r>
              <a:rPr kumimoji="1" lang="en-US" altLang="ja-JP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11</a:t>
            </a:r>
            <a:r>
              <a:rPr kumimoji="1" lang="ja-JP" altLang="en-US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番</a:t>
            </a:r>
            <a:endParaRPr kumimoji="1" lang="en-US" altLang="ja-JP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lang="ja-JP" altLang="en-US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佐々木彬絵</a:t>
            </a:r>
            <a:endParaRPr lang="en-US" altLang="ja-JP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kumimoji="1" lang="ja-JP" altLang="en-US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担当教員　小野陽子</a:t>
            </a:r>
            <a:endParaRPr kumimoji="1" lang="ja-JP" altLang="en-US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877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395535" y="404664"/>
            <a:ext cx="3636035" cy="706090"/>
          </a:xfrm>
        </p:spPr>
        <p:txBody>
          <a:bodyPr>
            <a:normAutofit/>
          </a:bodyPr>
          <a:lstStyle/>
          <a:p>
            <a:r>
              <a:rPr lang="ja-JP" altLang="en-US" sz="3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テーマ設定</a:t>
            </a:r>
            <a:r>
              <a:rPr lang="ja-JP" altLang="en-US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理由</a:t>
            </a:r>
            <a:endParaRPr kumimoji="1" lang="ja-JP" altLang="en-US" sz="32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sz="quarter" idx="1"/>
          </p:nvPr>
        </p:nvSpPr>
        <p:spPr>
          <a:xfrm>
            <a:off x="701570" y="1484784"/>
            <a:ext cx="7542838" cy="13714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ja-JP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紙</a:t>
            </a:r>
            <a:r>
              <a:rPr lang="ja-JP" altLang="ja-JP" sz="3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のスケジュール帳を愛用して</a:t>
            </a:r>
            <a:r>
              <a:rPr lang="ja-JP" altLang="ja-JP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いる</a:t>
            </a:r>
            <a:endParaRPr lang="en-US" altLang="ja-JP" sz="3200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pPr marL="0" indent="0">
              <a:buNone/>
            </a:pPr>
            <a:r>
              <a:rPr lang="ja-JP" altLang="ja-JP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スマートフォン</a:t>
            </a:r>
            <a:r>
              <a:rPr lang="ja-JP" altLang="ja-JP" sz="3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の</a:t>
            </a:r>
            <a:r>
              <a:rPr lang="ja-JP" altLang="ja-JP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アプリ</a:t>
            </a:r>
            <a:r>
              <a:rPr lang="ja-JP" altLang="en-US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は使いづらい</a:t>
            </a:r>
            <a:endParaRPr lang="en-US" altLang="ja-JP" sz="3200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99591" y="4437112"/>
            <a:ext cx="7504157" cy="1323439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シンプル</a:t>
            </a:r>
            <a:r>
              <a:rPr lang="ja-JP" altLang="en-US" sz="4000" b="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で使いやすい</a:t>
            </a:r>
            <a:r>
              <a:rPr lang="ja-JP" altLang="en-US" sz="4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アプリを</a:t>
            </a:r>
            <a:r>
              <a:rPr lang="ja-JP" altLang="en-US" sz="4000" b="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作りたい！！</a:t>
            </a:r>
            <a:r>
              <a:rPr lang="ja-JP" altLang="en-US" sz="4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！</a:t>
            </a:r>
            <a:endParaRPr lang="ja-JP" altLang="ja-JP" sz="40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5" name="下矢印 4"/>
          <p:cNvSpPr/>
          <p:nvPr/>
        </p:nvSpPr>
        <p:spPr>
          <a:xfrm>
            <a:off x="3563888" y="3144307"/>
            <a:ext cx="1296144" cy="10081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46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uiExpand="1" build="p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395535" y="404664"/>
            <a:ext cx="3636035" cy="706090"/>
          </a:xfrm>
        </p:spPr>
        <p:txBody>
          <a:bodyPr>
            <a:normAutofit/>
          </a:bodyPr>
          <a:lstStyle/>
          <a:p>
            <a:r>
              <a:rPr lang="ja-JP" altLang="en-US" sz="3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開発環境</a:t>
            </a:r>
            <a:endParaRPr kumimoji="1" lang="ja-JP" altLang="en-US" sz="32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468047"/>
              </p:ext>
            </p:extLst>
          </p:nvPr>
        </p:nvGraphicFramePr>
        <p:xfrm>
          <a:off x="755576" y="1556793"/>
          <a:ext cx="7200800" cy="424847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324526"/>
                <a:gridCol w="4876274"/>
              </a:tblGrid>
              <a:tr h="65846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dirty="0" smtClean="0"/>
                        <a:t>開発言語</a:t>
                      </a:r>
                      <a:endParaRPr kumimoji="1" lang="ja-JP" alt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b="1" dirty="0" smtClean="0"/>
                        <a:t>Java</a:t>
                      </a:r>
                      <a:endParaRPr kumimoji="1" lang="ja-JP" altLang="en-US" sz="2400" b="1" dirty="0"/>
                    </a:p>
                  </a:txBody>
                  <a:tcPr anchor="ctr"/>
                </a:tc>
              </a:tr>
              <a:tr h="113653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開発</a:t>
                      </a:r>
                      <a:r>
                        <a:rPr kumimoji="1" lang="en-US" altLang="ja-JP" sz="2000" dirty="0" smtClean="0"/>
                        <a:t>OS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b="1" dirty="0" smtClean="0"/>
                        <a:t>Windous7</a:t>
                      </a:r>
                    </a:p>
                    <a:p>
                      <a:pPr algn="l"/>
                      <a:r>
                        <a:rPr kumimoji="1" lang="en-US" altLang="ja-JP" sz="2400" b="1" dirty="0" smtClean="0"/>
                        <a:t>Windows8.1</a:t>
                      </a:r>
                      <a:r>
                        <a:rPr kumimoji="1" lang="ja-JP" altLang="en-US" sz="2400" b="1" dirty="0" smtClean="0"/>
                        <a:t>（私物）</a:t>
                      </a:r>
                      <a:endParaRPr kumimoji="1" lang="ja-JP" altLang="en-US" sz="2400" b="1" dirty="0"/>
                    </a:p>
                  </a:txBody>
                  <a:tcPr anchor="ctr"/>
                </a:tc>
              </a:tr>
              <a:tr h="65846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実機</a:t>
                      </a:r>
                      <a:r>
                        <a:rPr kumimoji="1" lang="en-US" altLang="ja-JP" sz="2000" dirty="0" smtClean="0"/>
                        <a:t>OS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b="1" dirty="0" smtClean="0"/>
                        <a:t>Android4.4(</a:t>
                      </a:r>
                      <a:r>
                        <a:rPr kumimoji="1" lang="ja-JP" altLang="en-US" sz="2400" b="1" dirty="0" smtClean="0"/>
                        <a:t>私物</a:t>
                      </a:r>
                      <a:r>
                        <a:rPr kumimoji="1" lang="en-US" altLang="ja-JP" sz="2400" b="1" dirty="0" err="1" smtClean="0"/>
                        <a:t>Xperia</a:t>
                      </a:r>
                      <a:r>
                        <a:rPr kumimoji="1" lang="en-US" altLang="ja-JP" sz="2400" b="1" dirty="0" smtClean="0"/>
                        <a:t>)</a:t>
                      </a:r>
                      <a:endParaRPr kumimoji="1" lang="ja-JP" altLang="en-US" sz="2400" b="1" dirty="0"/>
                    </a:p>
                  </a:txBody>
                  <a:tcPr anchor="ctr"/>
                </a:tc>
              </a:tr>
              <a:tr h="65846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プログラミング環境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b="1" dirty="0" smtClean="0"/>
                        <a:t>AndroidStudio2.1</a:t>
                      </a:r>
                      <a:endParaRPr kumimoji="1" lang="ja-JP" altLang="en-US" sz="2400" b="1" dirty="0"/>
                    </a:p>
                  </a:txBody>
                  <a:tcPr anchor="ctr"/>
                </a:tc>
              </a:tr>
              <a:tr h="113653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開発</a:t>
                      </a:r>
                      <a:r>
                        <a:rPr kumimoji="1" lang="en-US" altLang="ja-JP" sz="2000" dirty="0" smtClean="0"/>
                        <a:t>PC</a:t>
                      </a:r>
                      <a:endParaRPr kumimoji="1" lang="ja-JP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2400" b="1" dirty="0" smtClean="0"/>
                        <a:t>VAIO</a:t>
                      </a:r>
                    </a:p>
                    <a:p>
                      <a:pPr algn="l"/>
                      <a:r>
                        <a:rPr kumimoji="1" lang="en-US" altLang="ja-JP" sz="2400" b="1" dirty="0" smtClean="0"/>
                        <a:t>VALUESTAR</a:t>
                      </a:r>
                      <a:r>
                        <a:rPr kumimoji="1" lang="ja-JP" altLang="en-US" sz="2400" b="1" dirty="0" smtClean="0"/>
                        <a:t>（私物）</a:t>
                      </a:r>
                      <a:endParaRPr kumimoji="1" lang="ja-JP" altLang="en-US" sz="2400" b="1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67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67544" y="404664"/>
            <a:ext cx="3240360" cy="652934"/>
          </a:xfrm>
        </p:spPr>
        <p:txBody>
          <a:bodyPr>
            <a:normAutofit/>
          </a:bodyPr>
          <a:lstStyle/>
          <a:p>
            <a:r>
              <a:rPr lang="ja-JP" altLang="en-US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基本</a:t>
            </a:r>
            <a:r>
              <a:rPr lang="ja-JP" altLang="en-US" sz="3200" b="1" dirty="0" smtClean="0">
                <a:latin typeface="AR P丸ゴシック体M" panose="020B0600010101010101" pitchFamily="50" charset="-128"/>
                <a:ea typeface="AR P丸ゴシック体M" panose="020B0600010101010101" pitchFamily="50" charset="-128"/>
              </a:rPr>
              <a:t>機能の提案</a:t>
            </a:r>
            <a:endParaRPr kumimoji="1" lang="ja-JP" altLang="en-US" sz="3200" b="1" dirty="0">
              <a:latin typeface="AR P丸ゴシック体M" panose="020B0600010101010101" pitchFamily="50" charset="-128"/>
              <a:ea typeface="AR P丸ゴシック体M" panose="020B0600010101010101" pitchFamily="50" charset="-128"/>
            </a:endParaRPr>
          </a:p>
        </p:txBody>
      </p:sp>
      <p:sp>
        <p:nvSpPr>
          <p:cNvPr id="2" name="円/楕円 1"/>
          <p:cNvSpPr/>
          <p:nvPr/>
        </p:nvSpPr>
        <p:spPr>
          <a:xfrm>
            <a:off x="1248008" y="1478182"/>
            <a:ext cx="2387887" cy="23108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時間割</a:t>
            </a:r>
            <a:endParaRPr kumimoji="1" lang="ja-JP" altLang="en-US" sz="36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5" name="円/楕円 4"/>
          <p:cNvSpPr/>
          <p:nvPr/>
        </p:nvSpPr>
        <p:spPr>
          <a:xfrm>
            <a:off x="3131839" y="3854446"/>
            <a:ext cx="2387887" cy="23108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通知</a:t>
            </a:r>
            <a:endParaRPr kumimoji="1" lang="ja-JP" altLang="en-US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7" name="円/楕円 6"/>
          <p:cNvSpPr/>
          <p:nvPr/>
        </p:nvSpPr>
        <p:spPr>
          <a:xfrm>
            <a:off x="5064432" y="1478182"/>
            <a:ext cx="2387887" cy="23108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カレ</a:t>
            </a:r>
            <a:r>
              <a:rPr lang="ja-JP" altLang="en-US" sz="2800" b="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ン</a:t>
            </a:r>
            <a:r>
              <a:rPr lang="ja-JP" altLang="en-US" sz="28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ダー</a:t>
            </a:r>
            <a:endParaRPr kumimoji="1" lang="ja-JP" altLang="en-US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cxnSp>
        <p:nvCxnSpPr>
          <p:cNvPr id="6" name="カギ線コネクタ 5"/>
          <p:cNvCxnSpPr>
            <a:stCxn id="2" idx="4"/>
            <a:endCxn id="5" idx="2"/>
          </p:cNvCxnSpPr>
          <p:nvPr/>
        </p:nvCxnSpPr>
        <p:spPr>
          <a:xfrm rot="16200000" flipH="1">
            <a:off x="2176478" y="4054513"/>
            <a:ext cx="1220835" cy="68988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カギ線コネクタ 8"/>
          <p:cNvCxnSpPr>
            <a:stCxn id="7" idx="4"/>
            <a:endCxn id="5" idx="6"/>
          </p:cNvCxnSpPr>
          <p:nvPr/>
        </p:nvCxnSpPr>
        <p:spPr>
          <a:xfrm rot="5400000">
            <a:off x="5278634" y="4030132"/>
            <a:ext cx="1220835" cy="7386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カギ線コネクタ 10"/>
          <p:cNvCxnSpPr/>
          <p:nvPr/>
        </p:nvCxnSpPr>
        <p:spPr>
          <a:xfrm>
            <a:off x="3480257" y="2492896"/>
            <a:ext cx="1584176" cy="12700"/>
          </a:xfrm>
          <a:prstGeom prst="bentConnector3">
            <a:avLst>
              <a:gd name="adj1" fmla="val 992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カギ線コネクタ 12"/>
          <p:cNvCxnSpPr>
            <a:stCxn id="7" idx="2"/>
            <a:endCxn id="2" idx="6"/>
          </p:cNvCxnSpPr>
          <p:nvPr/>
        </p:nvCxnSpPr>
        <p:spPr>
          <a:xfrm rot="10800000">
            <a:off x="3635896" y="2633611"/>
            <a:ext cx="1428537" cy="127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23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コンテンツ プレースホルダー 7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08720"/>
            <a:ext cx="3096344" cy="5504612"/>
          </a:xfrm>
        </p:spPr>
      </p:pic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179512" y="44623"/>
            <a:ext cx="4764466" cy="796577"/>
          </a:xfrm>
        </p:spPr>
        <p:txBody>
          <a:bodyPr>
            <a:normAutofit/>
          </a:bodyPr>
          <a:lstStyle/>
          <a:p>
            <a:r>
              <a:rPr lang="ja-JP" altLang="en-US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　カレンダ</a:t>
            </a:r>
            <a:r>
              <a:rPr lang="en-US" altLang="ja-JP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-</a:t>
            </a:r>
            <a:endParaRPr kumimoji="1" lang="ja-JP" altLang="en-US" sz="32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2" name="左矢印吹き出し 1"/>
          <p:cNvSpPr/>
          <p:nvPr/>
        </p:nvSpPr>
        <p:spPr>
          <a:xfrm>
            <a:off x="3508631" y="3933056"/>
            <a:ext cx="3888432" cy="209736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762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24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時間割・今日の予定ボタンで画面切り替え</a:t>
            </a:r>
            <a:endParaRPr lang="en-US" altLang="ja-JP" sz="24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6" name="左矢印吹き出し 5"/>
          <p:cNvSpPr/>
          <p:nvPr/>
        </p:nvSpPr>
        <p:spPr>
          <a:xfrm>
            <a:off x="3708029" y="2132856"/>
            <a:ext cx="3240360" cy="158417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895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24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次</a:t>
            </a:r>
            <a:r>
              <a:rPr lang="ja-JP" altLang="en-US" sz="2400" b="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の月・前の月で月</a:t>
            </a:r>
            <a:r>
              <a:rPr lang="ja-JP" altLang="en-US" sz="24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移動</a:t>
            </a:r>
            <a:endParaRPr lang="en-US" altLang="ja-JP" sz="24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7" name="左矢印吹き出し 6"/>
          <p:cNvSpPr/>
          <p:nvPr/>
        </p:nvSpPr>
        <p:spPr>
          <a:xfrm>
            <a:off x="3508631" y="548680"/>
            <a:ext cx="3439758" cy="147026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651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ja-JP" altLang="en-US" sz="2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カレンダーレイアウト・埋め込み</a:t>
            </a:r>
            <a:endParaRPr lang="en-US" altLang="ja-JP" sz="20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98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  <p:bldP spid="2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20179"/>
            <a:ext cx="3240360" cy="5760640"/>
          </a:xfr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4104456" cy="652934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今日の</a:t>
            </a:r>
            <a:r>
              <a:rPr lang="ja-JP" altLang="en-US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予定</a:t>
            </a:r>
            <a:endParaRPr lang="en-US" altLang="ja-JP" sz="32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6" name="左矢印吹き出し 5"/>
          <p:cNvSpPr/>
          <p:nvPr/>
        </p:nvSpPr>
        <p:spPr>
          <a:xfrm>
            <a:off x="3491880" y="2996952"/>
            <a:ext cx="4032448" cy="1779637"/>
          </a:xfrm>
          <a:prstGeom prst="leftArrowCallout">
            <a:avLst>
              <a:gd name="adj1" fmla="val 23157"/>
              <a:gd name="adj2" fmla="val 25000"/>
              <a:gd name="adj3" fmla="val 25000"/>
              <a:gd name="adj4" fmla="val 829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24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カレンダー同様、ボタンで画面切り替え</a:t>
            </a:r>
            <a:endParaRPr lang="en-US" altLang="ja-JP" sz="24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8" name="左矢印吹き出し 7"/>
          <p:cNvSpPr/>
          <p:nvPr/>
        </p:nvSpPr>
        <p:spPr>
          <a:xfrm>
            <a:off x="3634629" y="980728"/>
            <a:ext cx="3072821" cy="1820653"/>
          </a:xfrm>
          <a:prstGeom prst="leftArrowCallout">
            <a:avLst>
              <a:gd name="adj1" fmla="val 13946"/>
              <a:gd name="adj2" fmla="val 25609"/>
              <a:gd name="adj3" fmla="val 25000"/>
              <a:gd name="adj4" fmla="val 829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ja-JP" altLang="en-US" sz="2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予定表の埋め込み・スクロール機能</a:t>
            </a:r>
            <a:endParaRPr lang="en-US" altLang="ja-JP" sz="20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302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6" grpId="1" animBg="1"/>
      <p:bldP spid="8" grpId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5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196752"/>
            <a:ext cx="7416824" cy="4171964"/>
          </a:xfr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3096344" cy="652385"/>
          </a:xfrm>
        </p:spPr>
        <p:txBody>
          <a:bodyPr>
            <a:normAutofit/>
          </a:bodyPr>
          <a:lstStyle/>
          <a:p>
            <a:r>
              <a:rPr lang="ja-JP" altLang="en-US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時間割</a:t>
            </a:r>
            <a:endParaRPr lang="en-US" altLang="ja-JP" sz="32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7" name="下矢印吹き出し 6"/>
          <p:cNvSpPr/>
          <p:nvPr/>
        </p:nvSpPr>
        <p:spPr>
          <a:xfrm>
            <a:off x="3059832" y="332656"/>
            <a:ext cx="5472608" cy="1080120"/>
          </a:xfrm>
          <a:prstGeom prst="downArrow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レイアウト・時間割の埋め込み</a:t>
            </a:r>
            <a:endParaRPr kumimoji="1" lang="ja-JP" altLang="en-US" sz="28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8" name="左矢印吹き出し 7"/>
          <p:cNvSpPr/>
          <p:nvPr/>
        </p:nvSpPr>
        <p:spPr>
          <a:xfrm>
            <a:off x="4860032" y="2132856"/>
            <a:ext cx="3788814" cy="1584176"/>
          </a:xfrm>
          <a:prstGeom prst="leftArrowCallout">
            <a:avLst>
              <a:gd name="adj1" fmla="val 19906"/>
              <a:gd name="adj2" fmla="val 21188"/>
              <a:gd name="adj3" fmla="val 30445"/>
              <a:gd name="adj4" fmla="val 8131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カレンダーボタンで画面切り替え</a:t>
            </a:r>
            <a:endParaRPr lang="en-US" altLang="ja-JP" sz="2000" b="1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703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7" grpId="1" animBg="1"/>
      <p:bldP spid="8" grpId="0" animBg="1"/>
      <p:bldP spid="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467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データベース</a:t>
            </a:r>
            <a:endParaRPr kumimoji="1" lang="ja-JP" altLang="en-US" sz="3200" b="1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771255"/>
              </p:ext>
            </p:extLst>
          </p:nvPr>
        </p:nvGraphicFramePr>
        <p:xfrm>
          <a:off x="539552" y="1844824"/>
          <a:ext cx="6264696" cy="396044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245834"/>
                <a:gridCol w="1920779"/>
                <a:gridCol w="2098083"/>
              </a:tblGrid>
              <a:tr h="715456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項目名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内容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u="none" strike="noStrike" dirty="0" smtClean="0">
                          <a:effectLst/>
                          <a:latin typeface="+mj-ea"/>
                          <a:ea typeface="+mj-ea"/>
                        </a:rPr>
                        <a:t>例</a:t>
                      </a:r>
                      <a:endParaRPr lang="en-US" altLang="ja-JP" sz="2800" b="1" u="none" strike="noStrike" dirty="0" smtClean="0"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</a:tr>
              <a:tr h="9637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year</a:t>
                      </a: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年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u="none" strike="noStrike" dirty="0" smtClean="0">
                          <a:effectLst/>
                          <a:latin typeface="+mj-ea"/>
                          <a:ea typeface="+mj-ea"/>
                        </a:rPr>
                        <a:t>２０１６</a:t>
                      </a:r>
                      <a:r>
                        <a:rPr lang="ja-JP" altLang="en-US" sz="2800" b="1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</a:tr>
              <a:tr h="10565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month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月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６</a:t>
                      </a:r>
                      <a:endParaRPr lang="en-US" altLang="ja-JP" sz="2800" b="1" i="0" u="none" strike="noStrike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</a:tr>
              <a:tr h="12246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day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日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0" u="none" strike="noStrike" dirty="0" smtClean="0">
                          <a:effectLst/>
                          <a:latin typeface="+mj-ea"/>
                          <a:ea typeface="+mj-ea"/>
                        </a:rPr>
                        <a:t>29</a:t>
                      </a:r>
                      <a:r>
                        <a:rPr lang="ja-JP" altLang="en-US" sz="2800" b="1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21260" marR="21260" marT="21260" marB="0" anchor="ctr"/>
                </a:tc>
              </a:tr>
            </a:tbl>
          </a:graphicData>
        </a:graphic>
      </p:graphicFrame>
      <p:sp>
        <p:nvSpPr>
          <p:cNvPr id="5" name="タイトル 1"/>
          <p:cNvSpPr txBox="1">
            <a:spLocks/>
          </p:cNvSpPr>
          <p:nvPr/>
        </p:nvSpPr>
        <p:spPr>
          <a:xfrm>
            <a:off x="467544" y="1052736"/>
            <a:ext cx="7467600" cy="70609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1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b="1" dirty="0" smtClean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カレンダー</a:t>
            </a:r>
            <a:endParaRPr lang="ja-JP" altLang="en-US" sz="3200" b="1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193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 txBox="1">
            <a:spLocks/>
          </p:cNvSpPr>
          <p:nvPr/>
        </p:nvSpPr>
        <p:spPr>
          <a:xfrm>
            <a:off x="395536" y="188640"/>
            <a:ext cx="7467600" cy="70609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1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b="1" dirty="0" smtClean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今日の予定</a:t>
            </a:r>
            <a:endParaRPr lang="ja-JP" altLang="en-US" sz="3200" b="1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518315"/>
              </p:ext>
            </p:extLst>
          </p:nvPr>
        </p:nvGraphicFramePr>
        <p:xfrm>
          <a:off x="755575" y="1052736"/>
          <a:ext cx="7560841" cy="473318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710490"/>
                <a:gridCol w="2318181"/>
                <a:gridCol w="2532170"/>
              </a:tblGrid>
              <a:tr h="64028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項目</a:t>
                      </a:r>
                      <a:endParaRPr lang="en-US" altLang="ja-JP" sz="2800" b="1" i="0" u="none" strike="noStrike" dirty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内容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u="none" strike="noStrike" dirty="0" smtClean="0">
                          <a:effectLst/>
                          <a:latin typeface="+mj-ea"/>
                          <a:ea typeface="+mj-ea"/>
                        </a:rPr>
                        <a:t>例</a:t>
                      </a:r>
                      <a:r>
                        <a:rPr lang="ja-JP" altLang="en-US" sz="2800" b="1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</a:tr>
              <a:tr h="64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year</a:t>
                      </a: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年</a:t>
                      </a:r>
                      <a:endParaRPr lang="en-US" altLang="ja-JP" sz="2800" b="1" i="0" u="none" strike="noStrike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2016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</a:tr>
              <a:tr h="64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month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月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</a:tr>
              <a:tr h="64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day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日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29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</a:tr>
              <a:tr h="8914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dayname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予定名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3200" b="1" dirty="0" smtClean="0">
                          <a:latin typeface="+mj-ea"/>
                          <a:ea typeface="+mj-ea"/>
                        </a:rPr>
                        <a:t>映画</a:t>
                      </a:r>
                      <a:endParaRPr lang="en-US" altLang="ja-JP" sz="3200" b="1" dirty="0" smtClean="0"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</a:tr>
              <a:tr h="64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Dayhour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予定時間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800" b="1" dirty="0" smtClean="0">
                          <a:latin typeface="+mj-ea"/>
                          <a:ea typeface="+mj-ea"/>
                        </a:rPr>
                        <a:t>10</a:t>
                      </a:r>
                      <a:r>
                        <a:rPr lang="ja-JP" altLang="en-US" sz="3200" b="1" dirty="0" smtClean="0">
                          <a:latin typeface="+mj-ea"/>
                          <a:ea typeface="+mj-ea"/>
                        </a:rPr>
                        <a:t>：</a:t>
                      </a:r>
                      <a:r>
                        <a:rPr lang="en-US" altLang="ja-JP" sz="2800" b="1" dirty="0" smtClean="0">
                          <a:latin typeface="+mj-ea"/>
                          <a:ea typeface="+mj-ea"/>
                        </a:rPr>
                        <a:t>00-12</a:t>
                      </a:r>
                      <a:r>
                        <a:rPr lang="ja-JP" altLang="en-US" sz="2800" b="1" dirty="0" smtClean="0">
                          <a:latin typeface="+mj-ea"/>
                          <a:ea typeface="+mj-ea"/>
                        </a:rPr>
                        <a:t>：</a:t>
                      </a:r>
                      <a:r>
                        <a:rPr lang="en-US" altLang="ja-JP" sz="2800" b="1" dirty="0" smtClean="0">
                          <a:latin typeface="+mj-ea"/>
                          <a:ea typeface="+mj-ea"/>
                        </a:rPr>
                        <a:t>00</a:t>
                      </a:r>
                    </a:p>
                  </a:txBody>
                  <a:tcPr marL="10984" marR="10984" marT="10984" marB="0" anchor="ctr"/>
                </a:tc>
              </a:tr>
              <a:tr h="6402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memo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メモ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盛岡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984" marR="10984" marT="10984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84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 txBox="1">
            <a:spLocks/>
          </p:cNvSpPr>
          <p:nvPr/>
        </p:nvSpPr>
        <p:spPr>
          <a:xfrm>
            <a:off x="599356" y="332656"/>
            <a:ext cx="7467600" cy="70609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1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b="1" dirty="0" smtClean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時間割</a:t>
            </a:r>
            <a:endParaRPr lang="en-US" altLang="ja-JP" sz="3200" b="1" dirty="0" smtClean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766508"/>
              </p:ext>
            </p:extLst>
          </p:nvPr>
        </p:nvGraphicFramePr>
        <p:xfrm>
          <a:off x="565498" y="1196752"/>
          <a:ext cx="6886822" cy="518457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844886"/>
                <a:gridCol w="2140703"/>
                <a:gridCol w="1901233"/>
              </a:tblGrid>
              <a:tr h="852098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項目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内容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u="none" strike="noStrike" dirty="0" smtClean="0">
                          <a:effectLst/>
                          <a:latin typeface="+mj-ea"/>
                          <a:ea typeface="+mj-ea"/>
                        </a:rPr>
                        <a:t>例</a:t>
                      </a:r>
                      <a:r>
                        <a:rPr lang="ja-JP" altLang="en-US" sz="2800" b="1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</a:tr>
              <a:tr h="8520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year</a:t>
                      </a: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年</a:t>
                      </a:r>
                      <a:endParaRPr lang="en-US" altLang="ja-JP" sz="2800" b="1" i="0" u="none" strike="noStrike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u="none" strike="noStrike" dirty="0" smtClean="0">
                          <a:effectLst/>
                          <a:latin typeface="+mj-ea"/>
                          <a:ea typeface="+mj-ea"/>
                        </a:rPr>
                        <a:t>２０１６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</a:tr>
              <a:tr h="8520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month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月</a:t>
                      </a:r>
                      <a:endParaRPr lang="en-US" altLang="ja-JP" sz="2800" b="1" i="0" u="none" strike="noStrike" dirty="0" smtClean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u="none" strike="noStrike" dirty="0" smtClean="0">
                          <a:effectLst/>
                          <a:latin typeface="+mj-ea"/>
                          <a:ea typeface="+mj-ea"/>
                        </a:rPr>
                        <a:t>６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</a:tr>
              <a:tr h="8520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day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日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２９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</a:tr>
              <a:tr h="8957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classhour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時間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0" u="none" strike="noStrike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ja-JP" sz="2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</a:tr>
              <a:tr h="8803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classcount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教科</a:t>
                      </a:r>
                      <a:r>
                        <a:rPr lang="en-US" altLang="ja-JP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１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41" marR="12041" marT="12041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84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 txBox="1">
            <a:spLocks/>
          </p:cNvSpPr>
          <p:nvPr/>
        </p:nvSpPr>
        <p:spPr>
          <a:xfrm>
            <a:off x="574254" y="188640"/>
            <a:ext cx="7467600" cy="70609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1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2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教科詳細</a:t>
            </a:r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3649"/>
              </p:ext>
            </p:extLst>
          </p:nvPr>
        </p:nvGraphicFramePr>
        <p:xfrm>
          <a:off x="545728" y="1052736"/>
          <a:ext cx="7122615" cy="532859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553388"/>
                <a:gridCol w="2712155"/>
                <a:gridCol w="1857072"/>
              </a:tblGrid>
              <a:tr h="82666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項目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内容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例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</a:tr>
              <a:tr h="750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classcount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教科</a:t>
                      </a:r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u="none" strike="noStrike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ja-JP" sz="28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</a:tr>
              <a:tr h="750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classname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教科名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u="none" strike="noStrike" dirty="0">
                          <a:effectLst/>
                          <a:latin typeface="+mj-ea"/>
                          <a:ea typeface="+mj-ea"/>
                        </a:rPr>
                        <a:t>物理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</a:tr>
              <a:tr h="750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teacher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教科担任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u="none" strike="noStrike" dirty="0">
                          <a:effectLst/>
                          <a:latin typeface="+mj-ea"/>
                          <a:ea typeface="+mj-ea"/>
                        </a:rPr>
                        <a:t>B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</a:tr>
              <a:tr h="750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classfull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総コマ数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u="none" strike="noStrike" dirty="0">
                          <a:effectLst/>
                          <a:latin typeface="+mj-ea"/>
                          <a:ea typeface="+mj-ea"/>
                        </a:rPr>
                        <a:t>30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</a:tr>
              <a:tr h="750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class0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必要出席数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u="none" strike="noStrike" dirty="0">
                          <a:effectLst/>
                          <a:latin typeface="+mj-ea"/>
                          <a:ea typeface="+mj-ea"/>
                        </a:rPr>
                        <a:t>20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</a:tr>
              <a:tr h="750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test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28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</a:rPr>
                        <a:t>テスト</a:t>
                      </a:r>
                      <a:endParaRPr lang="en-US" altLang="ja-JP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2800" b="1" u="none" strike="noStrike" dirty="0" smtClean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ja-JP" altLang="en-US" sz="2800" b="1" u="none" strike="noStrike" dirty="0">
                          <a:effectLst/>
                          <a:latin typeface="+mj-ea"/>
                          <a:ea typeface="+mj-ea"/>
                        </a:rPr>
                        <a:t>　</a:t>
                      </a:r>
                      <a:endParaRPr lang="ja-JP" alt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0176" marR="10176" marT="10176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84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3096344" cy="652385"/>
          </a:xfrm>
        </p:spPr>
        <p:txBody>
          <a:bodyPr>
            <a:normAutofit/>
          </a:bodyPr>
          <a:lstStyle/>
          <a:p>
            <a:r>
              <a:rPr lang="ja-JP" altLang="en-US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進捗状況</a:t>
            </a:r>
            <a:endParaRPr lang="en-US" altLang="ja-JP" sz="32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524482" y="1988840"/>
            <a:ext cx="7589804" cy="7920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400" dirty="0" err="1" smtClean="0"/>
              <a:t>AndroidStudio</a:t>
            </a:r>
            <a:r>
              <a:rPr lang="ja-JP" altLang="en-US" sz="2400" dirty="0"/>
              <a:t>の設定がうまくいかず、時間を取られた</a:t>
            </a:r>
            <a:endParaRPr kumimoji="1" lang="ja-JP" altLang="en-US" sz="2400" dirty="0"/>
          </a:p>
        </p:txBody>
      </p:sp>
      <p:sp>
        <p:nvSpPr>
          <p:cNvPr id="17" name="正方形/長方形 16"/>
          <p:cNvSpPr/>
          <p:nvPr/>
        </p:nvSpPr>
        <p:spPr>
          <a:xfrm>
            <a:off x="524482" y="3140968"/>
            <a:ext cx="7589804" cy="792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ja-JP" altLang="en-US" sz="2400" dirty="0" smtClean="0"/>
              <a:t>環境</a:t>
            </a:r>
            <a:r>
              <a:rPr lang="ja-JP" altLang="en-US" sz="2400" dirty="0"/>
              <a:t>が整わずシステム開発が予定より大幅に遅れている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5662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3096344" cy="652385"/>
          </a:xfrm>
        </p:spPr>
        <p:txBody>
          <a:bodyPr>
            <a:normAutofit/>
          </a:bodyPr>
          <a:lstStyle/>
          <a:p>
            <a:r>
              <a:rPr lang="ja-JP" altLang="en-US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進捗状況</a:t>
            </a:r>
            <a:endParaRPr lang="en-US" altLang="ja-JP" sz="32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043" y="1988840"/>
            <a:ext cx="2647683" cy="4180907"/>
          </a:xfrm>
          <a:prstGeom prst="rect">
            <a:avLst/>
          </a:prstGeom>
        </p:spPr>
      </p:pic>
      <p:sp>
        <p:nvSpPr>
          <p:cNvPr id="18" name="正方形/長方形 17"/>
          <p:cNvSpPr/>
          <p:nvPr/>
        </p:nvSpPr>
        <p:spPr>
          <a:xfrm>
            <a:off x="516219" y="1196752"/>
            <a:ext cx="7589804" cy="7920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ja-JP" altLang="en-US" sz="2800" dirty="0" smtClean="0"/>
              <a:t>編集</a:t>
            </a:r>
            <a:r>
              <a:rPr lang="ja-JP" altLang="en-US" sz="2800" dirty="0"/>
              <a:t>画面の完成イメージは</a:t>
            </a:r>
            <a:r>
              <a:rPr lang="ja-JP" altLang="en-US" sz="2800" dirty="0" smtClean="0"/>
              <a:t>完成</a:t>
            </a:r>
            <a:endParaRPr lang="ja-JP" altLang="en-US" sz="2800" dirty="0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406" y="2043162"/>
            <a:ext cx="6127430" cy="3828361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214" y="2046297"/>
            <a:ext cx="6137693" cy="38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4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34" y="1052736"/>
            <a:ext cx="2741414" cy="4873625"/>
          </a:xfr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3096344" cy="652385"/>
          </a:xfrm>
        </p:spPr>
        <p:txBody>
          <a:bodyPr>
            <a:normAutofit/>
          </a:bodyPr>
          <a:lstStyle/>
          <a:p>
            <a:r>
              <a:rPr lang="ja-JP" altLang="en-US" sz="32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進捗状況</a:t>
            </a:r>
            <a:endParaRPr lang="en-US" altLang="ja-JP" sz="3200" b="1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8" name="左矢印吹き出し 7"/>
          <p:cNvSpPr/>
          <p:nvPr/>
        </p:nvSpPr>
        <p:spPr>
          <a:xfrm>
            <a:off x="2699792" y="1772816"/>
            <a:ext cx="3788814" cy="1584176"/>
          </a:xfrm>
          <a:prstGeom prst="leftArrowCallout">
            <a:avLst>
              <a:gd name="adj1" fmla="val 19906"/>
              <a:gd name="adj2" fmla="val 21188"/>
              <a:gd name="adj3" fmla="val 30445"/>
              <a:gd name="adj4" fmla="val 8131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日付タップで今日の予定画面に飛ぶ</a:t>
            </a:r>
            <a:endParaRPr lang="en-US" altLang="ja-JP" sz="2000" b="1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80" y="1052736"/>
            <a:ext cx="2887116" cy="5132651"/>
          </a:xfrm>
          <a:prstGeom prst="rect">
            <a:avLst/>
          </a:prstGeom>
        </p:spPr>
      </p:pic>
      <p:sp>
        <p:nvSpPr>
          <p:cNvPr id="13" name="左矢印吹き出し 12"/>
          <p:cNvSpPr/>
          <p:nvPr/>
        </p:nvSpPr>
        <p:spPr>
          <a:xfrm>
            <a:off x="2586106" y="692696"/>
            <a:ext cx="3384376" cy="1415073"/>
          </a:xfrm>
          <a:prstGeom prst="leftArrowCallout">
            <a:avLst>
              <a:gd name="adj1" fmla="val 19906"/>
              <a:gd name="adj2" fmla="val 21188"/>
              <a:gd name="adj3" fmla="val 30445"/>
              <a:gd name="adj4" fmla="val 8131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日付表示</a:t>
            </a:r>
            <a:endParaRPr lang="en-US" altLang="ja-JP" sz="2000" b="1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grpSp>
        <p:nvGrpSpPr>
          <p:cNvPr id="16" name="グループ化 15"/>
          <p:cNvGrpSpPr/>
          <p:nvPr/>
        </p:nvGrpSpPr>
        <p:grpSpPr>
          <a:xfrm>
            <a:off x="4499992" y="4149080"/>
            <a:ext cx="3384376" cy="1887906"/>
            <a:chOff x="4499992" y="4149080"/>
            <a:chExt cx="3384376" cy="1887906"/>
          </a:xfrm>
        </p:grpSpPr>
        <p:sp>
          <p:nvSpPr>
            <p:cNvPr id="14" name="円/楕円 13"/>
            <p:cNvSpPr/>
            <p:nvPr/>
          </p:nvSpPr>
          <p:spPr>
            <a:xfrm>
              <a:off x="4499992" y="4149080"/>
              <a:ext cx="3384376" cy="188790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739699" y="4862200"/>
              <a:ext cx="29049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 smtClean="0"/>
                <a:t>編集画面のレイアウト</a:t>
              </a:r>
              <a:endParaRPr kumimoji="1" lang="ja-JP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162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8" grpId="1" animBg="1"/>
      <p:bldP spid="13" grpId="0" animBg="1"/>
      <p:bldP spid="1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0232389"/>
              </p:ext>
            </p:extLst>
          </p:nvPr>
        </p:nvGraphicFramePr>
        <p:xfrm>
          <a:off x="467544" y="1412776"/>
          <a:ext cx="7467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</a:tblGrid>
              <a:tr h="5040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月</a:t>
                      </a:r>
                      <a:endParaRPr kumimoji="1" lang="ja-JP" alt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000" dirty="0" smtClean="0"/>
                        <a:t>内容</a:t>
                      </a:r>
                      <a:endParaRPr kumimoji="1" lang="ja-JP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ja-JP" sz="3200" b="1" kern="1200" dirty="0" smtClean="0">
                          <a:effectLst/>
                        </a:rPr>
                        <a:t>一月初旬</a:t>
                      </a:r>
                      <a:endParaRPr kumimoji="1" lang="ja-JP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ja-JP" sz="2000" b="1" kern="1200" dirty="0" smtClean="0">
                          <a:effectLst/>
                        </a:rPr>
                        <a:t>・予定表編集画面のレイアウト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ja-JP" sz="2000" b="1" kern="1200" dirty="0" smtClean="0">
                          <a:effectLst/>
                        </a:rPr>
                        <a:t>・時間割編集画面のレイアウト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ja-JP" sz="2000" b="1" kern="1200" dirty="0" smtClean="0">
                          <a:effectLst/>
                        </a:rPr>
                        <a:t>・</a:t>
                      </a:r>
                      <a:r>
                        <a:rPr kumimoji="1" lang="ja-JP" altLang="en-US" sz="2000" b="1" kern="1200" dirty="0" smtClean="0">
                          <a:effectLst/>
                        </a:rPr>
                        <a:t>教科詳細</a:t>
                      </a:r>
                      <a:r>
                        <a:rPr kumimoji="1" lang="ja-JP" altLang="ja-JP" sz="2000" b="1" kern="1200" dirty="0" smtClean="0">
                          <a:effectLst/>
                        </a:rPr>
                        <a:t>画面</a:t>
                      </a:r>
                      <a:r>
                        <a:rPr kumimoji="1" lang="ja-JP" altLang="en-US" sz="2000" b="1" kern="1200" dirty="0" smtClean="0">
                          <a:effectLst/>
                        </a:rPr>
                        <a:t>の</a:t>
                      </a:r>
                      <a:r>
                        <a:rPr kumimoji="1" lang="ja-JP" altLang="ja-JP" sz="2000" b="1" kern="1200" dirty="0" smtClean="0">
                          <a:effectLst/>
                        </a:rPr>
                        <a:t>レイアウト</a:t>
                      </a:r>
                      <a:endParaRPr kumimoji="1" lang="ja-JP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ja-JP" sz="32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一月中旬</a:t>
                      </a:r>
                      <a:endParaRPr kumimoji="1" lang="ja-JP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・タップして詳細画面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・日付ボタン</a:t>
                      </a:r>
                      <a:r>
                        <a:rPr kumimoji="1" lang="ja-JP" alt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，週ボタン</a:t>
                      </a:r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の機能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・（メモ機能の作成）</a:t>
                      </a:r>
                      <a:endParaRPr kumimoji="1" lang="ja-JP" alt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>
            <a:normAutofit/>
          </a:bodyPr>
          <a:lstStyle/>
          <a:p>
            <a:r>
              <a:rPr kumimoji="1" lang="ja-JP" altLang="en-US" sz="3200" dirty="0" smtClean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今後の予定</a:t>
            </a:r>
            <a:endParaRPr kumimoji="1" lang="ja-JP" alt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33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652934"/>
          </a:xfrm>
        </p:spPr>
        <p:txBody>
          <a:bodyPr>
            <a:normAutofit/>
          </a:bodyPr>
          <a:lstStyle/>
          <a:p>
            <a:r>
              <a:rPr kumimoji="1" lang="ja-JP" altLang="en-US" sz="3200" dirty="0" smtClean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今後の予定</a:t>
            </a:r>
            <a:endParaRPr kumimoji="1" lang="ja-JP" alt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36021030"/>
              </p:ext>
            </p:extLst>
          </p:nvPr>
        </p:nvGraphicFramePr>
        <p:xfrm>
          <a:off x="467544" y="1700808"/>
          <a:ext cx="746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</a:tblGrid>
              <a:tr h="50405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 smtClean="0"/>
                        <a:t>月</a:t>
                      </a:r>
                      <a:endParaRPr kumimoji="1" lang="ja-JP" alt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2000" dirty="0" smtClean="0"/>
                        <a:t>内容</a:t>
                      </a:r>
                      <a:endParaRPr kumimoji="1" lang="ja-JP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b="1" kern="1200" dirty="0" smtClean="0">
                          <a:effectLst/>
                        </a:rPr>
                        <a:t>二月</a:t>
                      </a:r>
                      <a:endParaRPr kumimoji="1" lang="ja-JP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・予定の保存・データ管理・削除</a:t>
                      </a:r>
                    </a:p>
                    <a:p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・時間割の保存・データ管理・削</a:t>
                      </a:r>
                      <a:r>
                        <a:rPr kumimoji="1" lang="ja-JP" alt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  <a:endParaRPr kumimoji="1" lang="en-US" altLang="ja-JP" sz="2000" b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ja-JP" altLang="en-US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除</a:t>
                      </a:r>
                    </a:p>
                    <a:p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・出欠席の管理・計算</a:t>
                      </a:r>
                    </a:p>
                    <a:p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・通知機能</a:t>
                      </a:r>
                      <a:endParaRPr kumimoji="1" lang="ja-JP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3200" b="1" dirty="0" smtClean="0"/>
                        <a:t>三月</a:t>
                      </a:r>
                      <a:endParaRPr kumimoji="1" lang="ja-JP" altLang="en-US" sz="3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1" lang="ja-JP" altLang="ja-JP" sz="20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最終調整</a:t>
                      </a:r>
                      <a:endParaRPr kumimoji="1" lang="ja-JP" altLang="en-US" sz="28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52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ご清聴</a:t>
            </a:r>
            <a:r>
              <a:rPr lang="ja-JP" altLang="en-US" sz="36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ありがとう</a:t>
            </a:r>
            <a:r>
              <a:rPr lang="ja-JP" altLang="en-US" sz="3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ございました。</a:t>
            </a:r>
            <a:endParaRPr kumimoji="1" lang="ja-JP" altLang="en-US" sz="32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995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スパイス">
  <a:themeElements>
    <a:clrScheme name="スパイス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スパイス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スパイス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1312</TotalTime>
  <Words>334</Words>
  <Application>Microsoft Office PowerPoint</Application>
  <PresentationFormat>画面に合わせる (4:3)</PresentationFormat>
  <Paragraphs>144</Paragraphs>
  <Slides>17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18" baseType="lpstr">
      <vt:lpstr>スパイス</vt:lpstr>
      <vt:lpstr>10　大学生向けスケジュールアプリの作成</vt:lpstr>
      <vt:lpstr>テーマ設定理由</vt:lpstr>
      <vt:lpstr>開発環境</vt:lpstr>
      <vt:lpstr>基本機能の提案</vt:lpstr>
      <vt:lpstr>　カレンダ-</vt:lpstr>
      <vt:lpstr>今日の予定</vt:lpstr>
      <vt:lpstr>時間割</vt:lpstr>
      <vt:lpstr>データベース</vt:lpstr>
      <vt:lpstr>PowerPoint プレゼンテーション</vt:lpstr>
      <vt:lpstr>PowerPoint プレゼンテーション</vt:lpstr>
      <vt:lpstr>PowerPoint プレゼンテーション</vt:lpstr>
      <vt:lpstr>進捗状況</vt:lpstr>
      <vt:lpstr>進捗状況</vt:lpstr>
      <vt:lpstr>進捗状況</vt:lpstr>
      <vt:lpstr>今後の予定</vt:lpstr>
      <vt:lpstr>今後の予定</vt:lpstr>
      <vt:lpstr>ご清聴ありがとうございました。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大学生向けスケジュールアプリの作成</dc:title>
  <dc:creator>h27cis11</dc:creator>
  <cp:lastModifiedBy>h27cis11</cp:lastModifiedBy>
  <cp:revision>46</cp:revision>
  <cp:lastPrinted>2016-12-21T06:47:03Z</cp:lastPrinted>
  <dcterms:created xsi:type="dcterms:W3CDTF">2016-08-26T02:29:41Z</dcterms:created>
  <dcterms:modified xsi:type="dcterms:W3CDTF">2016-12-21T07:10:06Z</dcterms:modified>
</cp:coreProperties>
</file>