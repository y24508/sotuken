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9"/>
  </p:notesMasterIdLst>
  <p:sldIdLst>
    <p:sldId id="256" r:id="rId2"/>
    <p:sldId id="303" r:id="rId3"/>
    <p:sldId id="305" r:id="rId4"/>
    <p:sldId id="289" r:id="rId5"/>
    <p:sldId id="285" r:id="rId6"/>
    <p:sldId id="286" r:id="rId7"/>
    <p:sldId id="298" r:id="rId8"/>
    <p:sldId id="261" r:id="rId9"/>
    <p:sldId id="292" r:id="rId10"/>
    <p:sldId id="304" r:id="rId11"/>
    <p:sldId id="288" r:id="rId12"/>
    <p:sldId id="293" r:id="rId13"/>
    <p:sldId id="290" r:id="rId14"/>
    <p:sldId id="297" r:id="rId15"/>
    <p:sldId id="296" r:id="rId16"/>
    <p:sldId id="311" r:id="rId17"/>
    <p:sldId id="314" r:id="rId18"/>
    <p:sldId id="312" r:id="rId19"/>
    <p:sldId id="313" r:id="rId20"/>
    <p:sldId id="310" r:id="rId21"/>
    <p:sldId id="284" r:id="rId22"/>
    <p:sldId id="308" r:id="rId23"/>
    <p:sldId id="306" r:id="rId24"/>
    <p:sldId id="309" r:id="rId25"/>
    <p:sldId id="269" r:id="rId26"/>
    <p:sldId id="262" r:id="rId27"/>
    <p:sldId id="307" r:id="rId2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6" autoAdjust="0"/>
    <p:restoredTop sz="86458" autoAdjust="0"/>
  </p:normalViewPr>
  <p:slideViewPr>
    <p:cSldViewPr>
      <p:cViewPr>
        <p:scale>
          <a:sx n="50" d="100"/>
          <a:sy n="50" d="100"/>
        </p:scale>
        <p:origin x="-2574" y="-11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7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5F8A7-710A-402B-B665-6C40467C79DF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CC15D-AEEB-431A-A5B3-0A4C866508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2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CC15D-AEEB-431A-A5B3-0A4C8665083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448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CC15D-AEEB-431A-A5B3-0A4C8665083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30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12/22/2016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9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67544" y="1124744"/>
            <a:ext cx="9144000" cy="1944216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5400" dirty="0" smtClean="0"/>
              <a:t>Leap Motion</a:t>
            </a:r>
            <a:r>
              <a:rPr lang="ja-JP" altLang="en-US" sz="5400" dirty="0" smtClean="0"/>
              <a:t>を用いた</a:t>
            </a:r>
            <a:r>
              <a:rPr lang="en-US" altLang="ja-JP" sz="5400" dirty="0" smtClean="0"/>
              <a:t/>
            </a:r>
            <a:br>
              <a:rPr lang="en-US" altLang="ja-JP" sz="5400" dirty="0" smtClean="0"/>
            </a:br>
            <a:r>
              <a:rPr lang="en-US" altLang="ja-JP" sz="5400" dirty="0" smtClean="0"/>
              <a:t>                </a:t>
            </a:r>
            <a:r>
              <a:rPr lang="ja-JP" altLang="en-US" sz="5400" dirty="0" smtClean="0"/>
              <a:t>入力操作の検討</a:t>
            </a:r>
            <a:endParaRPr kumimoji="1" lang="ja-JP" altLang="en-US" sz="54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851920" y="3717032"/>
            <a:ext cx="4752528" cy="2592288"/>
          </a:xfrm>
        </p:spPr>
        <p:txBody>
          <a:bodyPr>
            <a:noAutofit/>
          </a:bodyPr>
          <a:lstStyle/>
          <a:p>
            <a:r>
              <a:rPr kumimoji="1" lang="en-US" altLang="ja-JP" sz="3200" b="1" dirty="0" smtClean="0"/>
              <a:t>16</a:t>
            </a:r>
            <a:r>
              <a:rPr kumimoji="1" lang="ja-JP" altLang="en-US" sz="3200" b="1" dirty="0" smtClean="0"/>
              <a:t>番　高橋　一樹</a:t>
            </a:r>
            <a:endParaRPr lang="en-US" altLang="ja-JP" sz="3200" b="1" dirty="0"/>
          </a:p>
          <a:p>
            <a:endParaRPr lang="en-US" altLang="ja-JP" sz="3200" b="1" dirty="0"/>
          </a:p>
          <a:p>
            <a:r>
              <a:rPr kumimoji="1" lang="ja-JP" altLang="en-US" sz="3200" b="1" dirty="0" smtClean="0"/>
              <a:t>担当教員　ソソラ 先生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8811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16"/>
    </mc:Choice>
    <mc:Fallback xmlns="">
      <p:transition spd="slow" advTm="1311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200" dirty="0" smtClean="0"/>
              <a:t>Leap Motion</a:t>
            </a:r>
            <a:r>
              <a:rPr lang="ja-JP" altLang="en-US" sz="3200" dirty="0" smtClean="0"/>
              <a:t>という認識デバイスに興味を持った。</a:t>
            </a:r>
            <a:endParaRPr lang="en-US" altLang="ja-JP" sz="3200" dirty="0" smtClean="0"/>
          </a:p>
          <a:p>
            <a:pPr marL="0" indent="0">
              <a:buNone/>
            </a:pPr>
            <a:endParaRPr kumimoji="1" lang="en-US" altLang="ja-JP" sz="3200" dirty="0"/>
          </a:p>
          <a:p>
            <a:r>
              <a:rPr lang="ja-JP" altLang="en-US" sz="3200" dirty="0" smtClean="0"/>
              <a:t>音声認識に変わる、ジェスチャー認識ができないかと考えた。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7530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 smtClean="0"/>
              <a:t>Leap Motion</a:t>
            </a:r>
            <a:r>
              <a:rPr lang="ja-JP" altLang="en-US" sz="3200" dirty="0" smtClean="0"/>
              <a:t>で取得したジェスチャーを判別する</a:t>
            </a:r>
            <a:endParaRPr lang="en-US" altLang="ja-JP" sz="3200" dirty="0" smtClean="0"/>
          </a:p>
          <a:p>
            <a:endParaRPr lang="en-US" altLang="ja-JP" sz="3200" dirty="0" smtClean="0"/>
          </a:p>
          <a:p>
            <a:r>
              <a:rPr kumimoji="1" lang="ja-JP" altLang="en-US" sz="3200" dirty="0"/>
              <a:t>これを</a:t>
            </a:r>
            <a:r>
              <a:rPr kumimoji="1" lang="ja-JP" altLang="en-US" sz="3200" dirty="0" smtClean="0"/>
              <a:t>用いて文字入力操作を行う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8713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1026" name="Picture 2" descr="C:\Users\h27cis16\Downloads\00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8" y="620688"/>
            <a:ext cx="9144000" cy="570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5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ja-JP" altLang="en-US" sz="9600" dirty="0" smtClean="0">
                <a:solidFill>
                  <a:schemeClr val="tx2"/>
                </a:solidFill>
              </a:rPr>
              <a:t>進捗状況</a:t>
            </a:r>
            <a:endParaRPr kumimoji="1" lang="en-US" altLang="ja-JP" sz="9600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768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764704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作業計画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494490"/>
              </p:ext>
            </p:extLst>
          </p:nvPr>
        </p:nvGraphicFramePr>
        <p:xfrm>
          <a:off x="971600" y="2204864"/>
          <a:ext cx="6767983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/>
                <a:gridCol w="5111799"/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32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r>
                        <a:rPr kumimoji="1" lang="ja-JP" altLang="en-US" sz="3200" dirty="0" smtClean="0">
                          <a:solidFill>
                            <a:srgbClr val="FF0000"/>
                          </a:solidFill>
                        </a:rPr>
                        <a:t>月</a:t>
                      </a:r>
                      <a:endParaRPr kumimoji="1" lang="ja-JP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 smtClean="0">
                          <a:solidFill>
                            <a:srgbClr val="FF0000"/>
                          </a:solidFill>
                        </a:rPr>
                        <a:t>Unity</a:t>
                      </a:r>
                      <a:r>
                        <a:rPr kumimoji="1" lang="ja-JP" altLang="en-US" sz="3200" dirty="0" smtClean="0">
                          <a:solidFill>
                            <a:srgbClr val="FF0000"/>
                          </a:solidFill>
                        </a:rPr>
                        <a:t>の勉強</a:t>
                      </a:r>
                      <a:endParaRPr kumimoji="1" lang="en-US" altLang="ja-JP" sz="32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290">
                <a:tc>
                  <a:txBody>
                    <a:bodyPr/>
                    <a:lstStyle/>
                    <a:p>
                      <a:r>
                        <a:rPr kumimoji="1" lang="en-US" altLang="ja-JP" sz="32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kumimoji="1" lang="ja-JP" altLang="en-US" sz="3200" dirty="0" smtClean="0">
                          <a:solidFill>
                            <a:srgbClr val="FF0000"/>
                          </a:solidFill>
                        </a:rPr>
                        <a:t>月</a:t>
                      </a:r>
                      <a:endParaRPr kumimoji="1" lang="en-US" altLang="ja-JP" sz="32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en-US" altLang="ja-JP" sz="32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r>
                        <a:rPr kumimoji="1" lang="ja-JP" altLang="en-US" sz="3200" dirty="0" smtClean="0">
                          <a:solidFill>
                            <a:srgbClr val="FF0000"/>
                          </a:solidFill>
                        </a:rPr>
                        <a:t>月</a:t>
                      </a:r>
                      <a:endParaRPr kumimoji="1" lang="en-US" altLang="ja-JP" sz="32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en-US" altLang="ja-JP" sz="32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kumimoji="1" lang="ja-JP" altLang="en-US" sz="3200" dirty="0" smtClean="0">
                          <a:solidFill>
                            <a:schemeClr val="tx1"/>
                          </a:solidFill>
                        </a:rPr>
                        <a:t>月</a:t>
                      </a:r>
                      <a:endParaRPr kumimoji="1" lang="en-US" altLang="ja-JP" sz="32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3200" dirty="0" smtClean="0">
                          <a:solidFill>
                            <a:schemeClr val="tx1"/>
                          </a:solidFill>
                        </a:rPr>
                        <a:t>月</a:t>
                      </a:r>
                      <a:endParaRPr kumimoji="1" lang="en-US" altLang="ja-JP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 smtClean="0">
                          <a:solidFill>
                            <a:srgbClr val="FF0000"/>
                          </a:solidFill>
                        </a:rPr>
                        <a:t>Leap Motion</a:t>
                      </a:r>
                      <a:r>
                        <a:rPr kumimoji="1" lang="ja-JP" altLang="en-US" sz="3200" dirty="0" smtClean="0">
                          <a:solidFill>
                            <a:srgbClr val="FF0000"/>
                          </a:solidFill>
                        </a:rPr>
                        <a:t>との連携</a:t>
                      </a:r>
                      <a:endParaRPr kumimoji="1" lang="en-US" altLang="ja-JP" sz="32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3200" dirty="0" smtClean="0">
                          <a:solidFill>
                            <a:schemeClr val="tx1"/>
                          </a:solidFill>
                        </a:rPr>
                        <a:t>アプリ開発</a:t>
                      </a:r>
                      <a:endParaRPr kumimoji="1" lang="en-US" altLang="ja-JP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290">
                <a:tc>
                  <a:txBody>
                    <a:bodyPr/>
                    <a:lstStyle/>
                    <a:p>
                      <a:r>
                        <a:rPr kumimoji="1" lang="en-US" altLang="ja-JP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ja-JP" altLang="en-US" sz="3200" dirty="0" smtClean="0">
                          <a:solidFill>
                            <a:schemeClr val="tx1"/>
                          </a:solidFill>
                        </a:rPr>
                        <a:t>月</a:t>
                      </a:r>
                      <a:endParaRPr kumimoji="1" lang="en-US" altLang="ja-JP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3200" dirty="0" smtClean="0">
                          <a:solidFill>
                            <a:schemeClr val="tx1"/>
                          </a:solidFill>
                        </a:rPr>
                        <a:t>発表資料作成</a:t>
                      </a:r>
                      <a:endParaRPr kumimoji="1" lang="en-US" altLang="ja-JP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6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42"/>
    </mc:Choice>
    <mc:Fallback xmlns="">
      <p:transition spd="slow" advTm="52942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9712" y="2060848"/>
            <a:ext cx="6048375" cy="2520280"/>
          </a:xfrm>
        </p:spPr>
        <p:txBody>
          <a:bodyPr/>
          <a:lstStyle/>
          <a:p>
            <a:r>
              <a:rPr lang="ja-JP" altLang="en-US" sz="9600" dirty="0"/>
              <a:t>開発</a:t>
            </a:r>
            <a:r>
              <a:rPr kumimoji="1" lang="ja-JP" altLang="en-US" sz="9600" dirty="0" smtClean="0"/>
              <a:t>環境</a:t>
            </a:r>
            <a:endParaRPr kumimoji="1" lang="ja-JP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50078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87016" y="692696"/>
            <a:ext cx="2901516" cy="648072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en-US" altLang="ja-JP" sz="4000" dirty="0" smtClean="0">
                <a:solidFill>
                  <a:schemeClr val="tx2"/>
                </a:solidFill>
              </a:rPr>
              <a:t>Unity</a:t>
            </a:r>
            <a:endParaRPr kumimoji="1" lang="ja-JP" altLang="en-US" sz="40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7544" y="1916832"/>
            <a:ext cx="81369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tx2"/>
              </a:buCl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統合開発環境を内蔵したゲームエンジン</a:t>
            </a:r>
            <a:endParaRPr lang="en-US" altLang="ja-JP" sz="3200" dirty="0"/>
          </a:p>
          <a:p>
            <a:pPr marL="457200" indent="-457200">
              <a:buClr>
                <a:schemeClr val="tx2"/>
              </a:buClr>
              <a:buFont typeface="Wingdings" panose="05000000000000000000" pitchFamily="2" charset="2"/>
              <a:buChar char="u"/>
            </a:pPr>
            <a:r>
              <a:rPr lang="en-US" altLang="ja-JP" sz="3200" dirty="0" smtClean="0"/>
              <a:t>Windows</a:t>
            </a:r>
            <a:r>
              <a:rPr lang="ja-JP" altLang="en-US" sz="3200" dirty="0" smtClean="0"/>
              <a:t>や</a:t>
            </a:r>
            <a:r>
              <a:rPr lang="en-US" altLang="ja-JP" sz="3200" dirty="0" smtClean="0"/>
              <a:t>Mac</a:t>
            </a:r>
            <a:r>
              <a:rPr lang="ja-JP" altLang="en-US" sz="3200" dirty="0" smtClean="0"/>
              <a:t>など複数のプラットフォームに対応</a:t>
            </a:r>
            <a:endParaRPr lang="en-US" altLang="ja-JP" sz="3200" dirty="0"/>
          </a:p>
          <a:p>
            <a:pPr marL="457200" indent="-457200">
              <a:buClr>
                <a:schemeClr val="tx2"/>
              </a:buCl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主</a:t>
            </a:r>
            <a:r>
              <a:rPr lang="ja-JP" altLang="en-US" sz="3200" dirty="0"/>
              <a:t>にモバイルやブラウザゲーム製作に</a:t>
            </a:r>
            <a:r>
              <a:rPr lang="ja-JP" altLang="en-US" sz="3200" dirty="0" smtClean="0"/>
              <a:t>使用</a:t>
            </a:r>
            <a:endParaRPr lang="en-US" altLang="ja-JP" sz="3200" dirty="0"/>
          </a:p>
          <a:p>
            <a:pPr marL="457200" indent="-457200">
              <a:buClr>
                <a:schemeClr val="tx2"/>
              </a:buClr>
              <a:buFont typeface="Wingdings" panose="05000000000000000000" pitchFamily="2" charset="2"/>
              <a:buChar char="u"/>
            </a:pPr>
            <a:r>
              <a:rPr lang="en-US" altLang="ja-JP" sz="3200" dirty="0" smtClean="0"/>
              <a:t>C</a:t>
            </a:r>
            <a:r>
              <a:rPr lang="ja-JP" altLang="en-US" sz="3200" dirty="0" smtClean="0"/>
              <a:t>言語</a:t>
            </a:r>
            <a:r>
              <a:rPr lang="en-US" altLang="ja-JP" sz="3200" dirty="0" smtClean="0"/>
              <a:t>,C++,</a:t>
            </a:r>
            <a:r>
              <a:rPr lang="en-US" altLang="ja-JP" sz="3200" dirty="0" err="1" smtClean="0"/>
              <a:t>C#</a:t>
            </a:r>
            <a:r>
              <a:rPr lang="en-US" altLang="ja-JP" sz="3200" dirty="0" err="1"/>
              <a:t>,</a:t>
            </a:r>
            <a:r>
              <a:rPr lang="en-US" altLang="ja-JP" sz="3200" dirty="0" err="1" smtClean="0"/>
              <a:t>Unity</a:t>
            </a:r>
            <a:r>
              <a:rPr lang="en-US" altLang="ja-JP" sz="3200" dirty="0" smtClean="0"/>
              <a:t> Script(JavaScript)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09415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04"/>
    </mc:Choice>
    <mc:Fallback xmlns="">
      <p:transition spd="slow" advTm="16204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764704"/>
            <a:ext cx="8064500" cy="5256212"/>
          </a:xfrm>
        </p:spPr>
        <p:txBody>
          <a:bodyPr/>
          <a:lstStyle/>
          <a:p>
            <a:pPr marL="45720" indent="0">
              <a:buNone/>
            </a:pPr>
            <a:r>
              <a:rPr kumimoji="1" lang="en-US" altLang="ja-JP" sz="4000" dirty="0" smtClean="0">
                <a:solidFill>
                  <a:schemeClr val="tx2"/>
                </a:solidFill>
              </a:rPr>
              <a:t>Leap Motion</a:t>
            </a:r>
          </a:p>
          <a:p>
            <a:pPr marL="45720" indent="0">
              <a:buNone/>
            </a:pPr>
            <a:endParaRPr kumimoji="1" lang="en-US" altLang="ja-JP" sz="4000" dirty="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ja-JP" altLang="ja-JP" sz="3200" dirty="0" smtClean="0"/>
              <a:t>手の</a:t>
            </a:r>
            <a:r>
              <a:rPr lang="ja-JP" altLang="en-US" sz="3200" dirty="0"/>
              <a:t>動き</a:t>
            </a:r>
            <a:r>
              <a:rPr lang="ja-JP" altLang="en-US" sz="3200" dirty="0" smtClean="0"/>
              <a:t>を認識する小型</a:t>
            </a:r>
            <a:r>
              <a:rPr lang="ja-JP" altLang="ja-JP" sz="3200" dirty="0" smtClean="0"/>
              <a:t>デバイス</a:t>
            </a:r>
            <a:endParaRPr lang="ja-JP" altLang="ja-JP" sz="3200" dirty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ja-JP" sz="3200" dirty="0"/>
              <a:t> </a:t>
            </a:r>
            <a:r>
              <a:rPr lang="en-US" altLang="ja-JP" sz="3200" dirty="0" smtClean="0"/>
              <a:t>USB</a:t>
            </a:r>
            <a:r>
              <a:rPr lang="ja-JP" altLang="ja-JP" sz="3200" dirty="0" smtClean="0"/>
              <a:t>接続</a:t>
            </a:r>
            <a:r>
              <a:rPr lang="ja-JP" altLang="en-US" sz="3200" dirty="0" smtClean="0"/>
              <a:t>が可能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/>
              <a:t>検出</a:t>
            </a:r>
            <a:r>
              <a:rPr lang="ja-JP" altLang="ja-JP" sz="3200" dirty="0" smtClean="0"/>
              <a:t>範囲</a:t>
            </a:r>
            <a:r>
              <a:rPr lang="ja-JP" altLang="ja-JP" sz="3200" dirty="0"/>
              <a:t>は半径</a:t>
            </a:r>
            <a:r>
              <a:rPr lang="en-US" altLang="ja-JP" sz="3200" dirty="0"/>
              <a:t>50</a:t>
            </a:r>
            <a:r>
              <a:rPr lang="ja-JP" altLang="ja-JP" sz="3200" dirty="0" smtClean="0"/>
              <a:t>センチ</a:t>
            </a:r>
            <a:endParaRPr lang="en-US" altLang="ja-JP" sz="3200" dirty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ja-JP" sz="3200" dirty="0" smtClean="0"/>
              <a:t>1/100</a:t>
            </a:r>
            <a:r>
              <a:rPr lang="ja-JP" altLang="ja-JP" sz="3200" dirty="0" smtClean="0"/>
              <a:t>ｍｍ</a:t>
            </a:r>
            <a:r>
              <a:rPr lang="ja-JP" altLang="en-US" sz="3200" dirty="0"/>
              <a:t>と</a:t>
            </a:r>
            <a:r>
              <a:rPr lang="ja-JP" altLang="en-US" sz="3200" dirty="0" smtClean="0"/>
              <a:t>いう高い精度</a:t>
            </a:r>
            <a:endParaRPr lang="ja-JP" altLang="ja-JP" sz="3200" dirty="0"/>
          </a:p>
          <a:p>
            <a:pPr marL="0" indent="0">
              <a:buNone/>
            </a:pPr>
            <a:endParaRPr kumimoji="1" lang="ja-JP" altLang="en-US" sz="3200" dirty="0"/>
          </a:p>
        </p:txBody>
      </p:sp>
      <p:pic>
        <p:nvPicPr>
          <p:cNvPr id="4" name="図 3" descr="画面の領域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4581128"/>
            <a:ext cx="4203173" cy="203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0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99"/>
    </mc:Choice>
    <mc:Fallback xmlns="">
      <p:transition spd="slow" advTm="20299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音声認識とは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2060849"/>
            <a:ext cx="8136904" cy="4248512"/>
          </a:xfrm>
        </p:spPr>
        <p:txBody>
          <a:bodyPr/>
          <a:lstStyle/>
          <a:p>
            <a:r>
              <a:rPr kumimoji="1" lang="ja-JP" altLang="en-US" sz="3200" dirty="0" smtClean="0"/>
              <a:t>人間の声などを</a:t>
            </a:r>
            <a:r>
              <a:rPr lang="ja-JP" altLang="en-US" sz="3200" dirty="0" smtClean="0"/>
              <a:t>コンピュータに認識させること</a:t>
            </a:r>
            <a:endParaRPr lang="en-US" altLang="ja-JP" sz="3200" dirty="0" smtClean="0"/>
          </a:p>
          <a:p>
            <a:r>
              <a:rPr lang="ja-JP" altLang="en-US" sz="3200" dirty="0" smtClean="0"/>
              <a:t>話した言葉を文字列に変換するなど</a:t>
            </a:r>
            <a:endParaRPr lang="en-US" altLang="ja-JP" sz="3200" dirty="0" smtClean="0"/>
          </a:p>
          <a:p>
            <a:r>
              <a:rPr lang="ja-JP" altLang="en-US" sz="3200" dirty="0" smtClean="0"/>
              <a:t>音声認識でアプリケーションを操作することも可能であり、「音声操作」と呼ばれる</a:t>
            </a:r>
            <a:endParaRPr lang="en-US" altLang="ja-JP" sz="3200" dirty="0" smtClean="0"/>
          </a:p>
          <a:p>
            <a:pPr marL="0" indent="0">
              <a:buNone/>
            </a:pPr>
            <a:endParaRPr kumimoji="1" lang="en-US" altLang="ja-JP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903951"/>
              </p:ext>
            </p:extLst>
          </p:nvPr>
        </p:nvGraphicFramePr>
        <p:xfrm>
          <a:off x="1835696" y="4581128"/>
          <a:ext cx="5231904" cy="173736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615952"/>
                <a:gridCol w="2615952"/>
              </a:tblGrid>
              <a:tr h="14973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Apple</a:t>
                      </a:r>
                      <a:endParaRPr kumimoji="1" lang="ja-JP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Siri</a:t>
                      </a:r>
                      <a:endParaRPr kumimoji="1" lang="ja-JP" altLang="en-US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Windows10</a:t>
                      </a:r>
                      <a:endParaRPr kumimoji="1" lang="ja-JP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Cortana</a:t>
                      </a:r>
                      <a:endParaRPr kumimoji="1" lang="ja-JP" altLang="en-US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Google</a:t>
                      </a:r>
                      <a:endParaRPr kumimoji="1" lang="ja-JP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 smtClean="0"/>
                        <a:t>OK,Google</a:t>
                      </a:r>
                      <a:endParaRPr kumimoji="1" lang="ja-JP" altLang="en-US" sz="32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03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0" y="1844824"/>
            <a:ext cx="9144000" cy="3539527"/>
          </a:xfrm>
        </p:spPr>
        <p:txBody>
          <a:bodyPr/>
          <a:lstStyle/>
          <a:p>
            <a:pPr marL="0" indent="0" algn="ctr">
              <a:buNone/>
            </a:pPr>
            <a:endParaRPr lang="en-US" altLang="ja-JP" sz="4400" dirty="0" smtClean="0"/>
          </a:p>
          <a:p>
            <a:pPr marL="0" indent="0" algn="ctr">
              <a:buNone/>
            </a:pPr>
            <a:r>
              <a:rPr kumimoji="1" lang="ja-JP" altLang="en-US" sz="8800" dirty="0" smtClean="0">
                <a:solidFill>
                  <a:schemeClr val="tx2"/>
                </a:solidFill>
              </a:rPr>
              <a:t>ジェスチャー</a:t>
            </a:r>
            <a:r>
              <a:rPr kumimoji="1" lang="ja-JP" altLang="en-US" sz="7200" dirty="0" smtClean="0">
                <a:solidFill>
                  <a:schemeClr val="tx2"/>
                </a:solidFill>
              </a:rPr>
              <a:t>認識</a:t>
            </a:r>
            <a:endParaRPr kumimoji="1" lang="en-US" altLang="ja-JP" sz="72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1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動作内容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39552" y="2769833"/>
            <a:ext cx="7690048" cy="35395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ja-JP" sz="3200" dirty="0" smtClean="0"/>
              <a:t>Leap Motion</a:t>
            </a:r>
            <a:r>
              <a:rPr lang="ja-JP" altLang="en-US" sz="3200" dirty="0" smtClean="0"/>
              <a:t>で手の形を認識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kumimoji="1" lang="ja-JP" altLang="en-US" sz="3200" dirty="0" smtClean="0"/>
              <a:t>事前に登録されたデータと認識した形が</a:t>
            </a:r>
            <a:endParaRPr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　一致</a:t>
            </a:r>
            <a:r>
              <a:rPr lang="ja-JP" altLang="en-US" sz="3200" dirty="0"/>
              <a:t>する</a:t>
            </a:r>
            <a:r>
              <a:rPr lang="ja-JP" altLang="en-US" sz="3200" dirty="0" smtClean="0"/>
              <a:t>か判定</a:t>
            </a:r>
            <a:endParaRPr lang="en-US" altLang="ja-JP" sz="3200" dirty="0"/>
          </a:p>
          <a:p>
            <a:pPr>
              <a:buFont typeface="Wingdings" panose="05000000000000000000" pitchFamily="2" charset="2"/>
              <a:buChar char="u"/>
            </a:pPr>
            <a:r>
              <a:rPr kumimoji="1" lang="ja-JP" altLang="en-US" sz="3200" dirty="0" smtClean="0"/>
              <a:t>一致したデータに対応する出力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出力データには数字や文字を使用</a:t>
            </a:r>
            <a:endParaRPr lang="en-US" altLang="ja-JP" sz="3200" dirty="0" smtClean="0"/>
          </a:p>
          <a:p>
            <a:pPr marL="0" indent="0">
              <a:buNone/>
            </a:pPr>
            <a:r>
              <a:rPr kumimoji="1" lang="ja-JP" altLang="en-US" sz="3200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312539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9600" dirty="0" smtClean="0">
                <a:solidFill>
                  <a:schemeClr val="tx2"/>
                </a:solidFill>
              </a:rPr>
              <a:t>手話について</a:t>
            </a:r>
            <a:endParaRPr kumimoji="1" lang="ja-JP" altLang="en-US" sz="9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63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078" y="1124744"/>
            <a:ext cx="4385189" cy="5130671"/>
          </a:xfr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2" y="941887"/>
            <a:ext cx="3096344" cy="53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0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手話と指文字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79512" y="1700808"/>
            <a:ext cx="8856984" cy="223224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 手話</a:t>
            </a:r>
            <a:r>
              <a:rPr lang="en-US" altLang="ja-JP" sz="3200" dirty="0" smtClean="0"/>
              <a:t>:</a:t>
            </a:r>
            <a:r>
              <a:rPr kumimoji="1" lang="ja-JP" altLang="en-US" sz="3200" dirty="0" smtClean="0"/>
              <a:t>一連の動きで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err="1" smtClean="0"/>
              <a:t>つの</a:t>
            </a:r>
            <a:r>
              <a:rPr kumimoji="1" lang="ja-JP" altLang="en-US" sz="3200" dirty="0" smtClean="0"/>
              <a:t>単語や言葉を表す</a:t>
            </a:r>
            <a:endParaRPr kumimoji="1" lang="en-US" altLang="ja-JP" sz="3200" dirty="0" smtClean="0"/>
          </a:p>
          <a:p>
            <a:pPr marL="0" indent="0">
              <a:buNone/>
            </a:pPr>
            <a:r>
              <a:rPr lang="ja-JP" altLang="en-US" sz="3200" dirty="0" smtClean="0"/>
              <a:t>　例「こんにちは」</a:t>
            </a:r>
            <a:endParaRPr lang="en-US" altLang="ja-JP" sz="3200" dirty="0" smtClean="0"/>
          </a:p>
          <a:p>
            <a:pPr marL="0" indent="0">
              <a:buNone/>
            </a:pPr>
            <a:r>
              <a:rPr kumimoji="1" lang="ja-JP" altLang="en-US" sz="3200" dirty="0"/>
              <a:t>　</a:t>
            </a:r>
            <a:r>
              <a:rPr kumimoji="1" lang="ja-JP" altLang="en-US" sz="3200" dirty="0" smtClean="0"/>
              <a:t>　　　　↓</a:t>
            </a:r>
            <a:endParaRPr kumimoji="1" lang="en-US" altLang="ja-JP" sz="3200" dirty="0" smtClean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ja-JP" altLang="en-US" sz="3200" dirty="0" smtClean="0"/>
              <a:t>「昼」＋「あいさつ」の</a:t>
            </a:r>
            <a:r>
              <a:rPr lang="en-US" altLang="ja-JP" sz="3200" dirty="0" smtClean="0"/>
              <a:t>2</a:t>
            </a:r>
            <a:r>
              <a:rPr lang="ja-JP" altLang="en-US" sz="3200" dirty="0" smtClean="0"/>
              <a:t>動作</a:t>
            </a:r>
            <a:endParaRPr lang="en-US" altLang="ja-JP" sz="3200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3933056"/>
            <a:ext cx="82089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ja-JP" sz="3200" dirty="0">
                <a:solidFill>
                  <a:schemeClr val="tx2"/>
                </a:solidFill>
              </a:rPr>
              <a:t> </a:t>
            </a:r>
            <a:r>
              <a:rPr lang="ja-JP" altLang="en-US" sz="3200" b="1" dirty="0" smtClean="0">
                <a:solidFill>
                  <a:srgbClr val="FFFF00"/>
                </a:solidFill>
              </a:rPr>
              <a:t>指</a:t>
            </a:r>
            <a:r>
              <a:rPr lang="ja-JP" altLang="en-US" sz="3200" b="1" dirty="0">
                <a:solidFill>
                  <a:srgbClr val="FFFF00"/>
                </a:solidFill>
              </a:rPr>
              <a:t>文字</a:t>
            </a:r>
            <a:r>
              <a:rPr lang="en-US" altLang="ja-JP" sz="3200" b="1" dirty="0">
                <a:solidFill>
                  <a:srgbClr val="FFFF00"/>
                </a:solidFill>
              </a:rPr>
              <a:t>:1</a:t>
            </a:r>
            <a:r>
              <a:rPr lang="ja-JP" altLang="en-US" sz="3200" b="1" dirty="0" err="1">
                <a:solidFill>
                  <a:srgbClr val="FFFF00"/>
                </a:solidFill>
              </a:rPr>
              <a:t>つの</a:t>
            </a:r>
            <a:r>
              <a:rPr lang="ja-JP" altLang="en-US" sz="3200" b="1" dirty="0">
                <a:solidFill>
                  <a:srgbClr val="FFFF00"/>
                </a:solidFill>
              </a:rPr>
              <a:t>形で</a:t>
            </a:r>
            <a:r>
              <a:rPr lang="en-US" altLang="ja-JP" sz="3200" b="1" dirty="0">
                <a:solidFill>
                  <a:srgbClr val="FFFF00"/>
                </a:solidFill>
              </a:rPr>
              <a:t>1</a:t>
            </a:r>
            <a:r>
              <a:rPr lang="ja-JP" altLang="en-US" sz="3200" b="1" dirty="0" err="1">
                <a:solidFill>
                  <a:srgbClr val="FFFF00"/>
                </a:solidFill>
              </a:rPr>
              <a:t>つの</a:t>
            </a:r>
            <a:r>
              <a:rPr lang="ja-JP" altLang="en-US" sz="3200" b="1" dirty="0">
                <a:solidFill>
                  <a:srgbClr val="FFFF00"/>
                </a:solidFill>
              </a:rPr>
              <a:t>文字を表す</a:t>
            </a:r>
            <a:endParaRPr lang="en-US" altLang="ja-JP" sz="3200" b="1" dirty="0">
              <a:solidFill>
                <a:srgbClr val="FFFF00"/>
              </a:solidFill>
            </a:endParaRPr>
          </a:p>
          <a:p>
            <a:r>
              <a:rPr lang="ja-JP" altLang="en-US" sz="3200" b="1" dirty="0">
                <a:solidFill>
                  <a:srgbClr val="FFFF00"/>
                </a:solidFill>
              </a:rPr>
              <a:t>　例「こんにちは」</a:t>
            </a:r>
            <a:endParaRPr lang="en-US" altLang="ja-JP" sz="3200" b="1" dirty="0">
              <a:solidFill>
                <a:srgbClr val="FFFF00"/>
              </a:solidFill>
            </a:endParaRPr>
          </a:p>
          <a:p>
            <a:r>
              <a:rPr lang="ja-JP" altLang="en-US" sz="3200" b="1" dirty="0">
                <a:solidFill>
                  <a:srgbClr val="FFFF00"/>
                </a:solidFill>
              </a:rPr>
              <a:t>　　　　　↓</a:t>
            </a:r>
            <a:endParaRPr lang="en-US" altLang="ja-JP" sz="3200" b="1" dirty="0">
              <a:solidFill>
                <a:srgbClr val="FFFF00"/>
              </a:solidFill>
            </a:endParaRPr>
          </a:p>
          <a:p>
            <a:r>
              <a:rPr lang="ja-JP" altLang="en-US" sz="3200" b="1" dirty="0">
                <a:solidFill>
                  <a:srgbClr val="FFFF00"/>
                </a:solidFill>
              </a:rPr>
              <a:t>　「こ・ん・に・ち・は」の</a:t>
            </a:r>
            <a:r>
              <a:rPr lang="en-US" altLang="ja-JP" sz="3200" b="1" dirty="0">
                <a:solidFill>
                  <a:srgbClr val="FFFF00"/>
                </a:solidFill>
              </a:rPr>
              <a:t>5</a:t>
            </a:r>
            <a:r>
              <a:rPr lang="ja-JP" altLang="en-US" sz="3200" b="1" dirty="0">
                <a:solidFill>
                  <a:srgbClr val="FFFF00"/>
                </a:solidFill>
              </a:rPr>
              <a:t>文字分</a:t>
            </a:r>
          </a:p>
          <a:p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9900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00023 L 0.10243 -0.22871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-1145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552" y="2852936"/>
            <a:ext cx="7315200" cy="1154097"/>
          </a:xfrm>
        </p:spPr>
        <p:txBody>
          <a:bodyPr>
            <a:noAutofit/>
          </a:bodyPr>
          <a:lstStyle/>
          <a:p>
            <a:r>
              <a:rPr kumimoji="1" lang="ja-JP" altLang="en-US" sz="4800" dirty="0" smtClean="0"/>
              <a:t>ステップ１　手の認識と表現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5302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140" y="3083597"/>
            <a:ext cx="6175860" cy="3769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ハンドモデル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772816"/>
            <a:ext cx="8568952" cy="353952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sz="3200" dirty="0"/>
              <a:t>Leap </a:t>
            </a:r>
            <a:r>
              <a:rPr lang="en-US" altLang="ja-JP" sz="3200" dirty="0" smtClean="0"/>
              <a:t>Motion</a:t>
            </a:r>
            <a:r>
              <a:rPr lang="ja-JP" altLang="en-US" sz="3200" dirty="0" smtClean="0"/>
              <a:t>で取得した手を</a:t>
            </a:r>
            <a:r>
              <a:rPr lang="en-US" altLang="ja-JP" sz="3200" dirty="0" smtClean="0"/>
              <a:t>Unity</a:t>
            </a:r>
            <a:r>
              <a:rPr lang="ja-JP" altLang="en-US" sz="3200" dirty="0" smtClean="0"/>
              <a:t>上で再現する</a:t>
            </a:r>
            <a:endParaRPr lang="en-US" altLang="ja-JP" sz="3200" dirty="0" smtClean="0"/>
          </a:p>
          <a:p>
            <a:pPr marL="45720" indent="0">
              <a:buNone/>
            </a:pPr>
            <a:endParaRPr lang="en-US" altLang="ja-JP" sz="3200" dirty="0" smtClean="0"/>
          </a:p>
          <a:p>
            <a:pPr marL="45720" indent="0">
              <a:buNone/>
            </a:pPr>
            <a:r>
              <a:rPr lang="ja-JP" altLang="en-US" sz="3200" dirty="0" smtClean="0"/>
              <a:t>ハンドモデル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200" dirty="0" smtClean="0"/>
              <a:t>各関節を球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200" dirty="0" smtClean="0"/>
              <a:t>関節間は円柱のオブジェクトで補間</a:t>
            </a:r>
            <a:endParaRPr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423300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315200" cy="1154097"/>
          </a:xfrm>
        </p:spPr>
        <p:txBody>
          <a:bodyPr/>
          <a:lstStyle/>
          <a:p>
            <a:r>
              <a:rPr lang="ja-JP" altLang="en-US" dirty="0" smtClean="0"/>
              <a:t>結果と問題点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412776"/>
            <a:ext cx="8568952" cy="54452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ja-JP" sz="3200" dirty="0" smtClean="0"/>
              <a:t>Unity</a:t>
            </a:r>
            <a:r>
              <a:rPr lang="ja-JP" altLang="en-US" sz="3200" dirty="0" smtClean="0"/>
              <a:t>上でハンドモデルを表現できた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200" dirty="0" smtClean="0"/>
              <a:t>各関節の座標情報を取得、視覚化できた</a:t>
            </a:r>
            <a:endParaRPr lang="en-US" altLang="ja-JP" sz="3200" dirty="0"/>
          </a:p>
          <a:p>
            <a:pPr>
              <a:lnSpc>
                <a:spcPts val="3840"/>
              </a:lnSpc>
              <a:buFont typeface="Wingdings" panose="05000000000000000000" pitchFamily="2" charset="2"/>
              <a:buChar char="l"/>
            </a:pPr>
            <a:endParaRPr lang="en-US" altLang="ja-JP" sz="3200" dirty="0"/>
          </a:p>
          <a:p>
            <a:pPr marL="45720" indent="0">
              <a:buNone/>
            </a:pPr>
            <a:r>
              <a:rPr lang="ja-JP" altLang="en-US" sz="3200" dirty="0" smtClean="0"/>
              <a:t>問題点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200" dirty="0" smtClean="0"/>
              <a:t>毎秒</a:t>
            </a:r>
            <a:r>
              <a:rPr lang="en-US" altLang="ja-JP" sz="3200" dirty="0" smtClean="0"/>
              <a:t>200</a:t>
            </a:r>
            <a:r>
              <a:rPr lang="ja-JP" altLang="en-US" sz="3200" dirty="0" smtClean="0"/>
              <a:t>回、全関節の座標を取得するためには負荷が大きい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200" dirty="0"/>
              <a:t>使用</a:t>
            </a:r>
            <a:r>
              <a:rPr lang="ja-JP" altLang="en-US" sz="3200" dirty="0" smtClean="0"/>
              <a:t>しないデータの増加による複雑化</a:t>
            </a:r>
            <a:endParaRPr lang="en-US" altLang="ja-JP" sz="3200" dirty="0"/>
          </a:p>
          <a:p>
            <a:pPr marL="45720" indent="0">
              <a:buNone/>
            </a:pPr>
            <a:r>
              <a:rPr lang="ja-JP" altLang="en-US" sz="3200" dirty="0" smtClean="0"/>
              <a:t>試験的に指先</a:t>
            </a:r>
            <a:r>
              <a:rPr lang="en-US" altLang="ja-JP" sz="3200" dirty="0" smtClean="0"/>
              <a:t>5</a:t>
            </a:r>
            <a:r>
              <a:rPr lang="ja-JP" altLang="en-US" sz="3200" dirty="0" smtClean="0"/>
              <a:t>点＋手の甲の計</a:t>
            </a:r>
            <a:r>
              <a:rPr lang="en-US" altLang="ja-JP" sz="3200" dirty="0" smtClean="0"/>
              <a:t>6</a:t>
            </a:r>
            <a:r>
              <a:rPr lang="ja-JP" altLang="en-US" sz="3200" dirty="0" smtClean="0"/>
              <a:t>点表示で研究を進める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l"/>
            </a:pPr>
            <a:endParaRPr kumimoji="1" lang="en-US" altLang="ja-JP" sz="3200" dirty="0"/>
          </a:p>
          <a:p>
            <a:pPr>
              <a:buFont typeface="Wingdings" panose="05000000000000000000" pitchFamily="2" charset="2"/>
              <a:buChar char="l"/>
            </a:pP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4413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71600" y="2924944"/>
            <a:ext cx="7315200" cy="1154097"/>
          </a:xfrm>
        </p:spPr>
        <p:txBody>
          <a:bodyPr>
            <a:normAutofit/>
          </a:bodyPr>
          <a:lstStyle/>
          <a:p>
            <a:r>
              <a:rPr kumimoji="1" lang="ja-JP" altLang="en-US" sz="4800" dirty="0" smtClean="0"/>
              <a:t>ステップ</a:t>
            </a:r>
            <a:r>
              <a:rPr kumimoji="1" lang="en-US" altLang="ja-JP" sz="4800" dirty="0" smtClean="0"/>
              <a:t>2</a:t>
            </a:r>
            <a:r>
              <a:rPr kumimoji="1" lang="ja-JP" altLang="en-US" sz="4800" dirty="0" smtClean="0"/>
              <a:t>　登録と判別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60171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315200" cy="1154097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座標情報の登録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1484784"/>
            <a:ext cx="7315200" cy="5760640"/>
          </a:xfrm>
        </p:spPr>
        <p:txBody>
          <a:bodyPr>
            <a:noAutofit/>
          </a:bodyPr>
          <a:lstStyle/>
          <a:p>
            <a:r>
              <a:rPr lang="en-US" altLang="ja-JP" sz="3200" dirty="0" smtClean="0"/>
              <a:t>hand</a:t>
            </a:r>
            <a:r>
              <a:rPr lang="ja-JP" altLang="ja-JP" sz="3200" dirty="0"/>
              <a:t>：手に関する</a:t>
            </a:r>
            <a:r>
              <a:rPr lang="ja-JP" altLang="ja-JP" sz="3200" dirty="0" smtClean="0"/>
              <a:t>情報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en-US" altLang="ja-JP" sz="3200" dirty="0" smtClean="0"/>
              <a:t>type</a:t>
            </a:r>
            <a:r>
              <a:rPr lang="ja-JP" altLang="ja-JP" sz="3200" dirty="0"/>
              <a:t>…手の左右</a:t>
            </a:r>
          </a:p>
          <a:p>
            <a:pPr marL="45720" lvl="0" indent="0">
              <a:buNone/>
            </a:pPr>
            <a:r>
              <a:rPr lang="en-US" altLang="ja-JP" sz="3200" dirty="0" smtClean="0"/>
              <a:t>	palmPosition</a:t>
            </a:r>
            <a:r>
              <a:rPr lang="ja-JP" altLang="ja-JP" sz="3200" dirty="0"/>
              <a:t>…手の中心位置</a:t>
            </a:r>
          </a:p>
          <a:p>
            <a:r>
              <a:rPr lang="en-US" altLang="ja-JP" sz="3200" dirty="0"/>
              <a:t>finger</a:t>
            </a:r>
            <a:r>
              <a:rPr lang="ja-JP" altLang="ja-JP" sz="3200" dirty="0"/>
              <a:t>：指に関する情報</a:t>
            </a:r>
          </a:p>
          <a:p>
            <a:pPr marL="45720" lvl="0" indent="0">
              <a:buNone/>
            </a:pPr>
            <a:r>
              <a:rPr lang="en-US" altLang="ja-JP" sz="3200" dirty="0" smtClean="0"/>
              <a:t>	type</a:t>
            </a:r>
            <a:r>
              <a:rPr lang="ja-JP" altLang="ja-JP" sz="3200" dirty="0"/>
              <a:t>…どの指か</a:t>
            </a:r>
          </a:p>
          <a:p>
            <a:pPr marL="45720" lvl="0" indent="0">
              <a:buNone/>
            </a:pPr>
            <a:r>
              <a:rPr lang="en-US" altLang="ja-JP" sz="3200" dirty="0" smtClean="0"/>
              <a:t>	tipPosition</a:t>
            </a:r>
            <a:r>
              <a:rPr lang="ja-JP" altLang="ja-JP" sz="3200" dirty="0" smtClean="0"/>
              <a:t>…</a:t>
            </a:r>
            <a:r>
              <a:rPr lang="ja-JP" altLang="ja-JP" sz="3200" dirty="0"/>
              <a:t>指先</a:t>
            </a:r>
          </a:p>
          <a:p>
            <a:pPr marL="45720" lvl="0" indent="0">
              <a:buNone/>
            </a:pPr>
            <a:r>
              <a:rPr lang="en-US" altLang="ja-JP" sz="3200" dirty="0" smtClean="0"/>
              <a:t>	dipPosition</a:t>
            </a:r>
            <a:r>
              <a:rPr lang="ja-JP" altLang="ja-JP" sz="3200" dirty="0"/>
              <a:t>…第一</a:t>
            </a:r>
            <a:r>
              <a:rPr lang="ja-JP" altLang="ja-JP" sz="3200" dirty="0" smtClean="0"/>
              <a:t>関節</a:t>
            </a:r>
            <a:endParaRPr lang="en-US" altLang="ja-JP" sz="3200" dirty="0"/>
          </a:p>
          <a:p>
            <a:pPr marL="45720" lvl="0" indent="0">
              <a:buNone/>
            </a:pPr>
            <a:r>
              <a:rPr lang="en-US" altLang="ja-JP" sz="3200" dirty="0" smtClean="0"/>
              <a:t>	pipPositioin</a:t>
            </a:r>
            <a:r>
              <a:rPr lang="ja-JP" altLang="ja-JP" sz="3200" dirty="0"/>
              <a:t>…第二関節</a:t>
            </a:r>
          </a:p>
          <a:p>
            <a:pPr marL="45720" lvl="0" indent="0">
              <a:buNone/>
            </a:pPr>
            <a:r>
              <a:rPr lang="en-US" altLang="ja-JP" sz="3200" dirty="0" smtClean="0"/>
              <a:t>	mcpPosition</a:t>
            </a:r>
            <a:r>
              <a:rPr lang="ja-JP" altLang="ja-JP" sz="3200" dirty="0"/>
              <a:t>…指の付け根</a:t>
            </a:r>
          </a:p>
          <a:p>
            <a:pPr marL="45720" indent="0">
              <a:buNone/>
            </a:pP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375031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1520" y="-243408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ジェスチャーの例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44724"/>
            <a:ext cx="7884368" cy="5913276"/>
          </a:xfrm>
        </p:spPr>
      </p:pic>
    </p:spTree>
    <p:extLst>
      <p:ext uri="{BB962C8B-B14F-4D97-AF65-F5344CB8AC3E}">
        <p14:creationId xmlns:p14="http://schemas.microsoft.com/office/powerpoint/2010/main" val="14713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9144000" cy="2090201"/>
          </a:xfrm>
        </p:spPr>
        <p:txBody>
          <a:bodyPr>
            <a:normAutofit/>
          </a:bodyPr>
          <a:lstStyle/>
          <a:p>
            <a:r>
              <a:rPr kumimoji="1" lang="ja-JP" altLang="en-US" sz="7200" dirty="0" smtClean="0"/>
              <a:t>座標情報の比較</a:t>
            </a:r>
            <a:endParaRPr kumimoji="1" lang="ja-JP" altLang="en-US" sz="72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99592" y="3148226"/>
            <a:ext cx="6984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 smtClean="0"/>
              <a:t>比較アルゴリズムを作成し、判定結果を出力する。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7542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27cis16\Downloads\0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1" r="16391" b="-742"/>
          <a:stretch/>
        </p:blipFill>
        <p:spPr bwMode="auto">
          <a:xfrm>
            <a:off x="14520" y="369781"/>
            <a:ext cx="3150610" cy="342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h27cis16\Downloads\02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7" r="13898" b="-743"/>
          <a:stretch/>
        </p:blipFill>
        <p:spPr bwMode="auto">
          <a:xfrm>
            <a:off x="3080053" y="344887"/>
            <a:ext cx="3119043" cy="342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h27cis16\Downloads\03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5" r="19456"/>
          <a:stretch/>
        </p:blipFill>
        <p:spPr bwMode="auto">
          <a:xfrm>
            <a:off x="6199096" y="344887"/>
            <a:ext cx="2913460" cy="33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h27cis16\Downloads\DSC_010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276" r="22844"/>
          <a:stretch/>
        </p:blipFill>
        <p:spPr bwMode="auto">
          <a:xfrm rot="10800000">
            <a:off x="-65002" y="3790157"/>
            <a:ext cx="2759001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h27cis16\Downloads\DSC_0106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14" r="23741"/>
          <a:stretch/>
        </p:blipFill>
        <p:spPr bwMode="auto">
          <a:xfrm>
            <a:off x="2667424" y="3790157"/>
            <a:ext cx="3090050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h27cis16\Downloads\DSC_0107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3" r="10595"/>
          <a:stretch/>
        </p:blipFill>
        <p:spPr bwMode="auto">
          <a:xfrm rot="10800000">
            <a:off x="5752488" y="3790157"/>
            <a:ext cx="3465239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05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315200" cy="938073"/>
          </a:xfrm>
        </p:spPr>
        <p:txBody>
          <a:bodyPr/>
          <a:lstStyle/>
          <a:p>
            <a:r>
              <a:rPr kumimoji="1" lang="ja-JP" altLang="en-US" dirty="0" smtClean="0"/>
              <a:t>比較実験の結果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196752"/>
            <a:ext cx="8172400" cy="3539527"/>
          </a:xfrm>
        </p:spPr>
        <p:txBody>
          <a:bodyPr>
            <a:noAutofit/>
          </a:bodyPr>
          <a:lstStyle/>
          <a:p>
            <a:r>
              <a:rPr kumimoji="1" lang="ja-JP" altLang="en-US" sz="3200" dirty="0" smtClean="0"/>
              <a:t>問題点</a:t>
            </a:r>
            <a:endParaRPr lang="en-US" altLang="ja-JP" sz="3200" dirty="0" smtClean="0"/>
          </a:p>
          <a:p>
            <a:pPr marL="45720" indent="0">
              <a:buNone/>
            </a:pPr>
            <a:r>
              <a:rPr kumimoji="1" lang="en-US" altLang="ja-JP" sz="3200" dirty="0"/>
              <a:t>	</a:t>
            </a:r>
            <a:r>
              <a:rPr kumimoji="1" lang="ja-JP" altLang="en-US" sz="3200" dirty="0" smtClean="0"/>
              <a:t>座標の完全一致では判定が厳しく不可</a:t>
            </a:r>
            <a:endParaRPr kumimoji="1" lang="en-US" altLang="ja-JP" sz="3200" dirty="0" smtClean="0"/>
          </a:p>
          <a:p>
            <a:r>
              <a:rPr lang="ja-JP" altLang="en-US" sz="3200" dirty="0" smtClean="0"/>
              <a:t>改善案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 smtClean="0"/>
              <a:t>完全一致で判別は困難であるため、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 smtClean="0"/>
              <a:t>座標に許容誤差を含める判定に変更</a:t>
            </a:r>
            <a:endParaRPr lang="en-US" altLang="ja-JP" sz="3200" dirty="0" smtClean="0"/>
          </a:p>
          <a:p>
            <a:r>
              <a:rPr kumimoji="1" lang="ja-JP" altLang="en-US" sz="3200" dirty="0" smtClean="0"/>
              <a:t>試行結果</a:t>
            </a:r>
            <a:endParaRPr kumimoji="1"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 smtClean="0"/>
              <a:t>許容誤差を含めると判別が可能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 smtClean="0"/>
              <a:t>	</a:t>
            </a:r>
            <a:r>
              <a:rPr lang="ja-JP" altLang="en-US" sz="3200" dirty="0" smtClean="0"/>
              <a:t>しかし、誤認識が多発した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4132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315200" cy="1154097"/>
          </a:xfrm>
        </p:spPr>
        <p:txBody>
          <a:bodyPr/>
          <a:lstStyle/>
          <a:p>
            <a:r>
              <a:rPr kumimoji="1" lang="ja-JP" altLang="en-US" dirty="0" smtClean="0"/>
              <a:t>今後の課題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601788"/>
            <a:ext cx="8064500" cy="52562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判別アルゴリズムの完成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/>
              <a:t>精度の向上</a:t>
            </a:r>
            <a:endParaRPr lang="en-US" altLang="ja-JP" sz="3200" dirty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/>
              <a:t>他のジェスチャー</a:t>
            </a:r>
            <a:r>
              <a:rPr lang="ja-JP" altLang="en-US" sz="3200" dirty="0" smtClean="0"/>
              <a:t>読み込み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処理負荷の軽減・高速化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 smtClean="0"/>
              <a:t>動作フレームの検討</a:t>
            </a:r>
            <a:endParaRPr lang="en-US" altLang="ja-JP" sz="3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ja-JP" altLang="en-US" sz="3200" dirty="0" smtClean="0"/>
              <a:t>操作性の向上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en-US" altLang="ja-JP" sz="3200" dirty="0" smtClean="0"/>
              <a:t>Leap Motion</a:t>
            </a:r>
            <a:r>
              <a:rPr lang="ja-JP" altLang="en-US" sz="3200" dirty="0" smtClean="0"/>
              <a:t>の認識範囲を視覚化</a:t>
            </a:r>
            <a:endParaRPr lang="en-US" altLang="ja-JP" sz="3200" dirty="0" smtClean="0"/>
          </a:p>
          <a:p>
            <a:pPr marL="45720" indent="0">
              <a:buNone/>
            </a:pPr>
            <a:r>
              <a:rPr lang="en-US" altLang="ja-JP" sz="3200" dirty="0"/>
              <a:t>	</a:t>
            </a:r>
            <a:r>
              <a:rPr lang="ja-JP" altLang="en-US" sz="3200" dirty="0" smtClean="0"/>
              <a:t>認識できる手の角度の検討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65971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今後の作業計画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715252"/>
              </p:ext>
            </p:extLst>
          </p:nvPr>
        </p:nvGraphicFramePr>
        <p:xfrm>
          <a:off x="539552" y="2996952"/>
          <a:ext cx="6767983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136"/>
                <a:gridCol w="5543847"/>
              </a:tblGrid>
              <a:tr h="741680">
                <a:tc>
                  <a:txBody>
                    <a:bodyPr/>
                    <a:lstStyle/>
                    <a:p>
                      <a:r>
                        <a:rPr kumimoji="1" lang="en-US" altLang="ja-JP" sz="3200" dirty="0" smtClean="0"/>
                        <a:t>12</a:t>
                      </a:r>
                      <a:r>
                        <a:rPr kumimoji="1" lang="ja-JP" altLang="en-US" sz="3200" dirty="0" smtClean="0"/>
                        <a:t>月</a:t>
                      </a:r>
                      <a:endParaRPr kumimoji="1" lang="ja-JP" altLang="en-US" sz="3200" dirty="0"/>
                    </a:p>
                    <a:p>
                      <a:r>
                        <a:rPr kumimoji="1" lang="en-US" altLang="ja-JP" sz="3200" dirty="0" smtClean="0"/>
                        <a:t>1</a:t>
                      </a:r>
                      <a:r>
                        <a:rPr kumimoji="1" lang="ja-JP" altLang="en-US" sz="3200" dirty="0" smtClean="0"/>
                        <a:t>月</a:t>
                      </a:r>
                      <a:endParaRPr kumimoji="1" lang="en-US" altLang="ja-JP" sz="3200" dirty="0" smtClean="0"/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3200" dirty="0" smtClean="0"/>
                        <a:t>アプリ開発</a:t>
                      </a:r>
                      <a:endParaRPr kumimoji="1" lang="en-US" altLang="ja-JP" sz="3200" dirty="0" smtClean="0"/>
                    </a:p>
                    <a:p>
                      <a:r>
                        <a:rPr kumimoji="1" lang="ja-JP" altLang="en-US" sz="3200" dirty="0" smtClean="0"/>
                        <a:t>アルゴリズムの作成</a:t>
                      </a:r>
                      <a:endParaRPr kumimoji="1" lang="en-US" altLang="ja-JP" sz="3200" dirty="0" smtClean="0"/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3200" dirty="0" smtClean="0"/>
                        <a:t>2</a:t>
                      </a:r>
                      <a:r>
                        <a:rPr kumimoji="1" lang="ja-JP" altLang="en-US" sz="3200" dirty="0" smtClean="0"/>
                        <a:t>月</a:t>
                      </a:r>
                      <a:endParaRPr kumimoji="1" lang="en-US" altLang="ja-JP" sz="3200" dirty="0" smtClean="0"/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3200" dirty="0" smtClean="0"/>
                        <a:t>発表資料作成</a:t>
                      </a:r>
                      <a:endParaRPr kumimoji="1" lang="ja-JP" altLang="en-US" sz="3200" dirty="0"/>
                    </a:p>
                  </a:txBody>
                  <a:tcPr marL="89605" marR="89605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0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42"/>
    </mc:Choice>
    <mc:Fallback xmlns="">
      <p:transition spd="slow" advTm="52942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55576" y="3068960"/>
            <a:ext cx="7978080" cy="1154097"/>
          </a:xfrm>
        </p:spPr>
        <p:txBody>
          <a:bodyPr>
            <a:noAutofit/>
          </a:bodyPr>
          <a:lstStyle/>
          <a:p>
            <a:r>
              <a:rPr lang="ja-JP" altLang="en-US" sz="4800" b="1" dirty="0" smtClean="0"/>
              <a:t>ご清聴ありがとうございました</a:t>
            </a:r>
            <a:endParaRPr kumimoji="1" lang="ja-JP" altLang="en-US" sz="48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629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パースペクティブ">
  <a:themeElements>
    <a:clrScheme name="パースペクティブ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クラシック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パースペクティブ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1868</TotalTime>
  <Words>399</Words>
  <Application>Microsoft Office PowerPoint</Application>
  <PresentationFormat>画面に合わせる (4:3)</PresentationFormat>
  <Paragraphs>122</Paragraphs>
  <Slides>27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28" baseType="lpstr">
      <vt:lpstr>パースペクティブ</vt:lpstr>
      <vt:lpstr>Leap Motionを用いた                 入力操作の検討</vt:lpstr>
      <vt:lpstr>はじめに</vt:lpstr>
      <vt:lpstr>目的</vt:lpstr>
      <vt:lpstr>PowerPoint プレゼンテーション</vt:lpstr>
      <vt:lpstr>PowerPoint プレゼンテーション</vt:lpstr>
      <vt:lpstr>作業計画</vt:lpstr>
      <vt:lpstr>開発環境</vt:lpstr>
      <vt:lpstr>PowerPoint プレゼンテーション</vt:lpstr>
      <vt:lpstr>PowerPoint プレゼンテーション</vt:lpstr>
      <vt:lpstr>音声認識とは</vt:lpstr>
      <vt:lpstr>PowerPoint プレゼンテーション</vt:lpstr>
      <vt:lpstr>動作内容</vt:lpstr>
      <vt:lpstr>PowerPoint プレゼンテーション</vt:lpstr>
      <vt:lpstr>PowerPoint プレゼンテーション</vt:lpstr>
      <vt:lpstr>手話と指文字</vt:lpstr>
      <vt:lpstr>ステップ１　手の認識と表現</vt:lpstr>
      <vt:lpstr>ハンドモデル</vt:lpstr>
      <vt:lpstr>結果と問題点</vt:lpstr>
      <vt:lpstr>ステップ2　登録と判別</vt:lpstr>
      <vt:lpstr>座標情報の登録</vt:lpstr>
      <vt:lpstr>ジェスチャーの例</vt:lpstr>
      <vt:lpstr>座標情報の比較</vt:lpstr>
      <vt:lpstr>PowerPoint プレゼンテーション</vt:lpstr>
      <vt:lpstr>比較実験の結果</vt:lpstr>
      <vt:lpstr>今後の課題</vt:lpstr>
      <vt:lpstr>今後の作業計画</vt:lpstr>
      <vt:lpstr>ご清聴ありがとうございました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Leap Motion</dc:title>
  <dc:creator>h27cis16</dc:creator>
  <cp:lastModifiedBy>h27cis16</cp:lastModifiedBy>
  <cp:revision>100</cp:revision>
  <dcterms:created xsi:type="dcterms:W3CDTF">2016-08-26T00:38:58Z</dcterms:created>
  <dcterms:modified xsi:type="dcterms:W3CDTF">2016-12-22T00:13:44Z</dcterms:modified>
</cp:coreProperties>
</file>