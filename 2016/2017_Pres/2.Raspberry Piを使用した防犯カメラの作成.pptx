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62" r:id="rId4"/>
    <p:sldId id="265" r:id="rId5"/>
    <p:sldId id="266" r:id="rId6"/>
    <p:sldId id="267" r:id="rId7"/>
    <p:sldId id="285" r:id="rId8"/>
    <p:sldId id="272" r:id="rId9"/>
    <p:sldId id="269" r:id="rId10"/>
    <p:sldId id="273" r:id="rId11"/>
    <p:sldId id="284" r:id="rId12"/>
    <p:sldId id="258" r:id="rId13"/>
    <p:sldId id="259" r:id="rId14"/>
    <p:sldId id="261" r:id="rId15"/>
    <p:sldId id="279" r:id="rId16"/>
    <p:sldId id="280" r:id="rId17"/>
    <p:sldId id="275" r:id="rId18"/>
    <p:sldId id="281" r:id="rId19"/>
    <p:sldId id="282" r:id="rId20"/>
    <p:sldId id="283" r:id="rId21"/>
    <p:sldId id="277" r:id="rId22"/>
    <p:sldId id="278" r:id="rId23"/>
    <p:sldId id="263" r:id="rId24"/>
    <p:sldId id="264" r:id="rId25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700" autoAdjust="0"/>
  </p:normalViewPr>
  <p:slideViewPr>
    <p:cSldViewPr>
      <p:cViewPr>
        <p:scale>
          <a:sx n="81" d="100"/>
          <a:sy n="81" d="100"/>
        </p:scale>
        <p:origin x="72" y="-6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9D6C1-6F5E-41B1-9759-37472CD017C7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B64E0-BCBA-49FF-89D9-FEC8C09EC9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6974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DD825-10B2-4EEB-9BEF-934E097E362F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4504F-305C-4346-B4CB-1EFC291DAF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987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4504F-305C-4346-B4CB-1EFC291DAFD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6260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4504F-305C-4346-B4CB-1EFC291DAFD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1215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1C0E-6745-481F-AF13-45103A60863D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5A406A-DFD0-4DEE-B342-EAB2E746568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1C0E-6745-481F-AF13-45103A60863D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406A-DFD0-4DEE-B342-EAB2E74656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1C0E-6745-481F-AF13-45103A60863D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406A-DFD0-4DEE-B342-EAB2E74656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1C0E-6745-481F-AF13-45103A60863D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406A-DFD0-4DEE-B342-EAB2E746568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1C0E-6745-481F-AF13-45103A60863D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406A-DFD0-4DEE-B342-EAB2E746568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1C0E-6745-481F-AF13-45103A60863D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406A-DFD0-4DEE-B342-EAB2E74656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1C0E-6745-481F-AF13-45103A60863D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406A-DFD0-4DEE-B342-EAB2E74656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1C0E-6745-481F-AF13-45103A60863D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406A-DFD0-4DEE-B342-EAB2E74656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1C0E-6745-481F-AF13-45103A60863D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406A-DFD0-4DEE-B342-EAB2E74656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1C0E-6745-481F-AF13-45103A60863D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406A-DFD0-4DEE-B342-EAB2E74656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1C0E-6745-481F-AF13-45103A60863D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406A-DFD0-4DEE-B342-EAB2E74656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68E81C0E-6745-481F-AF13-45103A60863D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A5A406A-DFD0-4DEE-B342-EAB2E746568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kumimoji="1"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7504" y="620688"/>
            <a:ext cx="8280920" cy="1944216"/>
          </a:xfrm>
        </p:spPr>
        <p:txBody>
          <a:bodyPr>
            <a:normAutofit/>
          </a:bodyPr>
          <a:lstStyle/>
          <a:p>
            <a:r>
              <a:rPr lang="en-US" altLang="ja-JP" b="1" dirty="0" smtClean="0"/>
              <a:t>Raspberry </a:t>
            </a:r>
            <a:r>
              <a:rPr lang="en-US" altLang="ja-JP" b="1" dirty="0"/>
              <a:t>Pi</a:t>
            </a:r>
            <a:r>
              <a:rPr lang="ja-JP" altLang="ja-JP" b="1" dirty="0"/>
              <a:t>を使用</a:t>
            </a:r>
            <a:r>
              <a:rPr lang="ja-JP" altLang="ja-JP" b="1" dirty="0" smtClean="0"/>
              <a:t>した</a:t>
            </a:r>
            <a:r>
              <a:rPr lang="en-US" altLang="ja-JP" b="1" dirty="0" smtClean="0"/>
              <a:t/>
            </a:r>
            <a:br>
              <a:rPr lang="en-US" altLang="ja-JP" b="1" dirty="0" smtClean="0"/>
            </a:br>
            <a:r>
              <a:rPr lang="ja-JP" altLang="ja-JP" b="1" dirty="0" smtClean="0"/>
              <a:t>防犯</a:t>
            </a:r>
            <a:r>
              <a:rPr lang="ja-JP" altLang="ja-JP" b="1" dirty="0"/>
              <a:t>カメラの</a:t>
            </a:r>
            <a:r>
              <a:rPr lang="ja-JP" altLang="ja-JP" b="1" dirty="0" smtClean="0"/>
              <a:t>作成</a:t>
            </a:r>
            <a:endParaRPr kumimoji="1" lang="ja-JP" altLang="en-US" b="1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187624" y="4941168"/>
            <a:ext cx="6749792" cy="1224136"/>
          </a:xfrm>
        </p:spPr>
        <p:txBody>
          <a:bodyPr>
            <a:noAutofit/>
          </a:bodyPr>
          <a:lstStyle/>
          <a:p>
            <a:pPr algn="r"/>
            <a:r>
              <a:rPr kumimoji="1" lang="ja-JP" altLang="en-US" sz="2800" dirty="0" smtClean="0">
                <a:solidFill>
                  <a:schemeClr val="tx2">
                    <a:lumMod val="75000"/>
                  </a:schemeClr>
                </a:solidFill>
              </a:rPr>
              <a:t>情報技術科</a:t>
            </a:r>
            <a:r>
              <a:rPr kumimoji="1" lang="en-US" altLang="ja-JP" sz="2800" dirty="0" smtClean="0">
                <a:solidFill>
                  <a:schemeClr val="tx2">
                    <a:lumMod val="75000"/>
                  </a:schemeClr>
                </a:solidFill>
              </a:rPr>
              <a:t>2</a:t>
            </a:r>
            <a:r>
              <a:rPr kumimoji="1" lang="ja-JP" altLang="en-US" sz="2800" dirty="0" smtClean="0">
                <a:solidFill>
                  <a:schemeClr val="tx2">
                    <a:lumMod val="75000"/>
                  </a:schemeClr>
                </a:solidFill>
              </a:rPr>
              <a:t>年</a:t>
            </a:r>
            <a:r>
              <a:rPr lang="en-US" altLang="ja-JP" sz="28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US" altLang="ja-JP" sz="2800" dirty="0" smtClean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kumimoji="1" lang="ja-JP" altLang="en-US" sz="2800" smtClean="0">
                <a:solidFill>
                  <a:schemeClr val="tx2">
                    <a:lumMod val="75000"/>
                  </a:schemeClr>
                </a:solidFill>
              </a:rPr>
              <a:t>昆春樹 </a:t>
            </a:r>
            <a:r>
              <a:rPr kumimoji="1" lang="en-US" altLang="ja-JP" sz="280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ja-JP" altLang="en-US" sz="2800" dirty="0" smtClean="0">
                <a:solidFill>
                  <a:schemeClr val="tx2">
                    <a:lumMod val="75000"/>
                  </a:schemeClr>
                </a:solidFill>
              </a:rPr>
              <a:t>菊池健太</a:t>
            </a:r>
            <a:r>
              <a:rPr lang="en-US" altLang="ja-JP" sz="2800" dirty="0" smtClean="0">
                <a:solidFill>
                  <a:schemeClr val="tx2">
                    <a:lumMod val="75000"/>
                  </a:schemeClr>
                </a:solidFill>
              </a:rPr>
              <a:t>	</a:t>
            </a:r>
          </a:p>
          <a:p>
            <a:pPr algn="r"/>
            <a:r>
              <a:rPr kumimoji="1" lang="ja-JP" altLang="en-US" sz="2800" dirty="0" smtClean="0">
                <a:solidFill>
                  <a:schemeClr val="tx2">
                    <a:lumMod val="75000"/>
                  </a:schemeClr>
                </a:solidFill>
              </a:rPr>
              <a:t>担当教員　飯坂ちひろ</a:t>
            </a:r>
            <a:endParaRPr kumimoji="1" lang="ja-JP" altLang="en-US" sz="28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52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84"/>
    </mc:Choice>
    <mc:Fallback xmlns="">
      <p:transition spd="slow" advTm="14184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7091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3600" b="1" dirty="0" smtClean="0"/>
              <a:t>組み込み機器</a:t>
            </a:r>
            <a:endParaRPr kumimoji="1" lang="en-US" altLang="ja-JP" sz="3600" b="1" dirty="0" smtClean="0"/>
          </a:p>
          <a:p>
            <a:pPr>
              <a:lnSpc>
                <a:spcPct val="150000"/>
              </a:lnSpc>
            </a:pPr>
            <a:r>
              <a:rPr kumimoji="1" lang="en-US" altLang="ja-JP" sz="3600" b="1" dirty="0" smtClean="0"/>
              <a:t>Raspberry Pi</a:t>
            </a:r>
          </a:p>
          <a:p>
            <a:pPr>
              <a:lnSpc>
                <a:spcPct val="150000"/>
              </a:lnSpc>
            </a:pPr>
            <a:r>
              <a:rPr lang="ja-JP" altLang="en-US" sz="3600" b="1" dirty="0" smtClean="0"/>
              <a:t>カメラモジュール</a:t>
            </a:r>
            <a:endParaRPr lang="en-US" altLang="ja-JP" sz="3600" b="1" dirty="0"/>
          </a:p>
          <a:p>
            <a:pPr>
              <a:lnSpc>
                <a:spcPct val="150000"/>
              </a:lnSpc>
            </a:pPr>
            <a:r>
              <a:rPr lang="ja-JP" altLang="en-US" sz="3600" b="1" dirty="0" smtClean="0"/>
              <a:t>防犯カメラシステムの開発</a:t>
            </a:r>
            <a:endParaRPr lang="en-US" altLang="ja-JP" sz="3600" b="1" dirty="0" smtClean="0"/>
          </a:p>
        </p:txBody>
      </p:sp>
      <p:sp>
        <p:nvSpPr>
          <p:cNvPr id="8" name="タイトル 7"/>
          <p:cNvSpPr>
            <a:spLocks noGrp="1"/>
          </p:cNvSpPr>
          <p:nvPr>
            <p:ph type="title"/>
          </p:nvPr>
        </p:nvSpPr>
        <p:spPr>
          <a:xfrm>
            <a:off x="827584" y="548680"/>
            <a:ext cx="7315200" cy="722049"/>
          </a:xfrm>
        </p:spPr>
        <p:txBody>
          <a:bodyPr/>
          <a:lstStyle/>
          <a:p>
            <a:r>
              <a:rPr kumimoji="1" lang="ja-JP" altLang="en-US" b="1" dirty="0" smtClean="0"/>
              <a:t>はじめに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369660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34"/>
    </mc:Choice>
    <mc:Fallback xmlns="">
      <p:transition spd="slow" advTm="16934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9592" y="476672"/>
            <a:ext cx="7315200" cy="755285"/>
          </a:xfrm>
        </p:spPr>
        <p:txBody>
          <a:bodyPr/>
          <a:lstStyle/>
          <a:p>
            <a:r>
              <a:rPr kumimoji="1" lang="ja-JP" altLang="en-US" b="1" dirty="0" smtClean="0"/>
              <a:t>目的</a:t>
            </a:r>
            <a:endParaRPr kumimoji="1" lang="ja-JP" altLang="en-US" b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99592" y="1700808"/>
            <a:ext cx="7315200" cy="3539527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ja-JP" altLang="en-US" sz="3600" b="1" dirty="0"/>
              <a:t>組み込み機器の</a:t>
            </a:r>
            <a:r>
              <a:rPr lang="ja-JP" altLang="en-US" sz="3600" b="1" dirty="0" smtClean="0"/>
              <a:t>作成</a:t>
            </a:r>
            <a:endParaRPr lang="en-US" altLang="ja-JP" sz="3600" b="1" dirty="0"/>
          </a:p>
          <a:p>
            <a:pPr>
              <a:lnSpc>
                <a:spcPct val="200000"/>
              </a:lnSpc>
            </a:pPr>
            <a:r>
              <a:rPr lang="ja-JP" altLang="en-US" sz="3600" b="1" dirty="0"/>
              <a:t>プログラミングの</a:t>
            </a:r>
            <a:r>
              <a:rPr lang="ja-JP" altLang="en-US" sz="3600" b="1" dirty="0" smtClean="0"/>
              <a:t>知識</a:t>
            </a:r>
            <a:endParaRPr lang="en-US" altLang="ja-JP" sz="3600" b="1" dirty="0"/>
          </a:p>
          <a:p>
            <a:pPr>
              <a:lnSpc>
                <a:spcPct val="200000"/>
              </a:lnSpc>
            </a:pPr>
            <a:r>
              <a:rPr lang="en-US" altLang="ja-JP" sz="3600" b="1" dirty="0" smtClean="0"/>
              <a:t>Raspberry Pi</a:t>
            </a:r>
            <a:r>
              <a:rPr lang="ja-JP" altLang="en-US" sz="3600" b="1" dirty="0" smtClean="0"/>
              <a:t>の仕組み</a:t>
            </a:r>
            <a:r>
              <a:rPr lang="ja-JP" altLang="en-US" sz="3600" b="1" dirty="0"/>
              <a:t>の</a:t>
            </a:r>
            <a:r>
              <a:rPr lang="ja-JP" altLang="en-US" sz="3600" b="1" dirty="0" smtClean="0"/>
              <a:t>理解</a:t>
            </a:r>
            <a:endParaRPr lang="en-US" altLang="ja-JP" sz="3600" b="1" dirty="0"/>
          </a:p>
        </p:txBody>
      </p:sp>
    </p:spTree>
    <p:extLst>
      <p:ext uri="{BB962C8B-B14F-4D97-AF65-F5344CB8AC3E}">
        <p14:creationId xmlns:p14="http://schemas.microsoft.com/office/powerpoint/2010/main" val="201903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09"/>
    </mc:Choice>
    <mc:Fallback xmlns="">
      <p:transition spd="slow" advTm="10509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11560" y="692696"/>
            <a:ext cx="7315200" cy="650041"/>
          </a:xfrm>
        </p:spPr>
        <p:txBody>
          <a:bodyPr>
            <a:noAutofit/>
          </a:bodyPr>
          <a:lstStyle/>
          <a:p>
            <a:r>
              <a:rPr kumimoji="1" lang="ja-JP" altLang="en-US" b="1" dirty="0" smtClean="0"/>
              <a:t>使用機器・開発言語一覧</a:t>
            </a:r>
            <a:endParaRPr kumimoji="1" lang="ja-JP" altLang="en-US" b="1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"/>
          </p:nvPr>
        </p:nvSpPr>
        <p:spPr>
          <a:xfrm>
            <a:off x="611560" y="2132856"/>
            <a:ext cx="7618040" cy="3539527"/>
          </a:xfrm>
        </p:spPr>
        <p:txBody>
          <a:bodyPr numCol="2"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3600" b="1" dirty="0" smtClean="0">
                <a:latin typeface="+mn-ea"/>
              </a:rPr>
              <a:t>Raspberry Pi</a:t>
            </a:r>
          </a:p>
          <a:p>
            <a:pPr>
              <a:lnSpc>
                <a:spcPct val="150000"/>
              </a:lnSpc>
            </a:pPr>
            <a:r>
              <a:rPr lang="ja-JP" altLang="en-US" sz="3600" b="1" dirty="0" smtClean="0">
                <a:latin typeface="+mn-ea"/>
              </a:rPr>
              <a:t>カメラモジュール</a:t>
            </a:r>
            <a:endParaRPr lang="en-US" altLang="ja-JP" sz="3600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en-US" altLang="ja-JP" sz="3600" b="1" dirty="0" err="1" smtClean="0">
                <a:latin typeface="+mn-ea"/>
              </a:rPr>
              <a:t>Raspbian</a:t>
            </a:r>
            <a:endParaRPr lang="en-US" altLang="ja-JP" sz="36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ja-JP" sz="3600" b="1" dirty="0" smtClean="0">
                <a:latin typeface="+mn-ea"/>
              </a:rPr>
              <a:t>USB</a:t>
            </a:r>
            <a:r>
              <a:rPr lang="ja-JP" altLang="en-US" sz="3600" b="1" dirty="0" smtClean="0">
                <a:latin typeface="+mn-ea"/>
              </a:rPr>
              <a:t>無線アダプタ</a:t>
            </a:r>
            <a:endParaRPr lang="en-US" altLang="ja-JP" sz="3600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ja-JP" sz="3600" b="1" dirty="0" err="1" smtClean="0">
                <a:latin typeface="+mn-ea"/>
              </a:rPr>
              <a:t>Opencv</a:t>
            </a:r>
            <a:endParaRPr lang="en-US" altLang="ja-JP" sz="3600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en-US" altLang="ja-JP" sz="3600" b="1" dirty="0" smtClean="0">
                <a:latin typeface="+mn-ea"/>
              </a:rPr>
              <a:t>Python</a:t>
            </a:r>
            <a:endParaRPr kumimoji="1" lang="ja-JP" altLang="en-US" sz="3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1002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25"/>
    </mc:Choice>
    <mc:Fallback xmlns="">
      <p:transition spd="slow" advTm="11325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71619" y="548680"/>
            <a:ext cx="7315200" cy="650041"/>
          </a:xfrm>
        </p:spPr>
        <p:txBody>
          <a:bodyPr>
            <a:noAutofit/>
          </a:bodyPr>
          <a:lstStyle/>
          <a:p>
            <a:r>
              <a:rPr kumimoji="1" lang="en-US" altLang="ja-JP" b="1" dirty="0" smtClean="0">
                <a:latin typeface="+mj-ea"/>
              </a:rPr>
              <a:t>Raspberry Pi</a:t>
            </a:r>
            <a:endParaRPr kumimoji="1" lang="ja-JP" altLang="en-US" b="1" dirty="0">
              <a:latin typeface="+mj-ea"/>
            </a:endParaRPr>
          </a:p>
        </p:txBody>
      </p:sp>
      <p:pic>
        <p:nvPicPr>
          <p:cNvPr id="4" name="コンテンツ プレースホルダー 3"/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772816"/>
            <a:ext cx="4885637" cy="3257091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871619" y="5229200"/>
            <a:ext cx="54681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 smtClean="0">
                <a:latin typeface="+mj-ea"/>
                <a:ea typeface="+mj-ea"/>
              </a:rPr>
              <a:t>シングルボードコンピュータ</a:t>
            </a:r>
            <a:endParaRPr kumimoji="1" lang="en-US" altLang="ja-JP" sz="3600" b="1" dirty="0" smtClean="0">
              <a:latin typeface="+mj-ea"/>
              <a:ea typeface="+mj-ea"/>
            </a:endParaRPr>
          </a:p>
          <a:p>
            <a:r>
              <a:rPr lang="ja-JP" altLang="en-US" sz="3600" b="1" dirty="0" smtClean="0">
                <a:latin typeface="+mj-ea"/>
                <a:ea typeface="+mj-ea"/>
              </a:rPr>
              <a:t>教育の促進が目的</a:t>
            </a:r>
            <a:endParaRPr kumimoji="1" lang="ja-JP" altLang="en-US" sz="3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7965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83"/>
    </mc:Choice>
    <mc:Fallback xmlns="">
      <p:transition spd="slow" advTm="21483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80972" y="548680"/>
            <a:ext cx="7315200" cy="602644"/>
          </a:xfrm>
        </p:spPr>
        <p:txBody>
          <a:bodyPr>
            <a:noAutofit/>
          </a:bodyPr>
          <a:lstStyle/>
          <a:p>
            <a:r>
              <a:rPr kumimoji="1" lang="ja-JP" altLang="en-US" b="1" dirty="0" smtClean="0"/>
              <a:t>カメラモジュール</a:t>
            </a:r>
            <a:endParaRPr kumimoji="1" lang="ja-JP" altLang="en-US" b="1" dirty="0"/>
          </a:p>
        </p:txBody>
      </p:sp>
      <p:pic>
        <p:nvPicPr>
          <p:cNvPr id="4" name="コンテンツ プレースホルダー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838047"/>
            <a:ext cx="4680520" cy="3535169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906124" y="5373216"/>
            <a:ext cx="46971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b="1" dirty="0" smtClean="0">
                <a:latin typeface="+mj-ea"/>
                <a:ea typeface="+mj-ea"/>
              </a:rPr>
              <a:t>Raspberry</a:t>
            </a:r>
            <a:r>
              <a:rPr lang="ja-JP" altLang="en-US" sz="3600" b="1" dirty="0">
                <a:latin typeface="+mj-ea"/>
                <a:ea typeface="+mj-ea"/>
              </a:rPr>
              <a:t> </a:t>
            </a:r>
            <a:r>
              <a:rPr lang="en-US" altLang="ja-JP" sz="3600" b="1" dirty="0" smtClean="0">
                <a:latin typeface="+mj-ea"/>
                <a:ea typeface="+mj-ea"/>
              </a:rPr>
              <a:t>Pi</a:t>
            </a:r>
            <a:r>
              <a:rPr lang="ja-JP" altLang="en-US" sz="3600" b="1" dirty="0" smtClean="0">
                <a:latin typeface="+mj-ea"/>
                <a:ea typeface="+mj-ea"/>
              </a:rPr>
              <a:t>専用カメラ</a:t>
            </a:r>
            <a:endParaRPr kumimoji="1" lang="ja-JP" altLang="en-US" sz="3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7945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24"/>
    </mc:Choice>
    <mc:Fallback xmlns="">
      <p:transition spd="slow" advTm="5124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80972" y="548680"/>
            <a:ext cx="7315200" cy="602644"/>
          </a:xfrm>
        </p:spPr>
        <p:txBody>
          <a:bodyPr>
            <a:noAutofit/>
          </a:bodyPr>
          <a:lstStyle/>
          <a:p>
            <a:r>
              <a:rPr kumimoji="1" lang="ja-JP" altLang="en-US" b="1" dirty="0" smtClean="0"/>
              <a:t>赤外線カメラモジュール</a:t>
            </a:r>
            <a:endParaRPr kumimoji="1" lang="ja-JP" altLang="en-US" b="1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06124" y="5373216"/>
            <a:ext cx="79143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b="1" dirty="0"/>
              <a:t>Raspberry Pi </a:t>
            </a:r>
            <a:endParaRPr lang="en-US" altLang="ja-JP" sz="3600" b="1" dirty="0" smtClean="0"/>
          </a:p>
          <a:p>
            <a:r>
              <a:rPr lang="ja-JP" altLang="en-US" sz="3600" b="1" dirty="0" smtClean="0"/>
              <a:t>高精細</a:t>
            </a:r>
            <a:r>
              <a:rPr lang="en-US" altLang="ja-JP" sz="3600" b="1" dirty="0"/>
              <a:t>(HD) Pi </a:t>
            </a:r>
            <a:r>
              <a:rPr lang="en-US" altLang="ja-JP" sz="3600" b="1" dirty="0" err="1"/>
              <a:t>NoIR</a:t>
            </a:r>
            <a:r>
              <a:rPr lang="ja-JP" altLang="en-US" sz="3600" b="1" dirty="0"/>
              <a:t>カメラボード</a:t>
            </a:r>
          </a:p>
          <a:p>
            <a:endParaRPr kumimoji="1" lang="ja-JP" altLang="en-US" sz="3600" b="1" dirty="0">
              <a:latin typeface="+mj-ea"/>
              <a:ea typeface="+mj-ea"/>
            </a:endParaRPr>
          </a:p>
        </p:txBody>
      </p:sp>
      <p:pic>
        <p:nvPicPr>
          <p:cNvPr id="6" name="コンテンツ プレースホルダー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3" y="1590935"/>
            <a:ext cx="4018382" cy="3638265"/>
          </a:xfrm>
        </p:spPr>
      </p:pic>
    </p:spTree>
    <p:extLst>
      <p:ext uri="{BB962C8B-B14F-4D97-AF65-F5344CB8AC3E}">
        <p14:creationId xmlns:p14="http://schemas.microsoft.com/office/powerpoint/2010/main" val="4199011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24"/>
    </mc:Choice>
    <mc:Fallback xmlns="">
      <p:transition spd="slow" advTm="5124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80972" y="548680"/>
            <a:ext cx="7315200" cy="602644"/>
          </a:xfrm>
        </p:spPr>
        <p:txBody>
          <a:bodyPr>
            <a:noAutofit/>
          </a:bodyPr>
          <a:lstStyle/>
          <a:p>
            <a:r>
              <a:rPr kumimoji="1" lang="en-US" altLang="ja-JP" b="1" dirty="0" smtClean="0"/>
              <a:t>USB</a:t>
            </a:r>
            <a:r>
              <a:rPr kumimoji="1" lang="ja-JP" altLang="en-US" b="1" dirty="0" smtClean="0"/>
              <a:t>無線アダプタ</a:t>
            </a:r>
            <a:endParaRPr kumimoji="1" lang="ja-JP" altLang="en-US" b="1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39552" y="4773051"/>
            <a:ext cx="80393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b="1" dirty="0" smtClean="0">
                <a:latin typeface="+mj-ea"/>
                <a:ea typeface="+mj-ea"/>
              </a:rPr>
              <a:t>Raspberry Pi</a:t>
            </a:r>
            <a:r>
              <a:rPr kumimoji="1" lang="ja-JP" altLang="en-US" sz="3600" b="1" dirty="0" smtClean="0">
                <a:latin typeface="+mj-ea"/>
                <a:ea typeface="+mj-ea"/>
              </a:rPr>
              <a:t>は無線</a:t>
            </a:r>
            <a:r>
              <a:rPr kumimoji="1" lang="en-US" altLang="ja-JP" sz="3600" b="1" dirty="0" smtClean="0">
                <a:latin typeface="+mj-ea"/>
                <a:ea typeface="+mj-ea"/>
              </a:rPr>
              <a:t>LAN</a:t>
            </a:r>
            <a:r>
              <a:rPr kumimoji="1" lang="ja-JP" altLang="en-US" sz="3600" b="1" dirty="0" smtClean="0">
                <a:latin typeface="+mj-ea"/>
                <a:ea typeface="+mj-ea"/>
              </a:rPr>
              <a:t>機能がないため</a:t>
            </a:r>
            <a:endParaRPr kumimoji="1" lang="en-US" altLang="ja-JP" sz="3600" b="1" dirty="0" smtClean="0">
              <a:latin typeface="+mj-ea"/>
              <a:ea typeface="+mj-ea"/>
            </a:endParaRPr>
          </a:p>
          <a:p>
            <a:r>
              <a:rPr lang="en-US" altLang="ja-JP" sz="3600" b="1" dirty="0" smtClean="0">
                <a:latin typeface="+mj-ea"/>
                <a:ea typeface="+mj-ea"/>
              </a:rPr>
              <a:t>USB</a:t>
            </a:r>
            <a:r>
              <a:rPr lang="ja-JP" altLang="en-US" sz="3600" b="1" dirty="0" smtClean="0">
                <a:latin typeface="+mj-ea"/>
                <a:ea typeface="+mj-ea"/>
              </a:rPr>
              <a:t>無線アダプタを使用する</a:t>
            </a:r>
            <a:endParaRPr kumimoji="1" lang="ja-JP" altLang="en-US" sz="3600" b="1" dirty="0">
              <a:latin typeface="+mj-ea"/>
              <a:ea typeface="+mj-ea"/>
            </a:endParaRPr>
          </a:p>
        </p:txBody>
      </p:sp>
      <p:pic>
        <p:nvPicPr>
          <p:cNvPr id="6" name="図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1556792"/>
            <a:ext cx="2544291" cy="254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68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934"/>
    </mc:Choice>
    <mc:Fallback xmlns="">
      <p:transition spd="slow" advTm="26934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9592" y="476672"/>
            <a:ext cx="7315200" cy="722049"/>
          </a:xfrm>
        </p:spPr>
        <p:txBody>
          <a:bodyPr/>
          <a:lstStyle/>
          <a:p>
            <a:r>
              <a:rPr lang="en-US" altLang="ja-JP" b="1" dirty="0" err="1" smtClean="0"/>
              <a:t>Raspbian</a:t>
            </a:r>
            <a:endParaRPr kumimoji="1" lang="ja-JP" altLang="en-US" b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39552" y="5983372"/>
            <a:ext cx="7675240" cy="576064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kumimoji="1" lang="en-US" altLang="ja-JP" sz="3600" b="1" dirty="0" smtClean="0"/>
              <a:t>Raspberry Pi</a:t>
            </a:r>
            <a:r>
              <a:rPr kumimoji="1" lang="ja-JP" altLang="en-US" sz="3600" b="1" dirty="0" smtClean="0"/>
              <a:t>専用のコンピュータ</a:t>
            </a:r>
            <a:r>
              <a:rPr kumimoji="1" lang="en-US" altLang="ja-JP" sz="3600" b="1" dirty="0" smtClean="0"/>
              <a:t>OS</a:t>
            </a:r>
            <a:endParaRPr kumimoji="1" lang="ja-JP" altLang="en-US" sz="36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252460"/>
            <a:ext cx="6336704" cy="473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980728"/>
            <a:ext cx="32385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372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56"/>
    </mc:Choice>
    <mc:Fallback xmlns="">
      <p:transition spd="slow" advTm="15956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9592" y="476672"/>
            <a:ext cx="7315200" cy="722049"/>
          </a:xfrm>
        </p:spPr>
        <p:txBody>
          <a:bodyPr/>
          <a:lstStyle/>
          <a:p>
            <a:r>
              <a:rPr lang="en-US" altLang="ja-JP" b="1" dirty="0" err="1" smtClean="0"/>
              <a:t>Opencv</a:t>
            </a:r>
            <a:endParaRPr kumimoji="1" lang="ja-JP" altLang="en-US" b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55576" y="5085184"/>
            <a:ext cx="6408712" cy="1330236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kumimoji="1" lang="ja-JP" altLang="en-US" sz="3600" b="1" dirty="0" smtClean="0"/>
              <a:t>インテルが開発した</a:t>
            </a:r>
            <a:endParaRPr kumimoji="1" lang="en-US" altLang="ja-JP" sz="3600" b="1" dirty="0" smtClean="0"/>
          </a:p>
          <a:p>
            <a:pPr marL="45720" indent="0">
              <a:buNone/>
            </a:pPr>
            <a:r>
              <a:rPr kumimoji="1" lang="ja-JP" altLang="en-US" sz="3600" b="1" dirty="0" smtClean="0"/>
              <a:t>オープンソースのライブラリ</a:t>
            </a:r>
            <a:endParaRPr kumimoji="1" lang="ja-JP" altLang="en-US" sz="3600" b="1" dirty="0"/>
          </a:p>
        </p:txBody>
      </p:sp>
      <p:pic>
        <p:nvPicPr>
          <p:cNvPr id="4" name="Picture 2" descr="C:\Users\h27cis06\Desktop\ラズパイ画像 - コピー\OpenCV_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6858870" cy="2227634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118030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91"/>
    </mc:Choice>
    <mc:Fallback xmlns="">
      <p:transition spd="slow" advTm="2269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9592" y="476672"/>
            <a:ext cx="7315200" cy="722049"/>
          </a:xfrm>
        </p:spPr>
        <p:txBody>
          <a:bodyPr/>
          <a:lstStyle/>
          <a:p>
            <a:r>
              <a:rPr kumimoji="1" lang="ja-JP" altLang="en-US" b="1" dirty="0" smtClean="0"/>
              <a:t>システム概要</a:t>
            </a:r>
            <a:endParaRPr kumimoji="1" lang="ja-JP" altLang="en-US" b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907704" y="5589240"/>
            <a:ext cx="4896544" cy="792088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kumimoji="1" lang="ja-JP" altLang="en-US" sz="3600" b="1" dirty="0" smtClean="0"/>
              <a:t>防犯カメラ完成イメージ</a:t>
            </a:r>
            <a:endParaRPr kumimoji="1" lang="ja-JP" altLang="en-US" sz="3600" b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562690"/>
            <a:ext cx="2880320" cy="3785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5587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29"/>
    </mc:Choice>
    <mc:Fallback xmlns="">
      <p:transition spd="slow" advTm="4329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315200" cy="749433"/>
          </a:xfrm>
        </p:spPr>
        <p:txBody>
          <a:bodyPr/>
          <a:lstStyle/>
          <a:p>
            <a:r>
              <a:rPr kumimoji="1" lang="ja-JP" altLang="en-US" b="1" dirty="0" smtClean="0"/>
              <a:t>システム構成図</a:t>
            </a:r>
            <a:endParaRPr kumimoji="1" lang="ja-JP" altLang="en-US" b="1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484784"/>
            <a:ext cx="6375801" cy="4823942"/>
          </a:xfrm>
        </p:spPr>
      </p:pic>
    </p:spTree>
    <p:extLst>
      <p:ext uri="{BB962C8B-B14F-4D97-AF65-F5344CB8AC3E}">
        <p14:creationId xmlns:p14="http://schemas.microsoft.com/office/powerpoint/2010/main" val="110707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894"/>
    </mc:Choice>
    <mc:Fallback xmlns="">
      <p:transition spd="slow" advTm="41894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27584" y="548680"/>
            <a:ext cx="7315200" cy="722049"/>
          </a:xfrm>
        </p:spPr>
        <p:txBody>
          <a:bodyPr/>
          <a:lstStyle/>
          <a:p>
            <a:r>
              <a:rPr kumimoji="1" lang="ja-JP" altLang="en-US" b="1" dirty="0" smtClean="0"/>
              <a:t>システムの流れ</a:t>
            </a:r>
            <a:endParaRPr kumimoji="1" lang="ja-JP" altLang="en-US" b="1" dirty="0"/>
          </a:p>
        </p:txBody>
      </p:sp>
      <p:pic>
        <p:nvPicPr>
          <p:cNvPr id="8" name="コンテンツ プレースホルダー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700808"/>
            <a:ext cx="3672408" cy="5002250"/>
          </a:xfr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368" y="1629428"/>
            <a:ext cx="3677561" cy="5067337"/>
          </a:xfrm>
          <a:prstGeom prst="rect">
            <a:avLst/>
          </a:prstGeom>
        </p:spPr>
      </p:pic>
      <p:sp>
        <p:nvSpPr>
          <p:cNvPr id="10" name="右矢印 9"/>
          <p:cNvSpPr/>
          <p:nvPr/>
        </p:nvSpPr>
        <p:spPr>
          <a:xfrm>
            <a:off x="4067944" y="3409595"/>
            <a:ext cx="720080" cy="1296144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23528" y="1260096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 smtClean="0">
                <a:latin typeface="+mn-ea"/>
              </a:rPr>
              <a:t>修正前</a:t>
            </a:r>
            <a:endParaRPr kumimoji="1" lang="ja-JP" altLang="en-US" sz="2800" b="1" dirty="0">
              <a:latin typeface="+mn-ea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950368" y="1156613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 smtClean="0">
                <a:latin typeface="+mn-ea"/>
              </a:rPr>
              <a:t>修正後</a:t>
            </a:r>
            <a:endParaRPr kumimoji="1" lang="ja-JP" altLang="en-US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480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295"/>
    </mc:Choice>
    <mc:Fallback xmlns="">
      <p:transition spd="slow" advTm="91295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9592" y="476672"/>
            <a:ext cx="7315200" cy="722049"/>
          </a:xfrm>
        </p:spPr>
        <p:txBody>
          <a:bodyPr/>
          <a:lstStyle/>
          <a:p>
            <a:r>
              <a:rPr kumimoji="1" lang="ja-JP" altLang="en-US" b="1" dirty="0" smtClean="0"/>
              <a:t>進捗状況</a:t>
            </a:r>
            <a:endParaRPr kumimoji="1" lang="ja-JP" altLang="en-US" b="1" dirty="0"/>
          </a:p>
        </p:txBody>
      </p:sp>
      <p:sp>
        <p:nvSpPr>
          <p:cNvPr id="4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67544" y="1628800"/>
            <a:ext cx="8107288" cy="460851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US" altLang="ja-JP" sz="3600" b="1" dirty="0" err="1" smtClean="0"/>
              <a:t>Opencv</a:t>
            </a:r>
            <a:r>
              <a:rPr lang="ja-JP" altLang="en-US" sz="3600" b="1" dirty="0" smtClean="0"/>
              <a:t>のインストール</a:t>
            </a:r>
            <a:endParaRPr kumimoji="1" lang="en-US" altLang="ja-JP" sz="3600" b="1" dirty="0" smtClean="0"/>
          </a:p>
          <a:p>
            <a:pPr>
              <a:lnSpc>
                <a:spcPct val="200000"/>
              </a:lnSpc>
            </a:pPr>
            <a:r>
              <a:rPr lang="ja-JP" altLang="en-US" sz="3600" b="1" dirty="0" smtClean="0"/>
              <a:t>ネットワーク設定</a:t>
            </a:r>
            <a:endParaRPr lang="en-US" altLang="ja-JP" sz="3600" b="1" dirty="0"/>
          </a:p>
          <a:p>
            <a:pPr>
              <a:lnSpc>
                <a:spcPct val="200000"/>
              </a:lnSpc>
            </a:pPr>
            <a:r>
              <a:rPr lang="en-US" altLang="ja-JP" sz="3600" b="1" dirty="0" smtClean="0"/>
              <a:t>Motion</a:t>
            </a:r>
            <a:r>
              <a:rPr lang="ja-JP" altLang="en-US" sz="3600" b="1" dirty="0" smtClean="0"/>
              <a:t>を使って防犯カメラの試験運用</a:t>
            </a:r>
            <a:endParaRPr lang="en-US" altLang="ja-JP" sz="3600" b="1" dirty="0" smtClean="0"/>
          </a:p>
          <a:p>
            <a:pPr>
              <a:lnSpc>
                <a:spcPct val="200000"/>
              </a:lnSpc>
            </a:pPr>
            <a:r>
              <a:rPr lang="en-US" altLang="ja-JP" sz="3600" b="1" dirty="0" smtClean="0"/>
              <a:t>Python</a:t>
            </a:r>
            <a:r>
              <a:rPr lang="ja-JP" altLang="en-US" sz="3600" b="1" dirty="0" err="1" smtClean="0"/>
              <a:t>での</a:t>
            </a:r>
            <a:r>
              <a:rPr lang="ja-JP" altLang="en-US" sz="3600" b="1" dirty="0" smtClean="0"/>
              <a:t>映像配信プログラム</a:t>
            </a:r>
            <a:endParaRPr lang="en-US" altLang="ja-JP" sz="3600" b="1" dirty="0" smtClean="0"/>
          </a:p>
          <a:p>
            <a:pPr>
              <a:lnSpc>
                <a:spcPct val="200000"/>
              </a:lnSpc>
            </a:pPr>
            <a:r>
              <a:rPr lang="ja-JP" altLang="en-US" sz="3600" b="1" dirty="0" smtClean="0"/>
              <a:t>物体検出</a:t>
            </a:r>
            <a:endParaRPr lang="en-US" altLang="ja-JP" sz="3600" b="1" dirty="0"/>
          </a:p>
          <a:p>
            <a:pPr>
              <a:lnSpc>
                <a:spcPct val="200000"/>
              </a:lnSpc>
            </a:pPr>
            <a:endParaRPr lang="en-US" altLang="ja-JP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205603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04"/>
    </mc:Choice>
    <mc:Fallback xmlns="">
      <p:transition spd="slow" advTm="12504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55576" y="980728"/>
            <a:ext cx="7315200" cy="720080"/>
          </a:xfrm>
        </p:spPr>
        <p:txBody>
          <a:bodyPr>
            <a:normAutofit fontScale="90000"/>
          </a:bodyPr>
          <a:lstStyle/>
          <a:p>
            <a:r>
              <a:rPr lang="en-US" altLang="ja-JP" b="1" dirty="0" err="1"/>
              <a:t>Opencv</a:t>
            </a:r>
            <a:r>
              <a:rPr lang="ja-JP" altLang="en-US" b="1" dirty="0"/>
              <a:t>のインストール</a:t>
            </a:r>
            <a:r>
              <a:rPr lang="en-US" altLang="ja-JP" b="1" dirty="0"/>
              <a:t/>
            </a:r>
            <a:br>
              <a:rPr lang="en-US" altLang="ja-JP" b="1" dirty="0"/>
            </a:br>
            <a:endParaRPr kumimoji="1" lang="ja-JP" altLang="en-US" b="1" dirty="0"/>
          </a:p>
        </p:txBody>
      </p:sp>
      <p:sp>
        <p:nvSpPr>
          <p:cNvPr id="4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67544" y="1628800"/>
            <a:ext cx="8107288" cy="4608512"/>
          </a:xfrm>
        </p:spPr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ja-JP" altLang="en-US" sz="3600" b="1" dirty="0" smtClean="0"/>
              <a:t>バージョン</a:t>
            </a:r>
            <a:r>
              <a:rPr lang="en-US" altLang="ja-JP" sz="3600" b="1" dirty="0" smtClean="0"/>
              <a:t>2.4.9</a:t>
            </a:r>
            <a:r>
              <a:rPr lang="ja-JP" altLang="en-US" sz="3600" b="1" dirty="0" smtClean="0"/>
              <a:t>から</a:t>
            </a:r>
            <a:r>
              <a:rPr lang="en-US" altLang="ja-JP" sz="3600" b="1" dirty="0" smtClean="0"/>
              <a:t>3.0/3.1</a:t>
            </a:r>
            <a:r>
              <a:rPr lang="ja-JP" altLang="en-US" sz="3600" b="1" dirty="0" err="1" smtClean="0"/>
              <a:t>まで</a:t>
            </a:r>
            <a:r>
              <a:rPr lang="ja-JP" altLang="en-US" sz="3600" b="1" dirty="0" smtClean="0"/>
              <a:t>公開</a:t>
            </a:r>
            <a:endParaRPr lang="en-US" altLang="ja-JP" sz="3600" b="1" dirty="0" smtClean="0"/>
          </a:p>
          <a:p>
            <a:pPr>
              <a:lnSpc>
                <a:spcPct val="300000"/>
              </a:lnSpc>
            </a:pPr>
            <a:r>
              <a:rPr lang="ja-JP" altLang="en-US" sz="3600" b="1" dirty="0" smtClean="0"/>
              <a:t>本研究ではバージョン</a:t>
            </a:r>
            <a:r>
              <a:rPr lang="en-US" altLang="ja-JP" sz="3600" b="1" dirty="0" smtClean="0"/>
              <a:t>2.4.9</a:t>
            </a:r>
            <a:r>
              <a:rPr lang="ja-JP" altLang="en-US" sz="3600" b="1" dirty="0" smtClean="0"/>
              <a:t>を使用</a:t>
            </a:r>
            <a:endParaRPr lang="en-US" altLang="ja-JP" sz="3600" b="1" dirty="0"/>
          </a:p>
          <a:p>
            <a:pPr>
              <a:lnSpc>
                <a:spcPct val="300000"/>
              </a:lnSpc>
            </a:pPr>
            <a:endParaRPr lang="en-US" altLang="ja-JP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134798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322"/>
    </mc:Choice>
    <mc:Fallback xmlns="">
      <p:transition spd="slow" advTm="33322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55576" y="620688"/>
            <a:ext cx="7315200" cy="720080"/>
          </a:xfrm>
        </p:spPr>
        <p:txBody>
          <a:bodyPr>
            <a:normAutofit fontScale="90000"/>
          </a:bodyPr>
          <a:lstStyle/>
          <a:p>
            <a:r>
              <a:rPr lang="en-US" altLang="ja-JP" b="1" dirty="0"/>
              <a:t/>
            </a:r>
            <a:br>
              <a:rPr lang="en-US" altLang="ja-JP" b="1" dirty="0"/>
            </a:br>
            <a:r>
              <a:rPr lang="en-US" altLang="ja-JP" b="1" dirty="0"/>
              <a:t/>
            </a:r>
            <a:br>
              <a:rPr lang="en-US" altLang="ja-JP" b="1" dirty="0"/>
            </a:br>
            <a:r>
              <a:rPr lang="ja-JP" altLang="en-US" b="1" dirty="0"/>
              <a:t>ネットワーク設定</a:t>
            </a:r>
            <a:endParaRPr kumimoji="1" lang="ja-JP" altLang="en-US" b="1" dirty="0"/>
          </a:p>
        </p:txBody>
      </p:sp>
      <p:sp>
        <p:nvSpPr>
          <p:cNvPr id="4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67544" y="1628800"/>
            <a:ext cx="8107288" cy="4608512"/>
          </a:xfrm>
        </p:spPr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en-US" altLang="ja-JP" sz="3600" b="1" dirty="0" smtClean="0"/>
              <a:t>Raspberry Pi</a:t>
            </a:r>
            <a:r>
              <a:rPr lang="ja-JP" altLang="en-US" sz="3600" b="1" dirty="0" smtClean="0"/>
              <a:t>の各アドレスの設定</a:t>
            </a:r>
            <a:endParaRPr lang="en-US" altLang="ja-JP" sz="3600" b="1" dirty="0" smtClean="0"/>
          </a:p>
          <a:p>
            <a:pPr>
              <a:lnSpc>
                <a:spcPct val="300000"/>
              </a:lnSpc>
            </a:pPr>
            <a:r>
              <a:rPr lang="ja-JP" altLang="en-US" sz="3600" b="1" dirty="0" smtClean="0"/>
              <a:t>プロキシの設定</a:t>
            </a:r>
            <a:endParaRPr lang="en-US" altLang="ja-JP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22567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418"/>
    </mc:Choice>
    <mc:Fallback xmlns="">
      <p:transition spd="slow" advTm="43418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9592" y="476672"/>
            <a:ext cx="7315200" cy="722049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altLang="ja-JP" b="1" dirty="0" smtClean="0"/>
              <a:t>Motion</a:t>
            </a:r>
            <a:r>
              <a:rPr lang="ja-JP" altLang="en-US" b="1" dirty="0"/>
              <a:t>で</a:t>
            </a:r>
            <a:r>
              <a:rPr lang="ja-JP" altLang="en-US" b="1" dirty="0" smtClean="0"/>
              <a:t>防犯</a:t>
            </a:r>
            <a:r>
              <a:rPr lang="ja-JP" altLang="en-US" b="1" dirty="0"/>
              <a:t>カメラの試験</a:t>
            </a:r>
            <a:r>
              <a:rPr lang="ja-JP" altLang="en-US" b="1" dirty="0" smtClean="0"/>
              <a:t>運用</a:t>
            </a:r>
            <a:endParaRPr lang="en-US" altLang="ja-JP" b="1" dirty="0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>
          <a:xfrm>
            <a:off x="467544" y="1628800"/>
            <a:ext cx="8107288" cy="4608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ja-JP" altLang="en-US" sz="3600" b="1" dirty="0" smtClean="0"/>
              <a:t>カメラモジュールの有効化</a:t>
            </a:r>
            <a:endParaRPr lang="en-US" altLang="ja-JP" sz="3600" b="1" dirty="0" smtClean="0"/>
          </a:p>
          <a:p>
            <a:pPr>
              <a:lnSpc>
                <a:spcPct val="200000"/>
              </a:lnSpc>
            </a:pPr>
            <a:r>
              <a:rPr lang="ja-JP" altLang="en-US" sz="3600" b="1" dirty="0" smtClean="0"/>
              <a:t>Ｍｏｔｉｏｎのインストール</a:t>
            </a:r>
            <a:endParaRPr lang="en-US" altLang="ja-JP" sz="3600" b="1" dirty="0" smtClean="0"/>
          </a:p>
          <a:p>
            <a:pPr>
              <a:lnSpc>
                <a:spcPct val="200000"/>
              </a:lnSpc>
            </a:pPr>
            <a:r>
              <a:rPr lang="en-US" altLang="ja-JP" sz="3600" b="1" dirty="0" smtClean="0"/>
              <a:t>Motion</a:t>
            </a:r>
            <a:r>
              <a:rPr lang="ja-JP" altLang="en-US" sz="3600" b="1" dirty="0" smtClean="0"/>
              <a:t>の設定ファイルの</a:t>
            </a:r>
            <a:r>
              <a:rPr lang="ja-JP" altLang="en-US" sz="3600" b="1" dirty="0"/>
              <a:t>変更</a:t>
            </a:r>
            <a:endParaRPr lang="en-US" altLang="ja-JP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314284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213"/>
    </mc:Choice>
    <mc:Fallback xmlns="">
      <p:transition spd="slow" advTm="29213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9592" y="476672"/>
            <a:ext cx="7315200" cy="722049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ja-JP" altLang="en-US" b="1" dirty="0" smtClean="0"/>
              <a:t>映像配信</a:t>
            </a:r>
            <a:endParaRPr lang="en-US" altLang="ja-JP" b="1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196752"/>
            <a:ext cx="5400600" cy="455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コンテンツ プレースホルダー 2"/>
          <p:cNvSpPr txBox="1">
            <a:spLocks/>
          </p:cNvSpPr>
          <p:nvPr/>
        </p:nvSpPr>
        <p:spPr>
          <a:xfrm>
            <a:off x="539552" y="5983372"/>
            <a:ext cx="7675240" cy="5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Wingdings" charset="2"/>
              <a:buNone/>
            </a:pPr>
            <a:r>
              <a:rPr lang="en-US" altLang="ja-JP" sz="3600" b="1" dirty="0" smtClean="0"/>
              <a:t>Motion</a:t>
            </a:r>
            <a:r>
              <a:rPr lang="ja-JP" altLang="en-US" sz="3600" b="1" dirty="0" smtClean="0"/>
              <a:t>を使った動画再生</a:t>
            </a:r>
            <a:endParaRPr lang="ja-JP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3741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77"/>
    </mc:Choice>
    <mc:Fallback xmlns="">
      <p:transition spd="slow" advTm="17877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63588" y="548680"/>
            <a:ext cx="7315200" cy="722049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altLang="ja-JP" b="1" dirty="0"/>
              <a:t>Python</a:t>
            </a:r>
            <a:r>
              <a:rPr lang="ja-JP" altLang="en-US" b="1" dirty="0" smtClean="0"/>
              <a:t>で映像</a:t>
            </a:r>
            <a:r>
              <a:rPr lang="ja-JP" altLang="en-US" b="1" dirty="0"/>
              <a:t>配信</a:t>
            </a:r>
            <a:r>
              <a:rPr lang="ja-JP" altLang="en-US" b="1" dirty="0" smtClean="0"/>
              <a:t>プログラム</a:t>
            </a:r>
            <a:endParaRPr lang="en-US" altLang="ja-JP" b="1" dirty="0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>
          <a:xfrm>
            <a:off x="467544" y="1628800"/>
            <a:ext cx="6120680" cy="45365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altLang="ja-JP" sz="4400" b="1" dirty="0" err="1" smtClean="0"/>
              <a:t>WebSocket</a:t>
            </a:r>
            <a:r>
              <a:rPr lang="ja-JP" altLang="en-US" sz="4400" b="1" dirty="0" smtClean="0"/>
              <a:t>通信</a:t>
            </a:r>
            <a:endParaRPr lang="en-US" altLang="ja-JP" sz="4400" b="1" dirty="0" smtClean="0"/>
          </a:p>
          <a:p>
            <a:pPr>
              <a:lnSpc>
                <a:spcPct val="200000"/>
              </a:lnSpc>
            </a:pPr>
            <a:r>
              <a:rPr lang="en-US" altLang="ja-JP" sz="4400" b="1" dirty="0" smtClean="0"/>
              <a:t>Tornado</a:t>
            </a:r>
          </a:p>
          <a:p>
            <a:pPr>
              <a:lnSpc>
                <a:spcPct val="200000"/>
              </a:lnSpc>
            </a:pPr>
            <a:r>
              <a:rPr lang="en-US" altLang="ja-JP" sz="4400" b="1" dirty="0" smtClean="0"/>
              <a:t>HTML</a:t>
            </a:r>
            <a:r>
              <a:rPr lang="ja-JP" altLang="en-US" sz="4400" b="1" dirty="0" smtClean="0"/>
              <a:t>・</a:t>
            </a:r>
            <a:r>
              <a:rPr lang="en-US" altLang="ja-JP" sz="4400" b="1" dirty="0" err="1" smtClean="0"/>
              <a:t>Javascript</a:t>
            </a:r>
            <a:endParaRPr lang="en-US" altLang="ja-JP" sz="4400" b="1" dirty="0" smtClean="0"/>
          </a:p>
        </p:txBody>
      </p:sp>
    </p:spTree>
    <p:extLst>
      <p:ext uri="{BB962C8B-B14F-4D97-AF65-F5344CB8AC3E}">
        <p14:creationId xmlns:p14="http://schemas.microsoft.com/office/powerpoint/2010/main" val="179241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924"/>
    </mc:Choice>
    <mc:Fallback xmlns="">
      <p:transition spd="slow" advTm="55924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63588" y="548680"/>
            <a:ext cx="7315200" cy="722049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altLang="ja-JP" b="1" dirty="0" smtClean="0"/>
              <a:t>Tornado</a:t>
            </a:r>
            <a:r>
              <a:rPr lang="ja-JP" altLang="en-US" b="1" dirty="0" smtClean="0"/>
              <a:t>とは</a:t>
            </a:r>
            <a:endParaRPr lang="en-US" altLang="ja-JP" b="1" dirty="0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>
          <a:xfrm>
            <a:off x="467544" y="1628800"/>
            <a:ext cx="8424936" cy="4608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ja-JP" altLang="en-US" sz="3600" b="1" dirty="0" smtClean="0"/>
              <a:t>ノンブロッキングな</a:t>
            </a:r>
            <a:r>
              <a:rPr lang="en-US" altLang="ja-JP" sz="3600" b="1" dirty="0" smtClean="0"/>
              <a:t>web</a:t>
            </a:r>
            <a:r>
              <a:rPr lang="ja-JP" altLang="en-US" sz="3600" b="1" dirty="0" smtClean="0"/>
              <a:t>サーバ</a:t>
            </a:r>
            <a:endParaRPr lang="en-US" altLang="ja-JP" sz="3600" b="1" dirty="0" smtClean="0"/>
          </a:p>
          <a:p>
            <a:pPr>
              <a:lnSpc>
                <a:spcPct val="200000"/>
              </a:lnSpc>
            </a:pPr>
            <a:r>
              <a:rPr lang="ja-JP" altLang="en-US" sz="3600" b="1" dirty="0" smtClean="0"/>
              <a:t>プロセスやタスクの完了を待つことなく</a:t>
            </a:r>
            <a:endParaRPr lang="en-US" altLang="ja-JP" sz="3600" b="1" dirty="0" smtClean="0"/>
          </a:p>
          <a:p>
            <a:pPr marL="45720" indent="0">
              <a:lnSpc>
                <a:spcPct val="200000"/>
              </a:lnSpc>
              <a:buNone/>
            </a:pPr>
            <a:r>
              <a:rPr lang="en-US" altLang="ja-JP" sz="3600" b="1" dirty="0"/>
              <a:t>	</a:t>
            </a:r>
            <a:r>
              <a:rPr lang="ja-JP" altLang="en-US" sz="3600" b="1" dirty="0" smtClean="0"/>
              <a:t>複数の入出力処理を同時に行え</a:t>
            </a:r>
            <a:r>
              <a:rPr lang="ja-JP" altLang="en-US" sz="3600" b="1" dirty="0"/>
              <a:t>る</a:t>
            </a:r>
            <a:endParaRPr lang="en-US" altLang="ja-JP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2275688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06"/>
    </mc:Choice>
    <mc:Fallback xmlns="">
      <p:transition spd="slow" advTm="32206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9592" y="476672"/>
            <a:ext cx="7315200" cy="722049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ja-JP" altLang="en-US" b="1" dirty="0" smtClean="0"/>
              <a:t>映像配信</a:t>
            </a:r>
            <a:endParaRPr lang="en-US" altLang="ja-JP" b="1" dirty="0"/>
          </a:p>
        </p:txBody>
      </p:sp>
      <p:sp>
        <p:nvSpPr>
          <p:cNvPr id="7" name="コンテンツ プレースホルダー 2"/>
          <p:cNvSpPr txBox="1">
            <a:spLocks/>
          </p:cNvSpPr>
          <p:nvPr/>
        </p:nvSpPr>
        <p:spPr>
          <a:xfrm>
            <a:off x="539552" y="5983372"/>
            <a:ext cx="7675240" cy="5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Wingdings" charset="2"/>
              <a:buNone/>
            </a:pPr>
            <a:r>
              <a:rPr lang="en-US" altLang="ja-JP" sz="3600" b="1" dirty="0" smtClean="0"/>
              <a:t>Python</a:t>
            </a:r>
            <a:r>
              <a:rPr lang="ja-JP" altLang="en-US" sz="3600" b="1" dirty="0" smtClean="0"/>
              <a:t>を使った動画再生</a:t>
            </a:r>
            <a:endParaRPr lang="ja-JP" altLang="en-US" sz="36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056803"/>
            <a:ext cx="5472607" cy="4857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174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59"/>
    </mc:Choice>
    <mc:Fallback xmlns="">
      <p:transition spd="slow" advTm="21159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9592" y="476672"/>
            <a:ext cx="7315200" cy="722049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ja-JP" altLang="en-US" b="1" dirty="0" smtClean="0"/>
              <a:t>物体検出</a:t>
            </a:r>
            <a:endParaRPr lang="en-US" altLang="ja-JP" b="1" dirty="0"/>
          </a:p>
        </p:txBody>
      </p:sp>
      <p:sp>
        <p:nvSpPr>
          <p:cNvPr id="7" name="コンテンツ プレースホルダー 2"/>
          <p:cNvSpPr txBox="1">
            <a:spLocks/>
          </p:cNvSpPr>
          <p:nvPr/>
        </p:nvSpPr>
        <p:spPr>
          <a:xfrm>
            <a:off x="539552" y="5983372"/>
            <a:ext cx="7675240" cy="5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Wingdings" charset="2"/>
              <a:buNone/>
            </a:pPr>
            <a:r>
              <a:rPr lang="ja-JP" altLang="en-US" sz="3600" b="1" dirty="0" smtClean="0"/>
              <a:t>検出された顔に枠線を描画</a:t>
            </a:r>
            <a:endParaRPr lang="ja-JP" altLang="en-US" sz="36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265770"/>
            <a:ext cx="5546343" cy="4162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4634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812"/>
    </mc:Choice>
    <mc:Fallback xmlns="">
      <p:transition spd="slow" advTm="32812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9592" y="476672"/>
            <a:ext cx="7315200" cy="722049"/>
          </a:xfrm>
        </p:spPr>
        <p:txBody>
          <a:bodyPr/>
          <a:lstStyle/>
          <a:p>
            <a:r>
              <a:rPr kumimoji="1" lang="ja-JP" altLang="en-US" b="1" dirty="0" smtClean="0"/>
              <a:t>今後の目標</a:t>
            </a:r>
            <a:endParaRPr kumimoji="1" lang="ja-JP" altLang="en-US" b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99592" y="1484784"/>
            <a:ext cx="7315200" cy="30257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3600" b="1" dirty="0" smtClean="0"/>
              <a:t>顔認識プログラムの実装</a:t>
            </a:r>
            <a:endParaRPr kumimoji="1" lang="en-US" altLang="ja-JP" sz="3600" b="1" dirty="0" smtClean="0"/>
          </a:p>
          <a:p>
            <a:pPr>
              <a:lnSpc>
                <a:spcPct val="150000"/>
              </a:lnSpc>
            </a:pPr>
            <a:r>
              <a:rPr lang="ja-JP" altLang="en-US" sz="3600" b="1" dirty="0" smtClean="0"/>
              <a:t>動画の保存機能</a:t>
            </a:r>
            <a:endParaRPr kumimoji="1" lang="en-US" altLang="ja-JP" sz="3600" b="1" dirty="0" smtClean="0"/>
          </a:p>
          <a:p>
            <a:pPr>
              <a:lnSpc>
                <a:spcPct val="150000"/>
              </a:lnSpc>
            </a:pPr>
            <a:r>
              <a:rPr lang="ja-JP" altLang="en-US" sz="3600" b="1" dirty="0" smtClean="0"/>
              <a:t>防犯カメラケースの作成</a:t>
            </a:r>
            <a:endParaRPr kumimoji="1" lang="en-US" altLang="ja-JP" sz="3600" b="1" dirty="0" smtClean="0"/>
          </a:p>
        </p:txBody>
      </p:sp>
      <p:pic>
        <p:nvPicPr>
          <p:cNvPr id="4" name="図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078" y="4293096"/>
            <a:ext cx="4096667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9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66"/>
    </mc:Choice>
    <mc:Fallback xmlns="">
      <p:transition spd="slow" advTm="53666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512" y="2708920"/>
            <a:ext cx="8712968" cy="998984"/>
          </a:xfrm>
        </p:spPr>
        <p:txBody>
          <a:bodyPr>
            <a:noAutofit/>
          </a:bodyPr>
          <a:lstStyle/>
          <a:p>
            <a:pPr algn="ctr"/>
            <a:r>
              <a:rPr kumimoji="1" lang="ja-JP" altLang="en-US" sz="5400" b="1" dirty="0" smtClean="0"/>
              <a:t>ご清聴ありがとうございました</a:t>
            </a:r>
            <a:endParaRPr kumimoji="1" lang="ja-JP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425650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33"/>
    </mc:Choice>
    <mc:Fallback xmlns="">
      <p:transition spd="slow" advTm="3433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パースペクティブ">
  <a:themeElements>
    <a:clrScheme name="パースペクティブ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クラシック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パースペクティブ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671</TotalTime>
  <Words>257</Words>
  <Application>Microsoft Office PowerPoint</Application>
  <PresentationFormat>画面に合わせる (4:3)</PresentationFormat>
  <Paragraphs>78</Paragraphs>
  <Slides>24</Slides>
  <Notes>2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5" baseType="lpstr">
      <vt:lpstr>パースペクティブ</vt:lpstr>
      <vt:lpstr>Raspberry Piを使用した 防犯カメラの作成</vt:lpstr>
      <vt:lpstr>はじめに</vt:lpstr>
      <vt:lpstr>目的</vt:lpstr>
      <vt:lpstr>使用機器・開発言語一覧</vt:lpstr>
      <vt:lpstr>Raspberry Pi</vt:lpstr>
      <vt:lpstr>カメラモジュール</vt:lpstr>
      <vt:lpstr>赤外線カメラモジュール</vt:lpstr>
      <vt:lpstr>USB無線アダプタ</vt:lpstr>
      <vt:lpstr>Raspbian</vt:lpstr>
      <vt:lpstr>Opencv</vt:lpstr>
      <vt:lpstr>システム概要</vt:lpstr>
      <vt:lpstr>システム構成図</vt:lpstr>
      <vt:lpstr>システムの流れ</vt:lpstr>
      <vt:lpstr>進捗状況</vt:lpstr>
      <vt:lpstr>Opencvのインストール </vt:lpstr>
      <vt:lpstr>  ネットワーク設定</vt:lpstr>
      <vt:lpstr>Motionで防犯カメラの試験運用</vt:lpstr>
      <vt:lpstr>映像配信</vt:lpstr>
      <vt:lpstr>Pythonで映像配信プログラム</vt:lpstr>
      <vt:lpstr>Tornadoとは</vt:lpstr>
      <vt:lpstr>映像配信</vt:lpstr>
      <vt:lpstr>物体検出</vt:lpstr>
      <vt:lpstr>今後の目標</vt:lpstr>
      <vt:lpstr>ご清聴ありがとうございました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Raspberry Piを使用した 防犯カメラの作成</dc:title>
  <dc:creator>h27cis06</dc:creator>
  <cp:lastModifiedBy>h27cis10</cp:lastModifiedBy>
  <cp:revision>43</cp:revision>
  <cp:lastPrinted>2016-09-02T05:58:08Z</cp:lastPrinted>
  <dcterms:created xsi:type="dcterms:W3CDTF">2016-09-02T01:37:48Z</dcterms:created>
  <dcterms:modified xsi:type="dcterms:W3CDTF">2016-12-21T06:47:45Z</dcterms:modified>
</cp:coreProperties>
</file>