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mv" ContentType="video/x-ms-wm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handoutMasterIdLst>
    <p:handoutMasterId r:id="rId31"/>
  </p:handoutMasterIdLst>
  <p:sldIdLst>
    <p:sldId id="256" r:id="rId2"/>
    <p:sldId id="301" r:id="rId3"/>
    <p:sldId id="302" r:id="rId4"/>
    <p:sldId id="257" r:id="rId5"/>
    <p:sldId id="259" r:id="rId6"/>
    <p:sldId id="260" r:id="rId7"/>
    <p:sldId id="275" r:id="rId8"/>
    <p:sldId id="292" r:id="rId9"/>
    <p:sldId id="276" r:id="rId10"/>
    <p:sldId id="266" r:id="rId11"/>
    <p:sldId id="293" r:id="rId12"/>
    <p:sldId id="299" r:id="rId13"/>
    <p:sldId id="286" r:id="rId14"/>
    <p:sldId id="274" r:id="rId15"/>
    <p:sldId id="294" r:id="rId16"/>
    <p:sldId id="296" r:id="rId17"/>
    <p:sldId id="280" r:id="rId18"/>
    <p:sldId id="295" r:id="rId19"/>
    <p:sldId id="282" r:id="rId20"/>
    <p:sldId id="287" r:id="rId21"/>
    <p:sldId id="283" r:id="rId22"/>
    <p:sldId id="284" r:id="rId23"/>
    <p:sldId id="285" r:id="rId24"/>
    <p:sldId id="288" r:id="rId25"/>
    <p:sldId id="268" r:id="rId26"/>
    <p:sldId id="264" r:id="rId27"/>
    <p:sldId id="289" r:id="rId28"/>
    <p:sldId id="290" r:id="rId29"/>
    <p:sldId id="265" r:id="rId30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96" y="-6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B3BFB-4C02-4F73-9502-31B7E836B19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C9945-C527-4447-BC63-509303AFD2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829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二等辺三角形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000">
                <a:effectLst/>
              </a:defRPr>
            </a:lvl1pPr>
          </a:lstStyle>
          <a:p>
            <a:r>
              <a:rPr kumimoji="0" lang="ja-JP" altLang="en-US" dirty="0" smtClean="0"/>
              <a:t>マスター タイトルの書式設定</a:t>
            </a:r>
            <a:endParaRPr kumimoji="0" lang="en-US" dirty="0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8" name="日付プレースホルダー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17" name="フッター プレースホルダー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kumimoji="1" lang="ja-JP" altLang="en-US"/>
          </a:p>
        </p:txBody>
      </p:sp>
      <p:sp>
        <p:nvSpPr>
          <p:cNvPr id="29" name="スライド番号プレースホルダー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99032"/>
          </a:xfrm>
        </p:spPr>
        <p:txBody>
          <a:bodyPr>
            <a:normAutofit/>
          </a:bodyPr>
          <a:lstStyle>
            <a:lvl1pPr>
              <a:defRPr sz="4000" b="1">
                <a:effectLst/>
                <a:latin typeface="+mn-ea"/>
                <a:ea typeface="+mn-ea"/>
              </a:defRPr>
            </a:lvl1pPr>
          </a:lstStyle>
          <a:p>
            <a:r>
              <a:rPr kumimoji="0" lang="ja-JP" altLang="en-US" dirty="0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b="1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二等辺三角形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1" name="直線コネクタ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99032"/>
          </a:xfrm>
        </p:spPr>
        <p:txBody>
          <a:bodyPr/>
          <a:lstStyle>
            <a:lvl1pPr marL="0" algn="l">
              <a:defRPr b="1">
                <a:effectLst/>
              </a:defRPr>
            </a:lvl1pPr>
          </a:lstStyle>
          <a:p>
            <a:r>
              <a:rPr kumimoji="0" lang="ja-JP" altLang="en-US" dirty="0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r>
              <a:rPr kumimoji="0" lang="ja-JP" altLang="en-US" dirty="0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直線コネクタ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タイトル プレースホルダー 2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ja-JP" altLang="en-US" dirty="0" smtClean="0"/>
              <a:t>マスター タイトルの書式設定</a:t>
            </a:r>
            <a:endParaRPr kumimoji="0"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4" name="日付プレースホルダー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2EF01E3C-EE1A-4367-BD3F-B8ED83509B24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3" name="スライド番号プレースホルダー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8462FFD0-D09F-4EC4-BA89-A4FB043AA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/>
      </p:par>
    </p:tnLst>
  </p:timing>
  <p:txStyles>
    <p:titleStyle>
      <a:lvl1pPr marL="484632" algn="l" rtl="0" eaLnBrk="1" latinLnBrk="0" hangingPunct="1">
        <a:spcBef>
          <a:spcPct val="0"/>
        </a:spcBef>
        <a:buNone/>
        <a:defRPr kumimoji="1" sz="4000" b="1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/>
          <a:latin typeface="+mn-ea"/>
          <a:ea typeface="+mn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studio/index.html?hl=ja" TargetMode="External"/><Relationship Id="rId2" Type="http://schemas.openxmlformats.org/officeDocument/2006/relationships/hyperlink" Target="https://unity3d.com/jp/get-unity/download/archiv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qiita.com/Teach/items/12a2e3b2f8c09dbbc5b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87624" y="1484784"/>
            <a:ext cx="6334472" cy="1809546"/>
          </a:xfrm>
        </p:spPr>
        <p:txBody>
          <a:bodyPr>
            <a:normAutofit/>
          </a:bodyPr>
          <a:lstStyle/>
          <a:p>
            <a:r>
              <a:rPr kumimoji="1" lang="en-US" altLang="ja-JP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12.Unity</a:t>
            </a:r>
            <a:r>
              <a:rPr lang="ja-JP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を使った</a:t>
            </a:r>
            <a:r>
              <a:rPr lang="en-US" altLang="ja-JP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/>
            </a:r>
            <a:br>
              <a:rPr lang="en-US" altLang="ja-JP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</a:br>
            <a:r>
              <a:rPr lang="ja-JP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音楽</a:t>
            </a:r>
            <a:r>
              <a:rPr lang="ja-JP" altLang="en-US" dirty="0" smtClean="0">
                <a:effectLst/>
                <a:latin typeface="+mn-ea"/>
                <a:ea typeface="+mn-ea"/>
              </a:rPr>
              <a:t>ゲームアプリ</a:t>
            </a:r>
            <a:r>
              <a:rPr lang="ja-JP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開発</a:t>
            </a:r>
            <a:endParaRPr kumimoji="1" lang="ja-JP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39552" y="3501008"/>
            <a:ext cx="8062912" cy="1152128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b="1" dirty="0" smtClean="0">
                <a:latin typeface="+mn-ea"/>
              </a:rPr>
              <a:t>20</a:t>
            </a:r>
            <a:r>
              <a:rPr lang="ja-JP" altLang="en-US" b="1" dirty="0" smtClean="0">
                <a:latin typeface="+mn-ea"/>
              </a:rPr>
              <a:t>番</a:t>
            </a:r>
            <a:r>
              <a:rPr lang="en-US" altLang="ja-JP" b="1" dirty="0" smtClean="0">
                <a:latin typeface="+mn-ea"/>
              </a:rPr>
              <a:t> </a:t>
            </a:r>
            <a:r>
              <a:rPr kumimoji="1" lang="ja-JP" altLang="en-US" b="1" dirty="0" smtClean="0">
                <a:latin typeface="+mn-ea"/>
              </a:rPr>
              <a:t>福山将樹　</a:t>
            </a:r>
            <a:r>
              <a:rPr kumimoji="1" lang="en-US" altLang="ja-JP" b="1" dirty="0" smtClean="0">
                <a:latin typeface="+mn-ea"/>
              </a:rPr>
              <a:t>3</a:t>
            </a:r>
            <a:r>
              <a:rPr kumimoji="1" lang="ja-JP" altLang="en-US" b="1" dirty="0" smtClean="0">
                <a:latin typeface="+mn-ea"/>
              </a:rPr>
              <a:t>番</a:t>
            </a:r>
            <a:r>
              <a:rPr kumimoji="1" lang="en-US" altLang="ja-JP" b="1" dirty="0" smtClean="0">
                <a:latin typeface="+mn-ea"/>
              </a:rPr>
              <a:t> </a:t>
            </a:r>
            <a:r>
              <a:rPr kumimoji="1" lang="ja-JP" altLang="en-US" b="1" dirty="0" smtClean="0">
                <a:latin typeface="+mn-ea"/>
              </a:rPr>
              <a:t>尾形祐紀</a:t>
            </a:r>
            <a:endParaRPr kumimoji="1" lang="en-US" altLang="ja-JP" b="1" dirty="0" smtClean="0">
              <a:latin typeface="+mn-ea"/>
            </a:endParaRPr>
          </a:p>
          <a:p>
            <a:endParaRPr kumimoji="1" lang="en-US" altLang="ja-JP" b="1" dirty="0" smtClean="0">
              <a:latin typeface="+mn-ea"/>
            </a:endParaRPr>
          </a:p>
          <a:p>
            <a:r>
              <a:rPr lang="ja-JP" altLang="en-US" b="1" dirty="0">
                <a:latin typeface="+mn-ea"/>
              </a:rPr>
              <a:t>指導</a:t>
            </a:r>
            <a:r>
              <a:rPr lang="ja-JP" altLang="en-US" b="1" dirty="0" smtClean="0">
                <a:latin typeface="+mn-ea"/>
              </a:rPr>
              <a:t>教員　佐々木　建</a:t>
            </a:r>
            <a:endParaRPr kumimoji="1" lang="ja-JP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977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発表の流れ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4008" indent="0">
              <a:buNone/>
            </a:pPr>
            <a:r>
              <a:rPr kumimoji="1" lang="en-US" altLang="ja-JP" sz="3600" b="1" dirty="0" smtClean="0"/>
              <a:t>1.</a:t>
            </a:r>
            <a:r>
              <a:rPr kumimoji="1" lang="ja-JP" altLang="en-US" sz="3600" b="1" dirty="0" smtClean="0"/>
              <a:t>はじめに</a:t>
            </a:r>
            <a:endParaRPr kumimoji="1" lang="en-US" altLang="ja-JP" sz="3600" b="1" dirty="0" smtClean="0"/>
          </a:p>
          <a:p>
            <a:pPr marL="64008" indent="0">
              <a:buNone/>
            </a:pPr>
            <a:r>
              <a:rPr lang="en-US" altLang="ja-JP" sz="3600" b="1" dirty="0" smtClean="0"/>
              <a:t>2.</a:t>
            </a:r>
            <a:r>
              <a:rPr lang="ja-JP" altLang="en-US" sz="3600" b="1" dirty="0" smtClean="0"/>
              <a:t>研究の目的</a:t>
            </a:r>
            <a:endParaRPr lang="en-US" altLang="ja-JP" sz="3600" b="1" dirty="0" smtClean="0"/>
          </a:p>
          <a:p>
            <a:pPr marL="64008" indent="0">
              <a:buNone/>
            </a:pPr>
            <a:r>
              <a:rPr kumimoji="1" lang="en-US" altLang="ja-JP" sz="3600" b="1" dirty="0" smtClean="0"/>
              <a:t>3.</a:t>
            </a:r>
            <a:r>
              <a:rPr lang="ja-JP" altLang="en-US" sz="3600" b="1" dirty="0" smtClean="0"/>
              <a:t>研究概要</a:t>
            </a:r>
            <a:endParaRPr lang="en-US" altLang="ja-JP" sz="3600" b="1" dirty="0" smtClean="0"/>
          </a:p>
          <a:p>
            <a:pPr marL="64008" indent="0">
              <a:buNone/>
            </a:pPr>
            <a:r>
              <a:rPr lang="en-US" altLang="ja-JP" sz="3600" b="1" dirty="0" smtClean="0"/>
              <a:t>4.</a:t>
            </a:r>
            <a:r>
              <a:rPr lang="ja-JP" altLang="en-US" sz="3600" b="1" dirty="0" smtClean="0"/>
              <a:t>研究の詳細</a:t>
            </a:r>
            <a:endParaRPr lang="en-US" altLang="ja-JP" sz="3600" b="1" dirty="0" smtClean="0"/>
          </a:p>
          <a:p>
            <a:pPr marL="64008" indent="0">
              <a:buNone/>
            </a:pPr>
            <a:r>
              <a:rPr kumimoji="1" lang="en-US" altLang="ja-JP" sz="3600" b="1" dirty="0" smtClean="0"/>
              <a:t>5.</a:t>
            </a:r>
            <a:r>
              <a:rPr kumimoji="1" lang="ja-JP" altLang="en-US" sz="3600" b="1" dirty="0" smtClean="0"/>
              <a:t>まとめ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97594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はじめに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b="1" dirty="0" smtClean="0"/>
              <a:t>音楽ゲームがどのようにして作られているか</a:t>
            </a:r>
            <a:endParaRPr kumimoji="1" lang="en-US" altLang="ja-JP" sz="4000" b="1" dirty="0" smtClean="0"/>
          </a:p>
          <a:p>
            <a:r>
              <a:rPr lang="ja-JP" altLang="en-US" sz="4000" b="1" dirty="0"/>
              <a:t>自分たちだけ</a:t>
            </a:r>
            <a:r>
              <a:rPr lang="ja-JP" altLang="en-US" sz="4000" b="1" dirty="0" smtClean="0"/>
              <a:t>でどれだけクオリティのあるゲームを作ることができるか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13706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+mn-ea"/>
                <a:ea typeface="+mn-ea"/>
              </a:rPr>
              <a:t>目的</a:t>
            </a:r>
            <a:endParaRPr kumimoji="1" lang="ja-JP" altLang="en-US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4572000"/>
          </a:xfrm>
        </p:spPr>
        <p:txBody>
          <a:bodyPr>
            <a:normAutofit/>
          </a:bodyPr>
          <a:lstStyle/>
          <a:p>
            <a:pPr marL="685800" indent="-685800"/>
            <a:r>
              <a:rPr lang="en-US" altLang="ja-JP" sz="4800" b="1" dirty="0" smtClean="0">
                <a:latin typeface="+mn-ea"/>
              </a:rPr>
              <a:t>Android</a:t>
            </a:r>
            <a:r>
              <a:rPr lang="ja-JP" altLang="en-US" sz="4800" b="1" dirty="0" smtClean="0">
                <a:latin typeface="+mn-ea"/>
              </a:rPr>
              <a:t>に</a:t>
            </a:r>
            <a:r>
              <a:rPr lang="ja-JP" altLang="en-US" sz="4800" b="1" dirty="0">
                <a:latin typeface="+mn-ea"/>
              </a:rPr>
              <a:t>対応</a:t>
            </a:r>
            <a:r>
              <a:rPr lang="ja-JP" altLang="en-US" sz="4800" b="1" dirty="0" smtClean="0">
                <a:latin typeface="+mn-ea"/>
              </a:rPr>
              <a:t>したゲームとして必要な機能の実装</a:t>
            </a:r>
            <a:endParaRPr lang="en-US" altLang="ja-JP" sz="4800" b="1" dirty="0" smtClean="0">
              <a:latin typeface="+mn-ea"/>
            </a:endParaRPr>
          </a:p>
          <a:p>
            <a:pPr marL="685800" indent="-685800"/>
            <a:r>
              <a:rPr lang="ja-JP" altLang="en-US" sz="4800" b="1" dirty="0" smtClean="0">
                <a:latin typeface="+mn-ea"/>
              </a:rPr>
              <a:t>誰でも楽しめる音楽ゲームアプリの作成</a:t>
            </a:r>
            <a:endParaRPr kumimoji="1" lang="ja-JP" altLang="en-US" sz="4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433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7290"/>
          </a:xfrm>
        </p:spPr>
        <p:txBody>
          <a:bodyPr/>
          <a:lstStyle/>
          <a:p>
            <a:r>
              <a:rPr lang="ja-JP" altLang="en-US" dirty="0" smtClean="0"/>
              <a:t>研究</a:t>
            </a:r>
            <a:r>
              <a:rPr lang="ja-JP" altLang="en-US" dirty="0"/>
              <a:t>概要</a:t>
            </a:r>
            <a:endParaRPr kumimoji="1" lang="ja-JP" altLang="en-US" dirty="0">
              <a:latin typeface="+mn-ea"/>
              <a:ea typeface="+mn-ea"/>
            </a:endParaRPr>
          </a:p>
        </p:txBody>
      </p:sp>
      <p:graphicFrame>
        <p:nvGraphicFramePr>
          <p:cNvPr id="5" name="コンテンツ プレースホルダー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427082"/>
              </p:ext>
            </p:extLst>
          </p:nvPr>
        </p:nvGraphicFramePr>
        <p:xfrm>
          <a:off x="395536" y="1484784"/>
          <a:ext cx="8229600" cy="467871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114800"/>
                <a:gridCol w="4114800"/>
              </a:tblGrid>
              <a:tr h="1086352">
                <a:tc>
                  <a:txBody>
                    <a:bodyPr/>
                    <a:lstStyle/>
                    <a:p>
                      <a:r>
                        <a:rPr kumimoji="1" lang="en-US" altLang="ja-JP" sz="3600" b="1" dirty="0" smtClean="0"/>
                        <a:t>OS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600" b="1" dirty="0" smtClean="0"/>
                        <a:t>Windows7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801213">
                <a:tc>
                  <a:txBody>
                    <a:bodyPr/>
                    <a:lstStyle/>
                    <a:p>
                      <a:r>
                        <a:rPr kumimoji="1" lang="en-US" altLang="ja-JP" sz="3600" b="1" dirty="0" smtClean="0"/>
                        <a:t>IDE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600" b="1" dirty="0" smtClean="0"/>
                        <a:t>Unity5.3</a:t>
                      </a:r>
                      <a:endParaRPr kumimoji="1" lang="en-US" altLang="ja-JP" sz="3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801213">
                <a:tc>
                  <a:txBody>
                    <a:bodyPr/>
                    <a:lstStyle/>
                    <a:p>
                      <a:r>
                        <a:rPr kumimoji="1" lang="ja-JP" altLang="en-US" sz="3600" b="1" dirty="0" smtClean="0"/>
                        <a:t>使用言語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600" b="1" dirty="0" smtClean="0"/>
                        <a:t>C#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801213">
                <a:tc>
                  <a:txBody>
                    <a:bodyPr/>
                    <a:lstStyle/>
                    <a:p>
                      <a:r>
                        <a:rPr kumimoji="1" lang="ja-JP" altLang="en-US" sz="3600" b="1" dirty="0" smtClean="0"/>
                        <a:t>使用機材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600" b="1" dirty="0" smtClean="0"/>
                        <a:t>Android(nexus7)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1118521">
                <a:tc>
                  <a:txBody>
                    <a:bodyPr/>
                    <a:lstStyle/>
                    <a:p>
                      <a:r>
                        <a:rPr kumimoji="1" lang="ja-JP" altLang="en-US" sz="3600" b="1" dirty="0" smtClean="0"/>
                        <a:t>その他ツール</a:t>
                      </a:r>
                      <a:endParaRPr kumimoji="1" lang="ja-JP" altLang="en-US" sz="3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3600" b="1" dirty="0" err="1" smtClean="0"/>
                        <a:t>AndroidSDK</a:t>
                      </a:r>
                      <a:r>
                        <a:rPr kumimoji="1" lang="en-US" altLang="ja-JP" sz="3600" b="1" dirty="0" smtClean="0"/>
                        <a:t>,</a:t>
                      </a:r>
                    </a:p>
                    <a:p>
                      <a:r>
                        <a:rPr kumimoji="1" lang="en-US" altLang="ja-JP" sz="3600" b="1" dirty="0" err="1" smtClean="0"/>
                        <a:t>AndroidNDK</a:t>
                      </a:r>
                      <a:endParaRPr kumimoji="1" lang="en-US" altLang="ja-JP" sz="3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テキスト ボックス 2"/>
          <p:cNvSpPr txBox="1"/>
          <p:nvPr/>
        </p:nvSpPr>
        <p:spPr>
          <a:xfrm>
            <a:off x="397088" y="980728"/>
            <a:ext cx="1582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/>
              <a:t>開発環境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8012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>
                <a:effectLst/>
                <a:latin typeface="+mn-ea"/>
                <a:ea typeface="+mn-ea"/>
              </a:rPr>
              <a:t>Unity</a:t>
            </a:r>
            <a:r>
              <a:rPr kumimoji="1" lang="ja-JP" altLang="en-US" dirty="0" smtClean="0">
                <a:effectLst/>
                <a:latin typeface="+mn-ea"/>
                <a:ea typeface="+mn-ea"/>
              </a:rPr>
              <a:t>について</a:t>
            </a:r>
            <a:endParaRPr kumimoji="1" lang="ja-JP" altLang="en-US" dirty="0">
              <a:effectLst/>
              <a:latin typeface="+mn-ea"/>
              <a:ea typeface="+mn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79512" y="1412775"/>
            <a:ext cx="8352928" cy="4176465"/>
          </a:xfrm>
        </p:spPr>
        <p:txBody>
          <a:bodyPr>
            <a:normAutofit/>
          </a:bodyPr>
          <a:lstStyle/>
          <a:p>
            <a:pPr marL="571500" indent="-571500"/>
            <a:r>
              <a:rPr lang="en-US" altLang="ja-JP" sz="4800" b="1" dirty="0" smtClean="0"/>
              <a:t>PC</a:t>
            </a:r>
            <a:r>
              <a:rPr lang="ja-JP" altLang="en-US" sz="4800" b="1" dirty="0" smtClean="0"/>
              <a:t>・携帯機器向けのゲーム</a:t>
            </a:r>
            <a:r>
              <a:rPr lang="ja-JP" altLang="en-US" sz="4800" b="1" dirty="0"/>
              <a:t>を開発する</a:t>
            </a:r>
            <a:r>
              <a:rPr lang="ja-JP" altLang="en-US" sz="4800" b="1" dirty="0" smtClean="0"/>
              <a:t>ための統合開発環境</a:t>
            </a:r>
            <a:endParaRPr lang="en-US" altLang="ja-JP" sz="4800" b="1" dirty="0" smtClean="0"/>
          </a:p>
          <a:p>
            <a:pPr marL="571500" indent="-571500"/>
            <a:r>
              <a:rPr lang="ja-JP" altLang="en-US" sz="4800" b="1" dirty="0" smtClean="0"/>
              <a:t>主</a:t>
            </a:r>
            <a:r>
              <a:rPr lang="ja-JP" altLang="en-US" sz="4800" b="1" dirty="0"/>
              <a:t>にモバイルやブラウザゲーム製作に使用</a:t>
            </a:r>
            <a:r>
              <a:rPr lang="ja-JP" altLang="en-US" sz="4800" b="1" dirty="0" smtClean="0"/>
              <a:t>される</a:t>
            </a:r>
            <a:endParaRPr lang="en-US" altLang="ja-JP" sz="4800" b="1" dirty="0" smtClean="0"/>
          </a:p>
        </p:txBody>
      </p:sp>
    </p:spTree>
    <p:extLst>
      <p:ext uri="{BB962C8B-B14F-4D97-AF65-F5344CB8AC3E}">
        <p14:creationId xmlns:p14="http://schemas.microsoft.com/office/powerpoint/2010/main" val="142333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>
                <a:latin typeface="+mn-ea"/>
                <a:ea typeface="+mn-ea"/>
              </a:rPr>
              <a:t>Unity</a:t>
            </a:r>
            <a:r>
              <a:rPr kumimoji="1" lang="ja-JP" altLang="en-US" dirty="0" smtClean="0">
                <a:latin typeface="+mn-ea"/>
                <a:ea typeface="+mn-ea"/>
              </a:rPr>
              <a:t>について</a:t>
            </a:r>
            <a:endParaRPr kumimoji="1" lang="ja-JP" altLang="en-US" dirty="0">
              <a:latin typeface="+mn-ea"/>
              <a:ea typeface="+mn-ea"/>
            </a:endParaRPr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72816"/>
            <a:ext cx="7797552" cy="4217747"/>
          </a:xfrm>
        </p:spPr>
      </p:pic>
      <p:sp>
        <p:nvSpPr>
          <p:cNvPr id="4" name="テキスト ボックス 3"/>
          <p:cNvSpPr txBox="1"/>
          <p:nvPr/>
        </p:nvSpPr>
        <p:spPr>
          <a:xfrm>
            <a:off x="1372598" y="6021288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 smtClean="0"/>
              <a:t>Unity</a:t>
            </a:r>
            <a:r>
              <a:rPr kumimoji="1" lang="ja-JP" altLang="en-US" sz="2800" b="1" dirty="0" smtClean="0"/>
              <a:t>の開発画面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0158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b="1" dirty="0" err="1" smtClean="0">
                <a:effectLst/>
                <a:latin typeface="+mn-ea"/>
                <a:ea typeface="+mn-ea"/>
              </a:rPr>
              <a:t>AndroidSDK</a:t>
            </a:r>
            <a:r>
              <a:rPr kumimoji="1" lang="ja-JP" altLang="en-US" b="1" dirty="0" smtClean="0">
                <a:effectLst/>
                <a:latin typeface="+mn-ea"/>
                <a:ea typeface="+mn-ea"/>
              </a:rPr>
              <a:t>について</a:t>
            </a:r>
            <a:endParaRPr kumimoji="1" lang="ja-JP" altLang="en-US" b="1" dirty="0">
              <a:effectLst/>
              <a:latin typeface="+mn-ea"/>
              <a:ea typeface="+mn-ea"/>
            </a:endParaRPr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562" y="1340768"/>
            <a:ext cx="6840760" cy="4572000"/>
          </a:xfrm>
        </p:spPr>
      </p:pic>
      <p:sp>
        <p:nvSpPr>
          <p:cNvPr id="5" name="テキスト ボックス 4"/>
          <p:cNvSpPr txBox="1"/>
          <p:nvPr/>
        </p:nvSpPr>
        <p:spPr>
          <a:xfrm>
            <a:off x="1710598" y="6021288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smtClean="0"/>
              <a:t>SDK</a:t>
            </a:r>
            <a:r>
              <a:rPr lang="ja-JP" altLang="en-US" sz="2800" b="1" dirty="0" smtClean="0"/>
              <a:t>マネージャーの画面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398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 err="1" smtClean="0"/>
              <a:t>AndroidNDK</a:t>
            </a:r>
            <a:r>
              <a:rPr kumimoji="1" lang="ja-JP" altLang="en-US" b="1" dirty="0" smtClean="0"/>
              <a:t>について</a:t>
            </a:r>
            <a:endParaRPr kumimoji="1" lang="ja-JP" altLang="en-US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4400" b="1" dirty="0"/>
              <a:t>Android</a:t>
            </a:r>
            <a:r>
              <a:rPr lang="ja-JP" altLang="en-US" sz="4400" b="1" dirty="0" smtClean="0"/>
              <a:t>アプリケーションの機能を</a:t>
            </a:r>
            <a:r>
              <a:rPr lang="en-US" altLang="ja-JP" sz="4400" b="1" dirty="0"/>
              <a:t>C/C++</a:t>
            </a:r>
            <a:r>
              <a:rPr lang="ja-JP" altLang="en-US" sz="4400" b="1" dirty="0"/>
              <a:t>言語で開発するための</a:t>
            </a:r>
            <a:r>
              <a:rPr lang="ja-JP" altLang="en-US" sz="4400" b="1" dirty="0" smtClean="0"/>
              <a:t>キット</a:t>
            </a:r>
            <a:endParaRPr lang="en-US" altLang="ja-JP" sz="4400" b="1" dirty="0" smtClean="0"/>
          </a:p>
          <a:p>
            <a:r>
              <a:rPr lang="en-US" altLang="ja-JP" sz="4400" b="1" dirty="0" smtClean="0"/>
              <a:t>Unity</a:t>
            </a:r>
            <a:r>
              <a:rPr lang="ja-JP" altLang="en-US" sz="4400" b="1" dirty="0" smtClean="0"/>
              <a:t>で</a:t>
            </a:r>
            <a:r>
              <a:rPr lang="en-US" altLang="ja-JP" sz="4400" b="1" dirty="0" smtClean="0"/>
              <a:t>Android</a:t>
            </a:r>
            <a:r>
              <a:rPr lang="ja-JP" altLang="en-US" sz="4400" b="1" dirty="0" smtClean="0"/>
              <a:t>にビルドする際にはこれが必要になる</a:t>
            </a:r>
            <a:endParaRPr lang="en-US" altLang="ja-JP" sz="4400" b="1" dirty="0" smtClean="0"/>
          </a:p>
        </p:txBody>
      </p:sp>
    </p:spTree>
    <p:extLst>
      <p:ext uri="{BB962C8B-B14F-4D97-AF65-F5344CB8AC3E}">
        <p14:creationId xmlns:p14="http://schemas.microsoft.com/office/powerpoint/2010/main" val="357046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+mn-ea"/>
                <a:ea typeface="+mn-ea"/>
              </a:rPr>
              <a:t>シーン</a:t>
            </a:r>
            <a:r>
              <a:rPr kumimoji="1" lang="ja-JP" altLang="en-US" b="1" dirty="0" smtClean="0">
                <a:latin typeface="+mn-ea"/>
                <a:ea typeface="+mn-ea"/>
              </a:rPr>
              <a:t>の作成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4400" b="1" dirty="0"/>
              <a:t>Unity</a:t>
            </a:r>
            <a:r>
              <a:rPr lang="ja-JP" altLang="en-US" sz="4400" b="1" dirty="0"/>
              <a:t>で</a:t>
            </a:r>
            <a:r>
              <a:rPr lang="ja-JP" altLang="en-US" sz="4400" b="1" dirty="0" smtClean="0"/>
              <a:t>はシーン毎に、それぞれオブジェクト</a:t>
            </a:r>
            <a:r>
              <a:rPr lang="ja-JP" altLang="en-US" sz="4400" b="1" dirty="0"/>
              <a:t>やスクリプトを追加することが</a:t>
            </a:r>
            <a:r>
              <a:rPr lang="ja-JP" altLang="en-US" sz="4400" b="1" dirty="0" smtClean="0"/>
              <a:t>できる</a:t>
            </a:r>
            <a:endParaRPr lang="en-US" altLang="ja-JP" sz="4400" b="1" dirty="0" smtClean="0"/>
          </a:p>
          <a:p>
            <a:endParaRPr lang="en-US" altLang="ja-JP" sz="4400" b="1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99592" y="5157192"/>
            <a:ext cx="252028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タイトル</a:t>
            </a:r>
            <a:r>
              <a:rPr lang="ja-JP" alt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画面シーン</a:t>
            </a:r>
            <a:endParaRPr kumimoji="1" lang="ja-JP" alt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563888" y="5162147"/>
            <a:ext cx="244827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戦闘</a:t>
            </a:r>
            <a:r>
              <a:rPr lang="ja-JP" alt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シーン</a:t>
            </a:r>
            <a:endParaRPr kumimoji="1" lang="ja-JP" alt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156175" y="5162147"/>
            <a:ext cx="2276581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設定画面シーン</a:t>
            </a:r>
            <a:endParaRPr kumimoji="1" lang="ja-JP" alt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648917" y="4365104"/>
            <a:ext cx="208823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(</a:t>
            </a:r>
            <a:r>
              <a:rPr lang="ja-JP" alt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例</a:t>
            </a:r>
            <a:r>
              <a:rPr lang="en-US" altLang="ja-JP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)RPG</a:t>
            </a:r>
            <a:r>
              <a:rPr lang="ja-JP" alt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ゲーム</a:t>
            </a:r>
            <a:endParaRPr kumimoji="1" lang="ja-JP" alt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2" name="直線矢印コネクタ 21"/>
          <p:cNvCxnSpPr>
            <a:stCxn id="10" idx="2"/>
          </p:cNvCxnSpPr>
          <p:nvPr/>
        </p:nvCxnSpPr>
        <p:spPr>
          <a:xfrm>
            <a:off x="4693033" y="4734436"/>
            <a:ext cx="0" cy="35074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5737149" y="4734436"/>
            <a:ext cx="1283123" cy="35074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 flipH="1">
            <a:off x="2483768" y="4734436"/>
            <a:ext cx="1165149" cy="35074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332656"/>
            <a:ext cx="8229600" cy="1399032"/>
          </a:xfrm>
        </p:spPr>
        <p:txBody>
          <a:bodyPr>
            <a:normAutofit/>
          </a:bodyPr>
          <a:lstStyle/>
          <a:p>
            <a:r>
              <a:rPr kumimoji="1" lang="ja-JP" altLang="en-US" sz="4400" b="1" dirty="0" smtClean="0">
                <a:effectLst/>
              </a:rPr>
              <a:t>シーンの作成</a:t>
            </a:r>
            <a:endParaRPr kumimoji="1" lang="ja-JP" altLang="en-US" sz="4400" b="1" dirty="0">
              <a:effectLst/>
            </a:endParaRPr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780928"/>
            <a:ext cx="4032448" cy="2295528"/>
          </a:xfrm>
        </p:spPr>
      </p:pic>
      <p:pic>
        <p:nvPicPr>
          <p:cNvPr id="6" name="コンテンツ プレースホルダー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780928"/>
            <a:ext cx="3744416" cy="2347562"/>
          </a:xfrm>
        </p:spPr>
      </p:pic>
      <p:sp>
        <p:nvSpPr>
          <p:cNvPr id="7" name="テキスト ボックス 6"/>
          <p:cNvSpPr txBox="1"/>
          <p:nvPr/>
        </p:nvSpPr>
        <p:spPr>
          <a:xfrm>
            <a:off x="467544" y="2060848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 smtClean="0"/>
              <a:t>①ゲームシーン</a:t>
            </a:r>
            <a:endParaRPr kumimoji="1" lang="ja-JP" altLang="en-US" sz="3200" b="1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716016" y="2081440"/>
            <a:ext cx="367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 smtClean="0"/>
              <a:t>②譜面作成シーン</a:t>
            </a:r>
            <a:endParaRPr kumimoji="1" lang="ja-JP" altLang="en-US" sz="3200" b="1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70874" y="5186400"/>
            <a:ext cx="68407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今回</a:t>
            </a:r>
            <a:r>
              <a:rPr lang="ja-JP" altLang="en-US" sz="2800" b="1" dirty="0" smtClean="0"/>
              <a:t>は</a:t>
            </a:r>
            <a:r>
              <a:rPr lang="en-US" altLang="ja-JP" sz="2800" b="1" dirty="0" smtClean="0"/>
              <a:t>2</a:t>
            </a:r>
            <a:r>
              <a:rPr lang="ja-JP" altLang="en-US" sz="2800" b="1" dirty="0" err="1" smtClean="0"/>
              <a:t>つの</a:t>
            </a:r>
            <a:r>
              <a:rPr lang="ja-JP" altLang="en-US" sz="2800" b="1" dirty="0" smtClean="0"/>
              <a:t>シーンを用意する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254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</a:t>
            </a:r>
            <a:r>
              <a:rPr lang="ja-JP" altLang="en-US" dirty="0" smtClean="0"/>
              <a:t>ゲームシーン</a:t>
            </a:r>
            <a:r>
              <a:rPr lang="ja-JP" altLang="en-US" dirty="0"/>
              <a:t>の作成</a:t>
            </a:r>
            <a:endParaRPr kumimoji="1" lang="ja-JP" altLang="en-US" dirty="0"/>
          </a:p>
        </p:txBody>
      </p:sp>
      <p:pic>
        <p:nvPicPr>
          <p:cNvPr id="4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916832"/>
            <a:ext cx="6830631" cy="3888432"/>
          </a:xfrm>
        </p:spPr>
      </p:pic>
      <p:sp>
        <p:nvSpPr>
          <p:cNvPr id="6" name="テキスト ボックス 5"/>
          <p:cNvSpPr txBox="1"/>
          <p:nvPr/>
        </p:nvSpPr>
        <p:spPr>
          <a:xfrm>
            <a:off x="1741203" y="5949280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ゲームシーンの画面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1998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 smtClean="0"/>
              <a:t>ゲームシーンの処理</a:t>
            </a:r>
            <a:endParaRPr kumimoji="1" lang="ja-JP" altLang="en-US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4008" indent="0">
              <a:buNone/>
            </a:pPr>
            <a:r>
              <a:rPr kumimoji="1" lang="en-US" altLang="ja-JP" sz="3600" b="1" dirty="0" smtClean="0"/>
              <a:t>(1)</a:t>
            </a:r>
            <a:r>
              <a:rPr kumimoji="1" lang="ja-JP" altLang="en-US" sz="3600" b="1" dirty="0" smtClean="0"/>
              <a:t>譜面ファイルを読み込む</a:t>
            </a:r>
            <a:endParaRPr kumimoji="1" lang="en-US" altLang="ja-JP" sz="3600" b="1" dirty="0" smtClean="0"/>
          </a:p>
          <a:p>
            <a:pPr marL="64008" indent="0">
              <a:buNone/>
            </a:pPr>
            <a:r>
              <a:rPr lang="en-US" altLang="ja-JP" sz="3600" b="1" dirty="0" smtClean="0"/>
              <a:t>(2)BGM</a:t>
            </a:r>
            <a:r>
              <a:rPr lang="ja-JP" altLang="en-US" sz="3600" b="1" dirty="0" smtClean="0"/>
              <a:t>を再生</a:t>
            </a:r>
            <a:endParaRPr lang="en-US" altLang="ja-JP" sz="3600" b="1" dirty="0" smtClean="0"/>
          </a:p>
          <a:p>
            <a:pPr marL="64008" indent="0">
              <a:buNone/>
            </a:pPr>
            <a:r>
              <a:rPr kumimoji="1" lang="en-US" altLang="ja-JP" sz="3600" b="1" dirty="0" smtClean="0"/>
              <a:t>(3)</a:t>
            </a:r>
            <a:r>
              <a:rPr kumimoji="1" lang="ja-JP" altLang="en-US" sz="3600" b="1" dirty="0" smtClean="0"/>
              <a:t>タイミングに合わせて</a:t>
            </a:r>
            <a:r>
              <a:rPr lang="ja-JP" altLang="en-US" sz="3600" b="1" dirty="0"/>
              <a:t>オブジェクト</a:t>
            </a:r>
            <a:r>
              <a:rPr lang="ja-JP" altLang="en-US" sz="3600" b="1" dirty="0" smtClean="0"/>
              <a:t>を生成</a:t>
            </a:r>
            <a:endParaRPr lang="en-US" altLang="ja-JP" sz="3600" b="1" dirty="0" smtClean="0"/>
          </a:p>
          <a:p>
            <a:pPr marL="64008" indent="0">
              <a:buNone/>
            </a:pPr>
            <a:r>
              <a:rPr kumimoji="1" lang="en-US" altLang="ja-JP" sz="3600" b="1" dirty="0" smtClean="0"/>
              <a:t>(4)</a:t>
            </a:r>
            <a:r>
              <a:rPr kumimoji="1" lang="ja-JP" altLang="en-US" sz="3600" b="1" dirty="0" smtClean="0"/>
              <a:t>オブジェクトが降るようにする</a:t>
            </a:r>
            <a:endParaRPr kumimoji="1" lang="en-US" altLang="ja-JP" sz="3600" b="1" dirty="0" smtClean="0"/>
          </a:p>
          <a:p>
            <a:pPr marL="64008" indent="0">
              <a:buNone/>
            </a:pPr>
            <a:r>
              <a:rPr lang="en-US" altLang="ja-JP" sz="3600" b="1" dirty="0" smtClean="0"/>
              <a:t>(5)</a:t>
            </a:r>
            <a:r>
              <a:rPr lang="ja-JP" altLang="en-US" sz="3600" b="1" dirty="0" smtClean="0"/>
              <a:t>タイミングよく押したらスコアを加算する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6671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399032"/>
          </a:xfrm>
        </p:spPr>
        <p:txBody>
          <a:bodyPr/>
          <a:lstStyle/>
          <a:p>
            <a:r>
              <a:rPr lang="en-US" altLang="ja-JP" b="1" dirty="0" smtClean="0">
                <a:effectLst/>
              </a:rPr>
              <a:t>(1)</a:t>
            </a:r>
            <a:r>
              <a:rPr kumimoji="1" lang="ja-JP" altLang="en-US" b="1" dirty="0" smtClean="0">
                <a:effectLst/>
              </a:rPr>
              <a:t>譜面ファイルを読み込む</a:t>
            </a:r>
            <a:endParaRPr kumimoji="1" lang="ja-JP" altLang="en-US" b="1" dirty="0">
              <a:effectLst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196752"/>
            <a:ext cx="1641413" cy="52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左矢印 3"/>
          <p:cNvSpPr/>
          <p:nvPr/>
        </p:nvSpPr>
        <p:spPr>
          <a:xfrm>
            <a:off x="2480859" y="1494094"/>
            <a:ext cx="1512168" cy="86409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995936" y="1325977"/>
            <a:ext cx="3960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 smtClean="0"/>
              <a:t>オブジェクトを生成する時間</a:t>
            </a:r>
            <a:endParaRPr kumimoji="1" lang="ja-JP" altLang="en-US" sz="3600" b="1" dirty="0"/>
          </a:p>
        </p:txBody>
      </p:sp>
      <p:sp>
        <p:nvSpPr>
          <p:cNvPr id="7" name="左矢印 6"/>
          <p:cNvSpPr/>
          <p:nvPr/>
        </p:nvSpPr>
        <p:spPr>
          <a:xfrm>
            <a:off x="3100881" y="3933056"/>
            <a:ext cx="1584176" cy="1008112"/>
          </a:xfrm>
          <a:prstGeom prst="lef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752782" y="3883531"/>
            <a:ext cx="33843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 smtClean="0"/>
              <a:t>オブジェクトを落とす</a:t>
            </a:r>
            <a:r>
              <a:rPr lang="ja-JP" altLang="en-US" sz="4000" b="1" dirty="0"/>
              <a:t>位置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66497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400" b="1" dirty="0" smtClean="0">
                <a:effectLst/>
              </a:rPr>
              <a:t>(2)BGM</a:t>
            </a:r>
            <a:r>
              <a:rPr lang="ja-JP" altLang="en-US" sz="4400" b="1" dirty="0">
                <a:effectLst/>
              </a:rPr>
              <a:t>を</a:t>
            </a:r>
            <a:r>
              <a:rPr kumimoji="1" lang="ja-JP" altLang="en-US" sz="4400" b="1" dirty="0" smtClean="0">
                <a:effectLst/>
              </a:rPr>
              <a:t>再生</a:t>
            </a:r>
            <a:endParaRPr kumimoji="1" lang="ja-JP" altLang="en-US" sz="4400" b="1" dirty="0">
              <a:effectLst/>
            </a:endParaRPr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04" y="2011985"/>
            <a:ext cx="7128792" cy="4058165"/>
          </a:xfrm>
        </p:spPr>
      </p:pic>
      <p:sp>
        <p:nvSpPr>
          <p:cNvPr id="5" name="正方形/長方形 4"/>
          <p:cNvSpPr/>
          <p:nvPr/>
        </p:nvSpPr>
        <p:spPr>
          <a:xfrm>
            <a:off x="3563888" y="3645024"/>
            <a:ext cx="2016224" cy="7920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10598" y="6093296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 smtClean="0"/>
              <a:t>ボタンを押すと</a:t>
            </a:r>
            <a:r>
              <a:rPr lang="en-US" altLang="ja-JP" sz="2800" b="1" dirty="0" smtClean="0"/>
              <a:t>BGM</a:t>
            </a:r>
            <a:r>
              <a:rPr lang="ja-JP" altLang="en-US" sz="2800" b="1" dirty="0" smtClean="0"/>
              <a:t>が流れる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643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 smtClean="0">
                <a:effectLst/>
              </a:rPr>
              <a:t>(3)</a:t>
            </a:r>
            <a:r>
              <a:rPr kumimoji="1" lang="ja-JP" altLang="en-US" b="1" dirty="0" smtClean="0">
                <a:effectLst/>
              </a:rPr>
              <a:t>タイミングに合わせてオブジェクトを生成</a:t>
            </a:r>
            <a:endParaRPr kumimoji="1" lang="ja-JP" altLang="en-US" b="1" dirty="0">
              <a:effectLst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036" y="5005308"/>
            <a:ext cx="648072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645" y="5006451"/>
            <a:ext cx="66675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996926"/>
            <a:ext cx="6477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349" y="5005308"/>
            <a:ext cx="6477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937" y="4996925"/>
            <a:ext cx="676275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407" y="5004160"/>
            <a:ext cx="676275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547" y="5011213"/>
            <a:ext cx="638175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コンテンツ プレースホルダー 8"/>
          <p:cNvPicPr>
            <a:picLocks noGrp="1" noChangeAspect="1"/>
          </p:cNvPicPr>
          <p:nvPr>
            <p:ph idx="1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06" y="1866083"/>
            <a:ext cx="1656184" cy="4572000"/>
          </a:xfrm>
        </p:spPr>
      </p:pic>
      <p:sp>
        <p:nvSpPr>
          <p:cNvPr id="10" name="正方形/長方形 9"/>
          <p:cNvSpPr/>
          <p:nvPr/>
        </p:nvSpPr>
        <p:spPr>
          <a:xfrm>
            <a:off x="1209256" y="2010099"/>
            <a:ext cx="648072" cy="4464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1900518" y="2010099"/>
            <a:ext cx="648072" cy="44644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左矢印 21"/>
          <p:cNvSpPr/>
          <p:nvPr/>
        </p:nvSpPr>
        <p:spPr>
          <a:xfrm>
            <a:off x="1857328" y="2241266"/>
            <a:ext cx="1512168" cy="864096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左矢印 22"/>
          <p:cNvSpPr/>
          <p:nvPr/>
        </p:nvSpPr>
        <p:spPr>
          <a:xfrm>
            <a:off x="2508027" y="3234235"/>
            <a:ext cx="1584176" cy="1008112"/>
          </a:xfrm>
          <a:prstGeom prst="lef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369496" y="2284835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/>
              <a:t>オブジェクトを生成する時間</a:t>
            </a:r>
            <a:endParaRPr kumimoji="1" lang="ja-JP" altLang="en-US" sz="2400" b="1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092203" y="3322792"/>
            <a:ext cx="295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/>
              <a:t>オブジェクトを落とす</a:t>
            </a:r>
            <a:r>
              <a:rPr lang="ja-JP" altLang="en-US" sz="2400" b="1" dirty="0"/>
              <a:t>位置</a:t>
            </a:r>
            <a:endParaRPr kumimoji="1" lang="ja-JP" altLang="en-US" sz="2400" b="1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176340" y="4532735"/>
            <a:ext cx="27840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b="1" dirty="0"/>
              <a:t>生成されるオブジェクト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34168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2" grpId="0" animBg="1"/>
      <p:bldP spid="23" grpId="0" animBg="1"/>
      <p:bldP spid="24" grpId="0"/>
      <p:bldP spid="25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721346"/>
          </a:xfrm>
        </p:spPr>
        <p:txBody>
          <a:bodyPr>
            <a:normAutofit/>
          </a:bodyPr>
          <a:lstStyle/>
          <a:p>
            <a:r>
              <a:rPr lang="en-US" altLang="ja-JP" b="1" dirty="0" smtClean="0"/>
              <a:t>(4)</a:t>
            </a:r>
            <a:r>
              <a:rPr lang="ja-JP" altLang="en-US" b="1" dirty="0" smtClean="0"/>
              <a:t>オブジェクト</a:t>
            </a:r>
            <a:r>
              <a:rPr lang="ja-JP" altLang="en-US" b="1" dirty="0"/>
              <a:t>が降ってくるようにする</a:t>
            </a:r>
            <a:endParaRPr kumimoji="1" lang="ja-JP" altLang="en-US" b="1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288" y="2342883"/>
            <a:ext cx="5112085" cy="2886318"/>
          </a:xfrm>
        </p:spPr>
      </p:pic>
      <p:sp>
        <p:nvSpPr>
          <p:cNvPr id="5" name="テキスト ボックス 4"/>
          <p:cNvSpPr txBox="1"/>
          <p:nvPr/>
        </p:nvSpPr>
        <p:spPr>
          <a:xfrm>
            <a:off x="2555776" y="4638477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 smtClean="0">
                <a:solidFill>
                  <a:srgbClr val="FF0000"/>
                </a:solidFill>
              </a:rPr>
              <a:t>0</a:t>
            </a:r>
            <a:r>
              <a:rPr lang="ja-JP" altLang="en-US" b="1" dirty="0">
                <a:solidFill>
                  <a:srgbClr val="FF0000"/>
                </a:solidFill>
              </a:rPr>
              <a:t>　</a:t>
            </a:r>
            <a:r>
              <a:rPr lang="ja-JP" altLang="en-US" b="1" dirty="0" smtClean="0">
                <a:solidFill>
                  <a:srgbClr val="FF0000"/>
                </a:solidFill>
              </a:rPr>
              <a:t>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1</a:t>
            </a:r>
            <a:r>
              <a:rPr lang="ja-JP" altLang="en-US" b="1" dirty="0">
                <a:solidFill>
                  <a:srgbClr val="FF0000"/>
                </a:solidFill>
              </a:rPr>
              <a:t>　</a:t>
            </a:r>
            <a:r>
              <a:rPr lang="ja-JP" altLang="en-US" b="1" dirty="0" smtClean="0">
                <a:solidFill>
                  <a:srgbClr val="FF0000"/>
                </a:solidFill>
              </a:rPr>
              <a:t>　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2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</a:t>
            </a:r>
            <a:r>
              <a:rPr lang="ja-JP" altLang="en-US" b="1" dirty="0">
                <a:solidFill>
                  <a:srgbClr val="FF0000"/>
                </a:solidFill>
              </a:rPr>
              <a:t>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3</a:t>
            </a:r>
            <a:r>
              <a:rPr lang="ja-JP" altLang="en-US" b="1" dirty="0">
                <a:solidFill>
                  <a:srgbClr val="FF0000"/>
                </a:solidFill>
              </a:rPr>
              <a:t>　</a:t>
            </a:r>
            <a:r>
              <a:rPr lang="ja-JP" altLang="en-US" b="1" dirty="0" smtClean="0">
                <a:solidFill>
                  <a:srgbClr val="FF0000"/>
                </a:solidFill>
              </a:rPr>
              <a:t>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4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</a:t>
            </a:r>
            <a:r>
              <a:rPr lang="ja-JP" altLang="en-US" b="1" dirty="0">
                <a:solidFill>
                  <a:srgbClr val="FF0000"/>
                </a:solidFill>
              </a:rPr>
              <a:t>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5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</a:t>
            </a:r>
            <a:r>
              <a:rPr lang="ja-JP" altLang="en-US" b="1" dirty="0" smtClean="0">
                <a:solidFill>
                  <a:srgbClr val="FF0000"/>
                </a:solidFill>
              </a:rPr>
              <a:t>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6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4266048" y="2372770"/>
            <a:ext cx="1152128" cy="5760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494743" y="5301208"/>
            <a:ext cx="671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指定</a:t>
            </a:r>
            <a:r>
              <a:rPr lang="ja-JP" altLang="en-US" sz="2800" b="1" dirty="0" smtClean="0"/>
              <a:t>された位置にオブジェクトが落ちる</a:t>
            </a:r>
            <a:endParaRPr kumimoji="1" lang="ja-JP" altLang="en-US" sz="2800" b="1" dirty="0"/>
          </a:p>
        </p:txBody>
      </p:sp>
      <p:pic>
        <p:nvPicPr>
          <p:cNvPr id="8" name="コンテンツ プレースホルダ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00"/>
          <a:stretch/>
        </p:blipFill>
        <p:spPr>
          <a:xfrm>
            <a:off x="1187624" y="2372770"/>
            <a:ext cx="1637972" cy="1949000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2123728" y="2924944"/>
            <a:ext cx="701868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/>
          <p:cNvCxnSpPr/>
          <p:nvPr/>
        </p:nvCxnSpPr>
        <p:spPr>
          <a:xfrm flipV="1">
            <a:off x="2825596" y="2660802"/>
            <a:ext cx="1386364" cy="40815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>
            <a:stCxn id="3" idx="2"/>
          </p:cNvCxnSpPr>
          <p:nvPr/>
        </p:nvCxnSpPr>
        <p:spPr>
          <a:xfrm>
            <a:off x="4842112" y="2948834"/>
            <a:ext cx="10462" cy="163229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64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7" grpId="0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721346"/>
          </a:xfrm>
        </p:spPr>
        <p:txBody>
          <a:bodyPr>
            <a:normAutofit/>
          </a:bodyPr>
          <a:lstStyle/>
          <a:p>
            <a:r>
              <a:rPr lang="en-US" altLang="ja-JP" b="1" dirty="0" smtClean="0"/>
              <a:t>(5)</a:t>
            </a:r>
            <a:r>
              <a:rPr lang="ja-JP" altLang="en-US" b="1" dirty="0" smtClean="0"/>
              <a:t>タイミング</a:t>
            </a:r>
            <a:r>
              <a:rPr lang="ja-JP" altLang="en-US" b="1" dirty="0"/>
              <a:t>よく押したらスコアを加算する。</a:t>
            </a:r>
            <a:endParaRPr kumimoji="1" lang="ja-JP" altLang="en-US" b="1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34" y="2060848"/>
            <a:ext cx="6782747" cy="3829585"/>
          </a:xfrm>
        </p:spPr>
      </p:pic>
      <p:sp>
        <p:nvSpPr>
          <p:cNvPr id="5" name="テキスト ボックス 4"/>
          <p:cNvSpPr txBox="1"/>
          <p:nvPr/>
        </p:nvSpPr>
        <p:spPr>
          <a:xfrm>
            <a:off x="1907704" y="5164106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0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　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1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　 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2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　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3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　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4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　　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5</a:t>
            </a:r>
            <a:r>
              <a:rPr kumimoji="1" lang="ja-JP" altLang="en-US" b="1" dirty="0" smtClean="0">
                <a:solidFill>
                  <a:srgbClr val="FF0000"/>
                </a:solidFill>
              </a:rPr>
              <a:t>　　  </a:t>
            </a:r>
            <a:r>
              <a:rPr kumimoji="1" lang="en-US" altLang="ja-JP" b="1" dirty="0" smtClean="0">
                <a:solidFill>
                  <a:srgbClr val="FF0000"/>
                </a:solidFill>
              </a:rPr>
              <a:t>6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5665812" y="1988840"/>
            <a:ext cx="864096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10598" y="5926334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スコア</a:t>
            </a:r>
            <a:r>
              <a:rPr lang="ja-JP" altLang="en-US" sz="2800" b="1" dirty="0" smtClean="0"/>
              <a:t>が変わる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79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 smtClean="0"/>
              <a:t>②譜面作成用のシーンを作</a:t>
            </a:r>
            <a:r>
              <a:rPr kumimoji="1" lang="ja-JP" altLang="en-US" dirty="0" smtClean="0"/>
              <a:t>成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700808"/>
            <a:ext cx="6661557" cy="4176464"/>
          </a:xfrm>
        </p:spPr>
      </p:pic>
      <p:sp>
        <p:nvSpPr>
          <p:cNvPr id="5" name="テキスト ボックス 4"/>
          <p:cNvSpPr txBox="1"/>
          <p:nvPr/>
        </p:nvSpPr>
        <p:spPr>
          <a:xfrm>
            <a:off x="1710598" y="5922858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譜面作成シーンの画面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1017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b="1" dirty="0" smtClean="0"/>
              <a:t>譜面作成用のシーンの処理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4008" indent="0">
              <a:buNone/>
            </a:pPr>
            <a:r>
              <a:rPr kumimoji="1" lang="en-US" altLang="ja-JP" sz="4000" b="1" dirty="0" smtClean="0"/>
              <a:t>(1)BGM</a:t>
            </a:r>
            <a:r>
              <a:rPr kumimoji="1" lang="ja-JP" altLang="en-US" sz="4000" b="1" dirty="0" smtClean="0"/>
              <a:t>を流す</a:t>
            </a:r>
            <a:endParaRPr kumimoji="1" lang="en-US" altLang="ja-JP" sz="4000" b="1" dirty="0" smtClean="0"/>
          </a:p>
          <a:p>
            <a:pPr marL="64008" indent="0">
              <a:buNone/>
            </a:pPr>
            <a:r>
              <a:rPr lang="en-US" altLang="ja-JP" sz="4000" b="1" dirty="0" smtClean="0"/>
              <a:t>(2)</a:t>
            </a:r>
            <a:r>
              <a:rPr lang="ja-JP" altLang="en-US" sz="4000" b="1" dirty="0" smtClean="0"/>
              <a:t>オブジェクト生成の時間とオブジェクトの降下位置を</a:t>
            </a:r>
            <a:r>
              <a:rPr lang="en-US" altLang="ja-JP" sz="4000" b="1" dirty="0" smtClean="0"/>
              <a:t>CSV</a:t>
            </a:r>
            <a:r>
              <a:rPr lang="ja-JP" altLang="en-US" sz="4000" b="1" dirty="0" smtClean="0"/>
              <a:t>に書き込む</a:t>
            </a:r>
            <a:endParaRPr lang="en-US" altLang="ja-JP" sz="4000" b="1" dirty="0" smtClean="0"/>
          </a:p>
          <a:p>
            <a:pPr marL="64008" indent="0">
              <a:buNone/>
            </a:pPr>
            <a:r>
              <a:rPr kumimoji="1" lang="en-US" altLang="ja-JP" sz="4000" b="1" dirty="0" smtClean="0"/>
              <a:t>(3)</a:t>
            </a:r>
            <a:r>
              <a:rPr lang="ja-JP" altLang="en-US" sz="4000" b="1" dirty="0" smtClean="0"/>
              <a:t>入力</a:t>
            </a:r>
            <a:r>
              <a:rPr lang="ja-JP" altLang="en-US" sz="4000" b="1" dirty="0"/>
              <a:t>したキーによってオブジェクト</a:t>
            </a:r>
            <a:r>
              <a:rPr lang="ja-JP" altLang="en-US" sz="4000" b="1" dirty="0" smtClean="0"/>
              <a:t>の降下位置</a:t>
            </a:r>
            <a:r>
              <a:rPr lang="ja-JP" altLang="en-US" sz="4000" b="1" dirty="0"/>
              <a:t>を変える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5080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 smtClean="0">
                <a:effectLst/>
              </a:rPr>
              <a:t>(1)BGM</a:t>
            </a:r>
            <a:r>
              <a:rPr lang="ja-JP" altLang="en-US" b="1" dirty="0" smtClean="0">
                <a:effectLst/>
              </a:rPr>
              <a:t>を流す</a:t>
            </a:r>
            <a:endParaRPr kumimoji="1" lang="ja-JP" altLang="en-US" b="1" dirty="0">
              <a:effectLst/>
            </a:endParaRPr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201" y="1844825"/>
            <a:ext cx="6715614" cy="3816424"/>
          </a:xfrm>
        </p:spPr>
      </p:pic>
      <p:sp>
        <p:nvSpPr>
          <p:cNvPr id="5" name="正方形/長方形 4"/>
          <p:cNvSpPr/>
          <p:nvPr/>
        </p:nvSpPr>
        <p:spPr>
          <a:xfrm>
            <a:off x="3995936" y="3356992"/>
            <a:ext cx="1296144" cy="7200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710598" y="5661248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 smtClean="0"/>
              <a:t>ボタンを押すと</a:t>
            </a:r>
            <a:r>
              <a:rPr lang="en-US" altLang="ja-JP" sz="2800" b="1" dirty="0" smtClean="0"/>
              <a:t>BGM</a:t>
            </a:r>
            <a:r>
              <a:rPr lang="ja-JP" altLang="en-US" sz="2800" b="1" dirty="0" smtClean="0"/>
              <a:t>が流れる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7641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b="1" dirty="0" smtClean="0">
                <a:effectLst/>
              </a:rPr>
              <a:t>(2)</a:t>
            </a:r>
            <a:r>
              <a:rPr lang="ja-JP" altLang="en-US" b="1" dirty="0" smtClean="0">
                <a:effectLst/>
              </a:rPr>
              <a:t>オブジェクト生成の時間と効果位置を</a:t>
            </a:r>
            <a:r>
              <a:rPr lang="en-US" altLang="ja-JP" b="1" dirty="0" smtClean="0">
                <a:effectLst/>
              </a:rPr>
              <a:t>CSV</a:t>
            </a:r>
            <a:r>
              <a:rPr lang="ja-JP" altLang="en-US" b="1" dirty="0" smtClean="0">
                <a:effectLst/>
              </a:rPr>
              <a:t>に書き込む</a:t>
            </a:r>
            <a:endParaRPr kumimoji="1" lang="ja-JP" altLang="en-US" b="1" dirty="0">
              <a:effectLst/>
            </a:endParaRPr>
          </a:p>
        </p:txBody>
      </p:sp>
      <p:pic>
        <p:nvPicPr>
          <p:cNvPr id="6" name="コンテンツ プレースホルダー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30" y="1950303"/>
            <a:ext cx="7416824" cy="3564397"/>
          </a:xfrm>
        </p:spPr>
      </p:pic>
      <p:sp>
        <p:nvSpPr>
          <p:cNvPr id="8" name="正方形/長方形 7"/>
          <p:cNvSpPr/>
          <p:nvPr/>
        </p:nvSpPr>
        <p:spPr>
          <a:xfrm>
            <a:off x="3203848" y="3429000"/>
            <a:ext cx="2952328" cy="6480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710598" y="5733927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キーボード</a:t>
            </a:r>
            <a:r>
              <a:rPr lang="ja-JP" altLang="en-US" sz="2800" b="1" dirty="0" smtClean="0"/>
              <a:t>から入力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6723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b="1" dirty="0" smtClean="0">
                <a:effectLst/>
              </a:rPr>
              <a:t>(3)</a:t>
            </a:r>
            <a:r>
              <a:rPr lang="ja-JP" altLang="en-US" b="1" dirty="0" smtClean="0">
                <a:effectLst/>
              </a:rPr>
              <a:t>入力</a:t>
            </a:r>
            <a:r>
              <a:rPr lang="ja-JP" altLang="en-US" b="1" dirty="0">
                <a:effectLst/>
              </a:rPr>
              <a:t>したキーによってオブジェクト</a:t>
            </a:r>
            <a:r>
              <a:rPr lang="ja-JP" altLang="en-US" b="1" dirty="0" smtClean="0">
                <a:effectLst/>
              </a:rPr>
              <a:t>の降下位置</a:t>
            </a:r>
            <a:r>
              <a:rPr lang="ja-JP" altLang="en-US" b="1" dirty="0">
                <a:effectLst/>
              </a:rPr>
              <a:t>を変える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4800" b="1" dirty="0"/>
              <a:t>CSV</a:t>
            </a:r>
            <a:r>
              <a:rPr lang="ja-JP" altLang="en-US" sz="4800" b="1" dirty="0"/>
              <a:t>の譜面</a:t>
            </a:r>
            <a:r>
              <a:rPr lang="ja-JP" altLang="en-US" sz="4800" b="1" dirty="0" smtClean="0"/>
              <a:t>ファイルの中</a:t>
            </a:r>
            <a:r>
              <a:rPr lang="ja-JP" altLang="en-US" sz="4800" b="1" dirty="0"/>
              <a:t>にはオブジェクト</a:t>
            </a:r>
            <a:r>
              <a:rPr lang="ja-JP" altLang="en-US" sz="4800" b="1" dirty="0" smtClean="0"/>
              <a:t>生成時間と</a:t>
            </a:r>
            <a:r>
              <a:rPr lang="ja-JP" altLang="en-US" sz="4800" b="1" dirty="0"/>
              <a:t>キーに対応した</a:t>
            </a:r>
            <a:r>
              <a:rPr lang="ja-JP" altLang="en-US" sz="4800" b="1" dirty="0" smtClean="0"/>
              <a:t>数字が</a:t>
            </a:r>
            <a:r>
              <a:rPr lang="ja-JP" altLang="en-US" sz="4800" b="1" dirty="0"/>
              <a:t>書き込まれる</a:t>
            </a:r>
            <a:r>
              <a:rPr lang="ja-JP" altLang="en-US" sz="4800" b="1" dirty="0" smtClean="0"/>
              <a:t>。</a:t>
            </a:r>
            <a:endParaRPr kumimoji="1" lang="ja-JP" altLang="en-US" sz="48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650" y="4221088"/>
            <a:ext cx="3002707" cy="223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正方形/長方形 6"/>
          <p:cNvSpPr/>
          <p:nvPr/>
        </p:nvSpPr>
        <p:spPr>
          <a:xfrm>
            <a:off x="5787235" y="4520752"/>
            <a:ext cx="1224136" cy="360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7037975" y="4520752"/>
            <a:ext cx="1196382" cy="36004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3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1710598" y="5661248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動画が流れます</a:t>
            </a:r>
            <a:endParaRPr kumimoji="1" lang="ja-JP" altLang="en-US" sz="2800" b="1" dirty="0"/>
          </a:p>
        </p:txBody>
      </p:sp>
      <p:pic>
        <p:nvPicPr>
          <p:cNvPr id="4" name="ビデオ (1).wmv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16200000">
            <a:off x="2856822" y="-673639"/>
            <a:ext cx="3900239" cy="6920940"/>
          </a:xfrm>
        </p:spPr>
      </p:pic>
    </p:spTree>
    <p:extLst>
      <p:ext uri="{BB962C8B-B14F-4D97-AF65-F5344CB8AC3E}">
        <p14:creationId xmlns:p14="http://schemas.microsoft.com/office/powerpoint/2010/main" val="40812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 smtClean="0">
                <a:effectLst/>
                <a:latin typeface="+mn-ea"/>
                <a:ea typeface="+mn-ea"/>
              </a:rPr>
              <a:t>現時点での改善点</a:t>
            </a:r>
            <a:endParaRPr kumimoji="1" lang="ja-JP" altLang="en-US" b="1" dirty="0">
              <a:effectLst/>
              <a:latin typeface="+mn-ea"/>
              <a:ea typeface="+mn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/>
            <a:r>
              <a:rPr kumimoji="1" lang="ja-JP" altLang="en-US" sz="4400" b="1" dirty="0" smtClean="0">
                <a:latin typeface="+mn-ea"/>
              </a:rPr>
              <a:t>ゲーム画面のデザインの改善</a:t>
            </a:r>
            <a:endParaRPr kumimoji="1" lang="en-US" altLang="ja-JP" sz="4400" b="1" dirty="0" smtClean="0">
              <a:latin typeface="+mn-ea"/>
            </a:endParaRPr>
          </a:p>
          <a:p>
            <a:pPr marL="571500" indent="-571500"/>
            <a:r>
              <a:rPr lang="ja-JP" altLang="en-US" sz="4400" b="1" dirty="0" smtClean="0">
                <a:latin typeface="+mn-ea"/>
              </a:rPr>
              <a:t>ユーザーが理解しにくい機能の改善</a:t>
            </a:r>
            <a:endParaRPr lang="en-US" altLang="ja-JP" sz="4400" b="1" dirty="0" smtClean="0">
              <a:latin typeface="+mn-ea"/>
            </a:endParaRPr>
          </a:p>
          <a:p>
            <a:pPr marL="571500" indent="-571500"/>
            <a:r>
              <a:rPr kumimoji="1" lang="en-US" altLang="ja-JP" sz="4400" b="1" dirty="0" smtClean="0">
                <a:latin typeface="+mn-ea"/>
              </a:rPr>
              <a:t>Android</a:t>
            </a:r>
            <a:r>
              <a:rPr kumimoji="1" lang="ja-JP" altLang="en-US" sz="4400" b="1" dirty="0" smtClean="0">
                <a:latin typeface="+mn-ea"/>
              </a:rPr>
              <a:t>のタッチパネルに対応した機能の追加</a:t>
            </a:r>
            <a:endParaRPr kumimoji="1" lang="ja-JP" altLang="en-US" sz="4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748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 smtClean="0">
                <a:effectLst/>
                <a:latin typeface="+mn-ea"/>
                <a:ea typeface="+mn-ea"/>
              </a:rPr>
              <a:t>今後の作業予定</a:t>
            </a:r>
            <a:endParaRPr kumimoji="1" lang="ja-JP" altLang="en-US" b="1" dirty="0">
              <a:effectLst/>
              <a:latin typeface="+mn-ea"/>
              <a:ea typeface="+mn-ea"/>
            </a:endParaRPr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808045"/>
              </p:ext>
            </p:extLst>
          </p:nvPr>
        </p:nvGraphicFramePr>
        <p:xfrm>
          <a:off x="467544" y="1844824"/>
          <a:ext cx="8229600" cy="4008168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450505"/>
                <a:gridCol w="6779095"/>
              </a:tblGrid>
              <a:tr h="648072">
                <a:tc>
                  <a:txBody>
                    <a:bodyPr/>
                    <a:lstStyle/>
                    <a:p>
                      <a:r>
                        <a:rPr kumimoji="1" lang="ja-JP" altLang="en-US" sz="2800" b="1" dirty="0" smtClean="0"/>
                        <a:t>月</a:t>
                      </a:r>
                      <a:endParaRPr kumimoji="1" lang="ja-JP" altLang="en-US" sz="2800" b="1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1" dirty="0" smtClean="0"/>
                        <a:t>予定</a:t>
                      </a:r>
                      <a:endParaRPr kumimoji="1" lang="ja-JP" altLang="en-US" sz="2800" b="1" dirty="0"/>
                    </a:p>
                  </a:txBody>
                  <a:tcPr marL="91439" marR="91439"/>
                </a:tc>
              </a:tr>
              <a:tr h="850424">
                <a:tc>
                  <a:txBody>
                    <a:bodyPr/>
                    <a:lstStyle/>
                    <a:p>
                      <a:r>
                        <a:rPr kumimoji="1" lang="en-US" altLang="ja-JP" sz="2800" b="1" dirty="0" smtClean="0"/>
                        <a:t>12</a:t>
                      </a:r>
                      <a:r>
                        <a:rPr kumimoji="1" lang="ja-JP" altLang="en-US" sz="2800" b="1" dirty="0" smtClean="0"/>
                        <a:t>・</a:t>
                      </a:r>
                      <a:r>
                        <a:rPr kumimoji="1" lang="en-US" altLang="ja-JP" sz="2800" b="1" dirty="0" smtClean="0"/>
                        <a:t>1</a:t>
                      </a:r>
                      <a:r>
                        <a:rPr kumimoji="1" lang="ja-JP" altLang="en-US" sz="2800" b="1" dirty="0" smtClean="0"/>
                        <a:t>月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1" dirty="0" smtClean="0">
                          <a:solidFill>
                            <a:schemeClr val="tx1"/>
                          </a:solidFill>
                        </a:rPr>
                        <a:t>機能の追加と改善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</a:tr>
              <a:tr h="850424">
                <a:tc>
                  <a:txBody>
                    <a:bodyPr/>
                    <a:lstStyle/>
                    <a:p>
                      <a:r>
                        <a:rPr kumimoji="1" lang="en-US" altLang="ja-JP" sz="2800" b="1" dirty="0" smtClean="0"/>
                        <a:t>2</a:t>
                      </a:r>
                      <a:r>
                        <a:rPr kumimoji="1" lang="ja-JP" altLang="en-US" sz="2800" b="1" dirty="0" smtClean="0"/>
                        <a:t>月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1" dirty="0" smtClean="0">
                          <a:solidFill>
                            <a:schemeClr val="tx1"/>
                          </a:solidFill>
                        </a:rPr>
                        <a:t>ゲーム画面のデザインの改善</a:t>
                      </a:r>
                      <a:endParaRPr kumimoji="1" lang="en-US" altLang="ja-JP" sz="2800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2800" b="1" dirty="0" smtClean="0">
                          <a:solidFill>
                            <a:schemeClr val="tx1"/>
                          </a:solidFill>
                        </a:rPr>
                        <a:t>アプリの完成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</a:tr>
              <a:tr h="1470336"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3</a:t>
                      </a:r>
                      <a:r>
                        <a:rPr kumimoji="1" lang="ja-JP" altLang="en-US" sz="2800" dirty="0" smtClean="0"/>
                        <a:t>月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1" dirty="0" smtClean="0">
                          <a:solidFill>
                            <a:schemeClr val="tx1"/>
                          </a:solidFill>
                        </a:rPr>
                        <a:t>卒業論文</a:t>
                      </a:r>
                      <a:endParaRPr kumimoji="1" lang="en-US" altLang="ja-JP" sz="2800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2800" b="1" dirty="0" smtClean="0">
                          <a:solidFill>
                            <a:schemeClr val="tx1"/>
                          </a:solidFill>
                        </a:rPr>
                        <a:t>発表</a:t>
                      </a:r>
                      <a:endParaRPr kumimoji="1" lang="en-US" altLang="ja-JP" sz="2800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2800" b="1" dirty="0" smtClean="0">
                          <a:solidFill>
                            <a:schemeClr val="tx1"/>
                          </a:solidFill>
                        </a:rPr>
                        <a:t>産技短展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53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effectLst/>
              </a:rPr>
              <a:t>まとめ</a:t>
            </a:r>
            <a:endParaRPr kumimoji="1" lang="ja-JP" altLang="en-US" b="1" dirty="0">
              <a:effectLst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4008" indent="0">
              <a:buNone/>
            </a:pPr>
            <a:r>
              <a:rPr kumimoji="1" lang="ja-JP" altLang="en-US" sz="4000" b="1" dirty="0" smtClean="0"/>
              <a:t>ユーザが理解しやすいように機能の改善、楽しんでもらえるようなゲームのシステムと画面</a:t>
            </a:r>
            <a:r>
              <a:rPr lang="ja-JP" altLang="en-US" sz="4000" b="1" dirty="0" smtClean="0"/>
              <a:t>のデザインを今後の研究で作っていきたい。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8295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 smtClean="0">
                <a:effectLst/>
              </a:rPr>
              <a:t>参考文献</a:t>
            </a:r>
            <a:endParaRPr kumimoji="1" lang="ja-JP" altLang="en-US" b="1" dirty="0">
              <a:effectLst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/>
              <a:t>秀和システム　出版</a:t>
            </a:r>
          </a:p>
          <a:p>
            <a:pPr marL="64008" indent="0">
              <a:buNone/>
            </a:pPr>
            <a:r>
              <a:rPr lang="ja-JP" altLang="en-US" b="1" dirty="0"/>
              <a:t>「</a:t>
            </a:r>
            <a:r>
              <a:rPr lang="ja-JP" altLang="en-US" b="1" dirty="0" smtClean="0"/>
              <a:t>見て</a:t>
            </a:r>
            <a:r>
              <a:rPr lang="ja-JP" altLang="en-US" b="1" dirty="0"/>
              <a:t>わかる</a:t>
            </a:r>
            <a:r>
              <a:rPr lang="en-US" altLang="ja-JP" b="1" dirty="0"/>
              <a:t>Unity5 C#</a:t>
            </a:r>
            <a:r>
              <a:rPr lang="ja-JP" altLang="en-US" b="1" dirty="0"/>
              <a:t>　超入門」</a:t>
            </a:r>
          </a:p>
          <a:p>
            <a:pPr marL="64008" indent="0">
              <a:buNone/>
            </a:pPr>
            <a:r>
              <a:rPr lang="ja-JP" altLang="en-US" b="1" dirty="0"/>
              <a:t>掌田　津耶乃　</a:t>
            </a:r>
            <a:r>
              <a:rPr lang="ja-JP" altLang="en-US" b="1" dirty="0" smtClean="0"/>
              <a:t>著</a:t>
            </a:r>
            <a:endParaRPr lang="en-US" altLang="ja-JP" b="1" dirty="0" smtClean="0"/>
          </a:p>
          <a:p>
            <a:r>
              <a:rPr lang="en-US" altLang="ja-JP" b="1" dirty="0"/>
              <a:t>SB Creative</a:t>
            </a:r>
            <a:r>
              <a:rPr lang="ja-JP" altLang="en-US" b="1" dirty="0"/>
              <a:t>　出版</a:t>
            </a:r>
          </a:p>
          <a:p>
            <a:pPr marL="64008" indent="0">
              <a:buNone/>
            </a:pPr>
            <a:r>
              <a:rPr lang="ja-JP" altLang="en-US" b="1" dirty="0"/>
              <a:t>「ゲームの作り方　改訂版　</a:t>
            </a:r>
            <a:r>
              <a:rPr lang="en-US" altLang="ja-JP" b="1" dirty="0"/>
              <a:t>Unity</a:t>
            </a:r>
            <a:r>
              <a:rPr lang="ja-JP" altLang="en-US" b="1" dirty="0"/>
              <a:t>で覚える遊びのアルゴリズム</a:t>
            </a:r>
            <a:r>
              <a:rPr lang="ja-JP" altLang="en-US" b="1" dirty="0" smtClean="0"/>
              <a:t>」</a:t>
            </a:r>
            <a:endParaRPr lang="en-US" altLang="ja-JP" b="1" dirty="0" smtClean="0"/>
          </a:p>
          <a:p>
            <a:pPr marL="64008" indent="0">
              <a:buNone/>
            </a:pPr>
            <a:r>
              <a:rPr lang="ja-JP" altLang="en-US" b="1" dirty="0" smtClean="0"/>
              <a:t>加藤</a:t>
            </a:r>
            <a:r>
              <a:rPr lang="ja-JP" altLang="en-US" b="1" dirty="0"/>
              <a:t>　政樹　著</a:t>
            </a:r>
          </a:p>
          <a:p>
            <a:pPr marL="64008" indent="0">
              <a:buNone/>
            </a:pP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815763"/>
            <a:ext cx="1625171" cy="2090104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725144"/>
            <a:ext cx="1512168" cy="195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9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 smtClean="0">
                <a:latin typeface="+mn-ea"/>
                <a:ea typeface="+mn-ea"/>
              </a:rPr>
              <a:t>参</a:t>
            </a:r>
            <a:r>
              <a:rPr lang="en-US" altLang="ja-JP" b="1" dirty="0" smtClean="0">
                <a:latin typeface="+mn-ea"/>
                <a:ea typeface="+mn-ea"/>
              </a:rPr>
              <a:t>.</a:t>
            </a:r>
            <a:r>
              <a:rPr lang="ja-JP" altLang="en-US" b="1" dirty="0" smtClean="0">
                <a:latin typeface="+mn-ea"/>
                <a:ea typeface="+mn-ea"/>
              </a:rPr>
              <a:t>考</a:t>
            </a:r>
            <a:r>
              <a:rPr lang="en-US" altLang="ja-JP" b="1" dirty="0" smtClean="0">
                <a:latin typeface="+mn-ea"/>
                <a:ea typeface="+mn-ea"/>
              </a:rPr>
              <a:t>web</a:t>
            </a:r>
            <a:r>
              <a:rPr lang="ja-JP" altLang="en-US" b="1" dirty="0" smtClean="0">
                <a:latin typeface="+mn-ea"/>
                <a:ea typeface="+mn-ea"/>
              </a:rPr>
              <a:t>ページ</a:t>
            </a:r>
            <a:endParaRPr kumimoji="1" lang="ja-JP" altLang="en-US" b="1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b="1" dirty="0">
                <a:latin typeface="+mn-ea"/>
              </a:rPr>
              <a:t>過去バージョンの</a:t>
            </a:r>
            <a:r>
              <a:rPr lang="en-US" altLang="ja-JP" sz="2800" b="1" dirty="0">
                <a:latin typeface="+mn-ea"/>
              </a:rPr>
              <a:t>Unity</a:t>
            </a:r>
            <a:r>
              <a:rPr lang="ja-JP" altLang="en-US" sz="2800" b="1" dirty="0">
                <a:latin typeface="+mn-ea"/>
              </a:rPr>
              <a:t>をインストール</a:t>
            </a:r>
          </a:p>
          <a:p>
            <a:pPr marL="64008" indent="0">
              <a:buNone/>
            </a:pPr>
            <a:r>
              <a:rPr lang="en-US" altLang="ja-JP" sz="2800" b="1" dirty="0">
                <a:latin typeface="+mn-ea"/>
                <a:hlinkClick r:id="rId2"/>
              </a:rPr>
              <a:t>https://</a:t>
            </a:r>
            <a:r>
              <a:rPr lang="en-US" altLang="ja-JP" sz="2800" b="1" dirty="0" smtClean="0">
                <a:latin typeface="+mn-ea"/>
                <a:hlinkClick r:id="rId2"/>
              </a:rPr>
              <a:t>unity3d.com/jp/get-unity/download/archive</a:t>
            </a:r>
            <a:endParaRPr lang="en-US" altLang="ja-JP" sz="2800" b="1" dirty="0" smtClean="0">
              <a:latin typeface="+mn-ea"/>
            </a:endParaRPr>
          </a:p>
          <a:p>
            <a:r>
              <a:rPr lang="en-US" altLang="ja-JP" sz="2800" b="1" dirty="0">
                <a:latin typeface="+mn-ea"/>
              </a:rPr>
              <a:t>Android SDK</a:t>
            </a:r>
            <a:r>
              <a:rPr lang="ja-JP" altLang="en-US" sz="2800" b="1" dirty="0">
                <a:latin typeface="+mn-ea"/>
              </a:rPr>
              <a:t>のインストール</a:t>
            </a:r>
          </a:p>
          <a:p>
            <a:pPr marL="64008" indent="0">
              <a:buNone/>
            </a:pPr>
            <a:r>
              <a:rPr lang="en-US" altLang="ja-JP" sz="2800" b="1" dirty="0">
                <a:latin typeface="+mn-ea"/>
                <a:hlinkClick r:id="rId3"/>
              </a:rPr>
              <a:t>https://</a:t>
            </a:r>
            <a:r>
              <a:rPr lang="en-US" altLang="ja-JP" sz="2800" b="1" dirty="0" smtClean="0">
                <a:latin typeface="+mn-ea"/>
                <a:hlinkClick r:id="rId3"/>
              </a:rPr>
              <a:t>developer.android.com/studio/index.html?hl=ja</a:t>
            </a:r>
            <a:endParaRPr lang="en-US" altLang="ja-JP" sz="2800" b="1" dirty="0" smtClean="0">
              <a:latin typeface="+mn-ea"/>
            </a:endParaRPr>
          </a:p>
          <a:p>
            <a:r>
              <a:rPr lang="en-US" altLang="ja-JP" sz="2800" b="1" dirty="0">
                <a:latin typeface="+mn-ea"/>
              </a:rPr>
              <a:t>[Unity]</a:t>
            </a:r>
            <a:r>
              <a:rPr lang="ja-JP" altLang="en-US" sz="2800" b="1" dirty="0">
                <a:latin typeface="+mn-ea"/>
              </a:rPr>
              <a:t>シンプルな音ゲーの作り方</a:t>
            </a:r>
          </a:p>
          <a:p>
            <a:pPr marL="64008" indent="0">
              <a:buNone/>
            </a:pPr>
            <a:r>
              <a:rPr lang="en-US" altLang="ja-JP" sz="2800" b="1" dirty="0">
                <a:latin typeface="+mn-ea"/>
                <a:hlinkClick r:id="rId4"/>
              </a:rPr>
              <a:t>http://</a:t>
            </a:r>
            <a:r>
              <a:rPr lang="en-US" altLang="ja-JP" sz="2800" b="1" dirty="0" smtClean="0">
                <a:latin typeface="+mn-ea"/>
                <a:hlinkClick r:id="rId4"/>
              </a:rPr>
              <a:t>qiita.com/Teach/items/12a2e3b2f8c09dbbc5bd</a:t>
            </a:r>
            <a:endParaRPr lang="en-US" altLang="ja-JP" sz="2800" b="1" dirty="0" smtClean="0">
              <a:latin typeface="+mn-ea"/>
            </a:endParaRPr>
          </a:p>
          <a:p>
            <a:pPr marL="64008" indent="0">
              <a:buNone/>
            </a:pPr>
            <a:endParaRPr lang="en-US" altLang="ja-JP" sz="2800" b="1" dirty="0">
              <a:latin typeface="+mn-ea"/>
            </a:endParaRPr>
          </a:p>
          <a:p>
            <a:endParaRPr kumimoji="1" lang="ja-JP" altLang="en-US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647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ネオン">
  <a:themeElements>
    <a:clrScheme name="ユーザー定義 3">
      <a:dk1>
        <a:sysClr val="windowText" lastClr="000000"/>
      </a:dk1>
      <a:lt1>
        <a:sysClr val="window" lastClr="FFFFFF"/>
      </a:lt1>
      <a:dk2>
        <a:srgbClr val="4C4C4C"/>
      </a:dk2>
      <a:lt2>
        <a:srgbClr val="696969"/>
      </a:lt2>
      <a:accent1>
        <a:srgbClr val="0192CD"/>
      </a:accent1>
      <a:accent2>
        <a:srgbClr val="A2E3FE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0192CD"/>
      </a:folHlink>
    </a:clrScheme>
    <a:fontScheme name="ネオン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ネオン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3006</TotalTime>
  <Words>593</Words>
  <Application>Microsoft Office PowerPoint</Application>
  <PresentationFormat>画面に合わせる (4:3)</PresentationFormat>
  <Paragraphs>117</Paragraphs>
  <Slides>29</Slides>
  <Notes>0</Notes>
  <HiddenSlides>0</HiddenSlides>
  <MMClips>1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0" baseType="lpstr">
      <vt:lpstr>ネオン</vt:lpstr>
      <vt:lpstr>12.Unityを使った 音楽ゲームアプリ開発</vt:lpstr>
      <vt:lpstr>発表の流れ</vt:lpstr>
      <vt:lpstr>はじめに</vt:lpstr>
      <vt:lpstr>目的</vt:lpstr>
      <vt:lpstr>研究概要</vt:lpstr>
      <vt:lpstr>Unityについて</vt:lpstr>
      <vt:lpstr>Unityについて</vt:lpstr>
      <vt:lpstr>AndroidSDKについて</vt:lpstr>
      <vt:lpstr>AndroidNDKについて</vt:lpstr>
      <vt:lpstr>シーンの作成</vt:lpstr>
      <vt:lpstr>シーンの作成</vt:lpstr>
      <vt:lpstr>①ゲームシーンの作成</vt:lpstr>
      <vt:lpstr>ゲームシーンの処理</vt:lpstr>
      <vt:lpstr>(1)譜面ファイルを読み込む</vt:lpstr>
      <vt:lpstr>(2)BGMを再生</vt:lpstr>
      <vt:lpstr>(3)タイミングに合わせてオブジェクトを生成</vt:lpstr>
      <vt:lpstr>(4)オブジェクトが降ってくるようにする</vt:lpstr>
      <vt:lpstr>(5)タイミングよく押したらスコアを加算する。</vt:lpstr>
      <vt:lpstr>②譜面作成用のシーンを作成</vt:lpstr>
      <vt:lpstr>譜面作成用のシーンの処理</vt:lpstr>
      <vt:lpstr>(1)BGMを流す</vt:lpstr>
      <vt:lpstr>(2)オブジェクト生成の時間と効果位置をCSVに書き込む</vt:lpstr>
      <vt:lpstr>(3)入力したキーによってオブジェクトの降下位置を変える</vt:lpstr>
      <vt:lpstr>PowerPoint プレゼンテーション</vt:lpstr>
      <vt:lpstr>現時点での改善点</vt:lpstr>
      <vt:lpstr>今後の作業予定</vt:lpstr>
      <vt:lpstr>まとめ</vt:lpstr>
      <vt:lpstr>参考文献</vt:lpstr>
      <vt:lpstr>参.考webページ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Unityを使った音楽ゲームアプリ開発</dc:title>
  <dc:creator>h27cis03</dc:creator>
  <cp:lastModifiedBy>h27cis03</cp:lastModifiedBy>
  <cp:revision>103</cp:revision>
  <cp:lastPrinted>2016-12-21T02:20:39Z</cp:lastPrinted>
  <dcterms:created xsi:type="dcterms:W3CDTF">2016-08-25T00:19:36Z</dcterms:created>
  <dcterms:modified xsi:type="dcterms:W3CDTF">2016-12-22T01:21:06Z</dcterms:modified>
</cp:coreProperties>
</file>