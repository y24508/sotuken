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30"/>
  </p:notesMasterIdLst>
  <p:handoutMasterIdLst>
    <p:handoutMasterId r:id="rId31"/>
  </p:handoutMasterIdLst>
  <p:sldIdLst>
    <p:sldId id="256" r:id="rId2"/>
    <p:sldId id="257" r:id="rId3"/>
    <p:sldId id="258" r:id="rId4"/>
    <p:sldId id="272" r:id="rId5"/>
    <p:sldId id="273" r:id="rId6"/>
    <p:sldId id="274" r:id="rId7"/>
    <p:sldId id="260" r:id="rId8"/>
    <p:sldId id="281" r:id="rId9"/>
    <p:sldId id="282" r:id="rId10"/>
    <p:sldId id="283" r:id="rId11"/>
    <p:sldId id="284" r:id="rId12"/>
    <p:sldId id="291" r:id="rId13"/>
    <p:sldId id="285" r:id="rId14"/>
    <p:sldId id="286" r:id="rId15"/>
    <p:sldId id="292" r:id="rId16"/>
    <p:sldId id="293" r:id="rId17"/>
    <p:sldId id="294" r:id="rId18"/>
    <p:sldId id="287" r:id="rId19"/>
    <p:sldId id="275" r:id="rId20"/>
    <p:sldId id="276" r:id="rId21"/>
    <p:sldId id="278" r:id="rId22"/>
    <p:sldId id="279" r:id="rId23"/>
    <p:sldId id="280" r:id="rId24"/>
    <p:sldId id="288" r:id="rId25"/>
    <p:sldId id="290" r:id="rId26"/>
    <p:sldId id="289" r:id="rId27"/>
    <p:sldId id="271" r:id="rId28"/>
    <p:sldId id="263" r:id="rId29"/>
  </p:sldIdLst>
  <p:sldSz cx="9144000" cy="6858000" type="screen4x3"/>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5" autoAdjust="0"/>
    <p:restoredTop sz="80841" autoAdjust="0"/>
  </p:normalViewPr>
  <p:slideViewPr>
    <p:cSldViewPr>
      <p:cViewPr varScale="1">
        <p:scale>
          <a:sx n="89" d="100"/>
          <a:sy n="89" d="100"/>
        </p:scale>
        <p:origin x="-114" y="-138"/>
      </p:cViewPr>
      <p:guideLst>
        <p:guide orient="horz" pos="2160"/>
        <p:guide pos="2880"/>
      </p:guideLst>
    </p:cSldViewPr>
  </p:slideViewPr>
  <p:outlineViewPr>
    <p:cViewPr>
      <p:scale>
        <a:sx n="33" d="100"/>
        <a:sy n="33" d="100"/>
      </p:scale>
      <p:origin x="0" y="816"/>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3" y="0"/>
            <a:ext cx="2918831" cy="493316"/>
          </a:xfrm>
          <a:prstGeom prst="rect">
            <a:avLst/>
          </a:prstGeom>
        </p:spPr>
        <p:txBody>
          <a:bodyPr vert="horz" lIns="91440" tIns="45720" rIns="91440" bIns="45720" rtlCol="0"/>
          <a:lstStyle>
            <a:lvl1pPr algn="r">
              <a:defRPr sz="1200"/>
            </a:lvl1pPr>
          </a:lstStyle>
          <a:p>
            <a:fld id="{D5FD75BA-37E6-4E03-97C1-866509F2FE1C}" type="datetimeFigureOut">
              <a:rPr kumimoji="1" lang="ja-JP" altLang="en-US" smtClean="0"/>
              <a:t>2016/12/22</a:t>
            </a:fld>
            <a:endParaRPr kumimoji="1" lang="ja-JP" altLang="en-US"/>
          </a:p>
        </p:txBody>
      </p:sp>
      <p:sp>
        <p:nvSpPr>
          <p:cNvPr id="4" name="フッター プレースホルダー 3"/>
          <p:cNvSpPr>
            <a:spLocks noGrp="1"/>
          </p:cNvSpPr>
          <p:nvPr>
            <p:ph type="ftr" sz="quarter" idx="2"/>
          </p:nvPr>
        </p:nvSpPr>
        <p:spPr>
          <a:xfrm>
            <a:off x="0" y="9371285"/>
            <a:ext cx="2918831" cy="493316"/>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3" y="9371285"/>
            <a:ext cx="2918831" cy="493316"/>
          </a:xfrm>
          <a:prstGeom prst="rect">
            <a:avLst/>
          </a:prstGeom>
        </p:spPr>
        <p:txBody>
          <a:bodyPr vert="horz" lIns="91440" tIns="45720" rIns="91440" bIns="45720" rtlCol="0" anchor="b"/>
          <a:lstStyle>
            <a:lvl1pPr algn="r">
              <a:defRPr sz="1200"/>
            </a:lvl1pPr>
          </a:lstStyle>
          <a:p>
            <a:fld id="{F06106C2-8D67-4967-9C09-AD7DC3EDC75C}" type="slidenum">
              <a:rPr kumimoji="1" lang="ja-JP" altLang="en-US" smtClean="0"/>
              <a:t>‹#›</a:t>
            </a:fld>
            <a:endParaRPr kumimoji="1" lang="ja-JP" altLang="en-US"/>
          </a:p>
        </p:txBody>
      </p:sp>
    </p:spTree>
    <p:extLst>
      <p:ext uri="{BB962C8B-B14F-4D97-AF65-F5344CB8AC3E}">
        <p14:creationId xmlns:p14="http://schemas.microsoft.com/office/powerpoint/2010/main" val="3167339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4763" y="0"/>
            <a:ext cx="2919412" cy="493713"/>
          </a:xfrm>
          <a:prstGeom prst="rect">
            <a:avLst/>
          </a:prstGeom>
        </p:spPr>
        <p:txBody>
          <a:bodyPr vert="horz" lIns="91440" tIns="45720" rIns="91440" bIns="45720" rtlCol="0"/>
          <a:lstStyle>
            <a:lvl1pPr algn="r">
              <a:defRPr sz="1200"/>
            </a:lvl1pPr>
          </a:lstStyle>
          <a:p>
            <a:fld id="{D70BA003-05A0-43D4-9869-9D268746C355}" type="datetimeFigureOut">
              <a:rPr kumimoji="1" lang="ja-JP" altLang="en-US" smtClean="0"/>
              <a:t>2016/12/22</a:t>
            </a:fld>
            <a:endParaRPr kumimoji="1" lang="ja-JP" altLang="en-US"/>
          </a:p>
        </p:txBody>
      </p:sp>
      <p:sp>
        <p:nvSpPr>
          <p:cNvPr id="4" name="スライド イメージ プレースホルダー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100" y="4686300"/>
            <a:ext cx="5389563" cy="4440238"/>
          </a:xfrm>
          <a:prstGeom prst="rect">
            <a:avLst/>
          </a:prstGeom>
        </p:spPr>
        <p:txBody>
          <a:bodyPr vert="horz" lIns="91440" tIns="45720" rIns="91440" bIns="45720" rtlCol="0"/>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ー 5"/>
          <p:cNvSpPr>
            <a:spLocks noGrp="1"/>
          </p:cNvSpPr>
          <p:nvPr>
            <p:ph type="ftr" sz="quarter" idx="4"/>
          </p:nvPr>
        </p:nvSpPr>
        <p:spPr>
          <a:xfrm>
            <a:off x="0" y="9371013"/>
            <a:ext cx="2919413" cy="49371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4763" y="9371013"/>
            <a:ext cx="2919412" cy="493712"/>
          </a:xfrm>
          <a:prstGeom prst="rect">
            <a:avLst/>
          </a:prstGeom>
        </p:spPr>
        <p:txBody>
          <a:bodyPr vert="horz" lIns="91440" tIns="45720" rIns="91440" bIns="45720" rtlCol="0" anchor="b"/>
          <a:lstStyle>
            <a:lvl1pPr algn="r">
              <a:defRPr sz="1200"/>
            </a:lvl1pPr>
          </a:lstStyle>
          <a:p>
            <a:fld id="{98700D67-1710-4CE9-AAB1-15063B88344B}" type="slidenum">
              <a:rPr kumimoji="1" lang="ja-JP" altLang="en-US" smtClean="0"/>
              <a:t>‹#›</a:t>
            </a:fld>
            <a:endParaRPr kumimoji="1" lang="ja-JP" altLang="en-US"/>
          </a:p>
        </p:txBody>
      </p:sp>
    </p:spTree>
    <p:extLst>
      <p:ext uri="{BB962C8B-B14F-4D97-AF65-F5344CB8AC3E}">
        <p14:creationId xmlns:p14="http://schemas.microsoft.com/office/powerpoint/2010/main" val="340865491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浜田凌太が「</a:t>
            </a:r>
            <a:r>
              <a:rPr kumimoji="1" lang="en-US" altLang="ja-JP" dirty="0" err="1" smtClean="0"/>
              <a:t>Arduino</a:t>
            </a:r>
            <a:r>
              <a:rPr kumimoji="1" lang="ja-JP" altLang="en-US" dirty="0" smtClean="0"/>
              <a:t>を使用してテーブルのバランスをとる装置の作成」について発表します。</a:t>
            </a:r>
            <a:endParaRPr kumimoji="1" lang="en-US" altLang="ja-JP" dirty="0" smtClean="0"/>
          </a:p>
          <a:p>
            <a:r>
              <a:rPr kumimoji="1" lang="ja-JP" altLang="en-US" dirty="0" smtClean="0"/>
              <a:t>担当教員は菅野研一先生です。</a:t>
            </a:r>
            <a:endParaRPr kumimoji="1" lang="ja-JP" altLang="en-US" dirty="0"/>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1</a:t>
            </a:fld>
            <a:endParaRPr kumimoji="1" lang="ja-JP" altLang="en-US"/>
          </a:p>
        </p:txBody>
      </p:sp>
    </p:spTree>
    <p:extLst>
      <p:ext uri="{BB962C8B-B14F-4D97-AF65-F5344CB8AC3E}">
        <p14:creationId xmlns:p14="http://schemas.microsoft.com/office/powerpoint/2010/main" val="433673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私は組み込みについて興味があり、卒業研究でなにか動く「物」を作りたいと思っていました。</a:t>
            </a:r>
            <a:endParaRPr kumimoji="1" lang="en-US" altLang="ja-JP" dirty="0" smtClean="0"/>
          </a:p>
          <a:p>
            <a:r>
              <a:rPr kumimoji="1" lang="ja-JP" altLang="en-US" dirty="0" smtClean="0"/>
              <a:t>動画サイトを見ていたところ「コップの水がこぼれない車載テーブル」を見て興味を抱き、作成してみることにしました。</a:t>
            </a:r>
            <a:endParaRPr kumimoji="1" lang="ja-JP" altLang="en-US" dirty="0"/>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2</a:t>
            </a:fld>
            <a:endParaRPr kumimoji="1" lang="ja-JP" altLang="en-US"/>
          </a:p>
        </p:txBody>
      </p:sp>
    </p:spTree>
    <p:extLst>
      <p:ext uri="{BB962C8B-B14F-4D97-AF65-F5344CB8AC3E}">
        <p14:creationId xmlns:p14="http://schemas.microsoft.com/office/powerpoint/2010/main" val="621342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t>OS</a:t>
            </a:r>
            <a:r>
              <a:rPr kumimoji="1" lang="ja-JP" altLang="en-US" dirty="0" smtClean="0"/>
              <a:t>は</a:t>
            </a:r>
            <a:r>
              <a:rPr kumimoji="1" lang="en-US" altLang="ja-JP" dirty="0" smtClean="0"/>
              <a:t>Windows7</a:t>
            </a:r>
            <a:r>
              <a:rPr kumimoji="1" lang="ja-JP" altLang="en-US" dirty="0" smtClean="0"/>
              <a:t>上で</a:t>
            </a:r>
            <a:r>
              <a:rPr kumimoji="1" lang="en-US" altLang="ja-JP" dirty="0" err="1" smtClean="0"/>
              <a:t>ArduinoIDE</a:t>
            </a:r>
            <a:r>
              <a:rPr kumimoji="1" lang="ja-JP" altLang="en-US" dirty="0" smtClean="0"/>
              <a:t>を使用しています。</a:t>
            </a:r>
            <a:r>
              <a:rPr kumimoji="1" lang="en-US" altLang="ja-JP" dirty="0" err="1" smtClean="0"/>
              <a:t>ArduinoIDE</a:t>
            </a:r>
            <a:r>
              <a:rPr kumimoji="1" lang="ja-JP" altLang="en-US" dirty="0" smtClean="0"/>
              <a:t>は</a:t>
            </a:r>
            <a:r>
              <a:rPr kumimoji="1" lang="en-US" altLang="ja-JP" dirty="0" smtClean="0"/>
              <a:t>C/C++</a:t>
            </a:r>
            <a:r>
              <a:rPr kumimoji="1" lang="ja-JP" altLang="en-US" dirty="0" smtClean="0"/>
              <a:t>で書かれています。</a:t>
            </a:r>
            <a:endParaRPr kumimoji="1" lang="ja-JP" altLang="en-US" dirty="0"/>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3</a:t>
            </a:fld>
            <a:endParaRPr kumimoji="1" lang="ja-JP" altLang="en-US"/>
          </a:p>
        </p:txBody>
      </p:sp>
    </p:spTree>
    <p:extLst>
      <p:ext uri="{BB962C8B-B14F-4D97-AF65-F5344CB8AC3E}">
        <p14:creationId xmlns:p14="http://schemas.microsoft.com/office/powerpoint/2010/main" val="1917001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作成物について説明します。パワーポイントの図、手元の資料の完成イメージのものを作成予定です。グレーの部分はアクリル板、黒の部分はスペーサーを使用します。</a:t>
            </a:r>
            <a:endParaRPr kumimoji="1" lang="en-US" altLang="ja-JP" dirty="0" smtClean="0"/>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4</a:t>
            </a:fld>
            <a:endParaRPr kumimoji="1" lang="ja-JP" altLang="en-US"/>
          </a:p>
        </p:txBody>
      </p:sp>
    </p:spTree>
    <p:extLst>
      <p:ext uri="{BB962C8B-B14F-4D97-AF65-F5344CB8AC3E}">
        <p14:creationId xmlns:p14="http://schemas.microsoft.com/office/powerpoint/2010/main" val="3632688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5</a:t>
            </a:fld>
            <a:endParaRPr kumimoji="1" lang="ja-JP" altLang="en-US"/>
          </a:p>
        </p:txBody>
      </p:sp>
    </p:spTree>
    <p:extLst>
      <p:ext uri="{BB962C8B-B14F-4D97-AF65-F5344CB8AC3E}">
        <p14:creationId xmlns:p14="http://schemas.microsoft.com/office/powerpoint/2010/main" val="4087677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6</a:t>
            </a:fld>
            <a:endParaRPr kumimoji="1" lang="ja-JP" altLang="en-US"/>
          </a:p>
        </p:txBody>
      </p:sp>
    </p:spTree>
    <p:extLst>
      <p:ext uri="{BB962C8B-B14F-4D97-AF65-F5344CB8AC3E}">
        <p14:creationId xmlns:p14="http://schemas.microsoft.com/office/powerpoint/2010/main" val="291535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7</a:t>
            </a:fld>
            <a:endParaRPr kumimoji="1" lang="ja-JP" altLang="en-US"/>
          </a:p>
        </p:txBody>
      </p:sp>
    </p:spTree>
    <p:extLst>
      <p:ext uri="{BB962C8B-B14F-4D97-AF65-F5344CB8AC3E}">
        <p14:creationId xmlns:p14="http://schemas.microsoft.com/office/powerpoint/2010/main" val="2106968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8</a:t>
            </a:fld>
            <a:endParaRPr kumimoji="1" lang="ja-JP" altLang="en-US"/>
          </a:p>
        </p:txBody>
      </p:sp>
    </p:spTree>
    <p:extLst>
      <p:ext uri="{BB962C8B-B14F-4D97-AF65-F5344CB8AC3E}">
        <p14:creationId xmlns:p14="http://schemas.microsoft.com/office/powerpoint/2010/main" val="42364464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9</a:t>
            </a:fld>
            <a:endParaRPr kumimoji="1" lang="ja-JP" altLang="en-US"/>
          </a:p>
        </p:txBody>
      </p:sp>
    </p:spTree>
    <p:extLst>
      <p:ext uri="{BB962C8B-B14F-4D97-AF65-F5344CB8AC3E}">
        <p14:creationId xmlns:p14="http://schemas.microsoft.com/office/powerpoint/2010/main" val="37970054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10</a:t>
            </a:fld>
            <a:endParaRPr kumimoji="1" lang="ja-JP" altLang="en-US"/>
          </a:p>
        </p:txBody>
      </p:sp>
    </p:spTree>
    <p:extLst>
      <p:ext uri="{BB962C8B-B14F-4D97-AF65-F5344CB8AC3E}">
        <p14:creationId xmlns:p14="http://schemas.microsoft.com/office/powerpoint/2010/main" val="24757409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smtClean="0"/>
              <a:t>AC</a:t>
            </a:r>
            <a:r>
              <a:rPr kumimoji="1" lang="ja-JP" altLang="en-US" dirty="0" smtClean="0"/>
              <a:t>（直流）　</a:t>
            </a:r>
            <a:r>
              <a:rPr kumimoji="1" lang="en-US" altLang="ja-JP" dirty="0" smtClean="0"/>
              <a:t>DC</a:t>
            </a:r>
            <a:r>
              <a:rPr kumimoji="1" lang="ja-JP" altLang="en-US" dirty="0" smtClean="0"/>
              <a:t>（交流）</a:t>
            </a:r>
            <a:endParaRPr kumimoji="1" lang="ja-JP" altLang="en-US" dirty="0"/>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11</a:t>
            </a:fld>
            <a:endParaRPr kumimoji="1" lang="ja-JP" altLang="en-US"/>
          </a:p>
        </p:txBody>
      </p:sp>
    </p:spTree>
    <p:extLst>
      <p:ext uri="{BB962C8B-B14F-4D97-AF65-F5344CB8AC3E}">
        <p14:creationId xmlns:p14="http://schemas.microsoft.com/office/powerpoint/2010/main" val="5463522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スイッチング電圧を使って安定した電圧を流すことによって、回路を正常に動かすことができます。今回は、作る装置が比較的小型のものを作りたかったので、小型軽量化と発熱が少なくて済むスイッチング電源を使用することにしました。</a:t>
            </a:r>
            <a:endParaRPr kumimoji="1" lang="ja-JP" altLang="en-US" dirty="0"/>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12</a:t>
            </a:fld>
            <a:endParaRPr kumimoji="1" lang="ja-JP" altLang="en-US"/>
          </a:p>
        </p:txBody>
      </p:sp>
    </p:spTree>
    <p:extLst>
      <p:ext uri="{BB962C8B-B14F-4D97-AF65-F5344CB8AC3E}">
        <p14:creationId xmlns:p14="http://schemas.microsoft.com/office/powerpoint/2010/main" val="884631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smtClean="0"/>
              <a:t>エンコーダから角度を読み込み</a:t>
            </a:r>
            <a:r>
              <a:rPr kumimoji="1" lang="en-US" altLang="ja-JP" dirty="0" smtClean="0"/>
              <a:t>Arduino</a:t>
            </a:r>
            <a:r>
              <a:rPr kumimoji="1" lang="ja-JP" altLang="en-US" dirty="0" smtClean="0"/>
              <a:t>で位置を調整してサーボモーターを動作させる</a:t>
            </a:r>
            <a:endParaRPr kumimoji="1" lang="ja-JP" altLang="en-US" dirty="0"/>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13</a:t>
            </a:fld>
            <a:endParaRPr kumimoji="1" lang="ja-JP" altLang="en-US"/>
          </a:p>
        </p:txBody>
      </p:sp>
    </p:spTree>
    <p:extLst>
      <p:ext uri="{BB962C8B-B14F-4D97-AF65-F5344CB8AC3E}">
        <p14:creationId xmlns:p14="http://schemas.microsoft.com/office/powerpoint/2010/main" val="31403105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14</a:t>
            </a:fld>
            <a:endParaRPr kumimoji="1" lang="ja-JP" altLang="en-US"/>
          </a:p>
        </p:txBody>
      </p:sp>
    </p:spTree>
    <p:extLst>
      <p:ext uri="{BB962C8B-B14F-4D97-AF65-F5344CB8AC3E}">
        <p14:creationId xmlns:p14="http://schemas.microsoft.com/office/powerpoint/2010/main" val="6125210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b="0" i="0" kern="1200" dirty="0" smtClean="0">
                <a:solidFill>
                  <a:schemeClr val="tx1"/>
                </a:solidFill>
                <a:effectLst/>
                <a:latin typeface="+mn-lt"/>
                <a:ea typeface="+mn-ea"/>
                <a:cs typeface="+mn-cs"/>
              </a:rPr>
              <a:t>k</a:t>
            </a:r>
            <a:r>
              <a:rPr kumimoji="1" lang="ja-JP" altLang="en-US" sz="1200" b="0" i="0" kern="1200" dirty="0" smtClean="0">
                <a:solidFill>
                  <a:schemeClr val="tx1"/>
                </a:solidFill>
                <a:effectLst/>
                <a:latin typeface="+mn-lt"/>
                <a:ea typeface="+mn-ea"/>
                <a:cs typeface="+mn-cs"/>
              </a:rPr>
              <a:t>はバネ係数で</a:t>
            </a:r>
            <a:r>
              <a:rPr kumimoji="1" lang="en-US" altLang="ja-JP" sz="1200" b="0" i="0" kern="1200" dirty="0" smtClean="0">
                <a:solidFill>
                  <a:schemeClr val="tx1"/>
                </a:solidFill>
                <a:effectLst/>
                <a:latin typeface="+mn-lt"/>
                <a:ea typeface="+mn-ea"/>
                <a:cs typeface="+mn-cs"/>
              </a:rPr>
              <a:t>x</a:t>
            </a:r>
            <a:r>
              <a:rPr kumimoji="1" lang="ja-JP" altLang="en-US" sz="1200" b="0" i="0" kern="1200" dirty="0" smtClean="0">
                <a:solidFill>
                  <a:schemeClr val="tx1"/>
                </a:solidFill>
                <a:effectLst/>
                <a:latin typeface="+mn-lt"/>
                <a:ea typeface="+mn-ea"/>
                <a:cs typeface="+mn-cs"/>
              </a:rPr>
              <a:t>はバネの伸縮距離です。式（</a:t>
            </a:r>
            <a:r>
              <a:rPr kumimoji="1" lang="en-US" altLang="ja-JP" sz="1200" b="0" i="0" kern="1200" dirty="0" smtClean="0">
                <a:solidFill>
                  <a:schemeClr val="tx1"/>
                </a:solidFill>
                <a:effectLst/>
                <a:latin typeface="+mn-lt"/>
                <a:ea typeface="+mn-ea"/>
                <a:cs typeface="+mn-cs"/>
              </a:rPr>
              <a:t>3</a:t>
            </a:r>
            <a:r>
              <a:rPr kumimoji="1" lang="ja-JP" altLang="en-US" sz="1200" b="0" i="0" kern="1200" dirty="0" smtClean="0">
                <a:solidFill>
                  <a:schemeClr val="tx1"/>
                </a:solidFill>
                <a:effectLst/>
                <a:latin typeface="+mn-lt"/>
                <a:ea typeface="+mn-ea"/>
                <a:cs typeface="+mn-cs"/>
              </a:rPr>
              <a:t>）より、加速度は既知のバネ係数と重さを持った重りの移動距離を計測することで計算が可能であることが分かります。</a:t>
            </a:r>
            <a:endParaRPr kumimoji="1" lang="ja-JP" altLang="en-US" dirty="0"/>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16</a:t>
            </a:fld>
            <a:endParaRPr kumimoji="1" lang="ja-JP" altLang="en-US"/>
          </a:p>
        </p:txBody>
      </p:sp>
    </p:spTree>
    <p:extLst>
      <p:ext uri="{BB962C8B-B14F-4D97-AF65-F5344CB8AC3E}">
        <p14:creationId xmlns:p14="http://schemas.microsoft.com/office/powerpoint/2010/main" val="7563126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b="1" i="0" kern="1200" dirty="0" smtClean="0">
                <a:solidFill>
                  <a:schemeClr val="tx1"/>
                </a:solidFill>
                <a:effectLst/>
                <a:latin typeface="+mn-lt"/>
                <a:ea typeface="+mn-ea"/>
                <a:cs typeface="+mn-cs"/>
              </a:rPr>
              <a:t>I2C</a:t>
            </a:r>
            <a:r>
              <a:rPr kumimoji="1" lang="ja-JP" altLang="en-US" sz="1200" b="1" i="0" kern="1200" dirty="0" smtClean="0">
                <a:solidFill>
                  <a:schemeClr val="tx1"/>
                </a:solidFill>
                <a:effectLst/>
                <a:latin typeface="+mn-lt"/>
                <a:ea typeface="+mn-ea"/>
                <a:cs typeface="+mn-cs"/>
              </a:rPr>
              <a:t>の信号線はどこまで長くできますか？</a:t>
            </a:r>
          </a:p>
          <a:p>
            <a:r>
              <a:rPr kumimoji="1" lang="ja-JP" altLang="en-US" sz="1200" b="0" i="0" kern="1200" dirty="0" smtClean="0">
                <a:solidFill>
                  <a:schemeClr val="tx1"/>
                </a:solidFill>
                <a:effectLst/>
                <a:latin typeface="+mn-lt"/>
                <a:ea typeface="+mn-ea"/>
                <a:cs typeface="+mn-cs"/>
              </a:rPr>
              <a:t>通信速度やプルアップ抵抗にもよりますが、あまり長くはできません。</a:t>
            </a:r>
            <a:r>
              <a:rPr kumimoji="1" lang="en-US" altLang="ja-JP" sz="1200" b="0" i="0" kern="1200" dirty="0" smtClean="0">
                <a:solidFill>
                  <a:schemeClr val="tx1"/>
                </a:solidFill>
                <a:effectLst/>
                <a:latin typeface="+mn-lt"/>
                <a:ea typeface="+mn-ea"/>
                <a:cs typeface="+mn-cs"/>
              </a:rPr>
              <a:t>10cm-20cm</a:t>
            </a:r>
            <a:r>
              <a:rPr kumimoji="1" lang="ja-JP" altLang="en-US" sz="1200" b="0" i="0" kern="1200" dirty="0" smtClean="0">
                <a:solidFill>
                  <a:schemeClr val="tx1"/>
                </a:solidFill>
                <a:effectLst/>
                <a:latin typeface="+mn-lt"/>
                <a:ea typeface="+mn-ea"/>
                <a:cs typeface="+mn-cs"/>
              </a:rPr>
              <a:t>程度で使用するのが安全です。</a:t>
            </a:r>
            <a:endParaRPr kumimoji="1" lang="en-US" altLang="ja-JP" sz="1200" b="0" i="0" kern="1200" dirty="0" smtClean="0">
              <a:solidFill>
                <a:schemeClr val="tx1"/>
              </a:solidFill>
              <a:effectLst/>
              <a:latin typeface="+mn-lt"/>
              <a:ea typeface="+mn-ea"/>
              <a:cs typeface="+mn-cs"/>
            </a:endParaRPr>
          </a:p>
          <a:p>
            <a:r>
              <a:rPr kumimoji="1" lang="ja-JP" altLang="en-US" sz="1200" b="1" i="0" kern="1200" dirty="0" smtClean="0">
                <a:solidFill>
                  <a:schemeClr val="tx1"/>
                </a:solidFill>
                <a:effectLst/>
                <a:latin typeface="+mn-lt"/>
                <a:ea typeface="+mn-ea"/>
                <a:cs typeface="+mn-cs"/>
              </a:rPr>
              <a:t>通信速度はどのくらいですか？</a:t>
            </a:r>
          </a:p>
          <a:p>
            <a:r>
              <a:rPr kumimoji="1" lang="ja-JP" altLang="en-US" sz="1200" b="0" i="0" kern="1200" dirty="0" smtClean="0">
                <a:solidFill>
                  <a:schemeClr val="tx1"/>
                </a:solidFill>
                <a:effectLst/>
                <a:latin typeface="+mn-lt"/>
                <a:ea typeface="+mn-ea"/>
                <a:cs typeface="+mn-cs"/>
              </a:rPr>
              <a:t>バージョン</a:t>
            </a:r>
            <a:r>
              <a:rPr kumimoji="1" lang="en-US" altLang="ja-JP" sz="1200" b="0" i="0" kern="1200" dirty="0" smtClean="0">
                <a:solidFill>
                  <a:schemeClr val="tx1"/>
                </a:solidFill>
                <a:effectLst/>
                <a:latin typeface="+mn-lt"/>
                <a:ea typeface="+mn-ea"/>
                <a:cs typeface="+mn-cs"/>
              </a:rPr>
              <a:t>1.0</a:t>
            </a:r>
            <a:r>
              <a:rPr kumimoji="1" lang="ja-JP" altLang="en-US" sz="1200" b="0" i="0" kern="1200" dirty="0" smtClean="0">
                <a:solidFill>
                  <a:schemeClr val="tx1"/>
                </a:solidFill>
                <a:effectLst/>
                <a:latin typeface="+mn-lt"/>
                <a:ea typeface="+mn-ea"/>
                <a:cs typeface="+mn-cs"/>
              </a:rPr>
              <a:t>では </a:t>
            </a:r>
            <a:r>
              <a:rPr kumimoji="1" lang="en-US" altLang="ja-JP" sz="1200" b="0" i="0" kern="1200" dirty="0" smtClean="0">
                <a:solidFill>
                  <a:schemeClr val="tx1"/>
                </a:solidFill>
                <a:effectLst/>
                <a:latin typeface="+mn-lt"/>
                <a:ea typeface="+mn-ea"/>
                <a:cs typeface="+mn-cs"/>
              </a:rPr>
              <a:t>400kbps</a:t>
            </a:r>
            <a:r>
              <a:rPr kumimoji="1" lang="ja-JP" altLang="en-US" sz="1200" b="0" i="0" kern="1200" dirty="0" err="1" smtClean="0">
                <a:solidFill>
                  <a:schemeClr val="tx1"/>
                </a:solidFill>
                <a:effectLst/>
                <a:latin typeface="+mn-lt"/>
                <a:ea typeface="+mn-ea"/>
                <a:cs typeface="+mn-cs"/>
              </a:rPr>
              <a:t>、</a:t>
            </a:r>
            <a:r>
              <a:rPr kumimoji="1" lang="ja-JP" altLang="en-US" sz="1200" b="0" i="0" kern="1200" dirty="0" smtClean="0">
                <a:solidFill>
                  <a:schemeClr val="tx1"/>
                </a:solidFill>
                <a:effectLst/>
                <a:latin typeface="+mn-lt"/>
                <a:ea typeface="+mn-ea"/>
                <a:cs typeface="+mn-cs"/>
              </a:rPr>
              <a:t>バージョン</a:t>
            </a:r>
            <a:r>
              <a:rPr kumimoji="1" lang="en-US" altLang="ja-JP" sz="1200" b="0" i="0" kern="1200" dirty="0" smtClean="0">
                <a:solidFill>
                  <a:schemeClr val="tx1"/>
                </a:solidFill>
                <a:effectLst/>
                <a:latin typeface="+mn-lt"/>
                <a:ea typeface="+mn-ea"/>
                <a:cs typeface="+mn-cs"/>
              </a:rPr>
              <a:t>2.0</a:t>
            </a:r>
            <a:r>
              <a:rPr kumimoji="1" lang="ja-JP" altLang="en-US" sz="1200" b="0" i="0" kern="1200" dirty="0" smtClean="0">
                <a:solidFill>
                  <a:schemeClr val="tx1"/>
                </a:solidFill>
                <a:effectLst/>
                <a:latin typeface="+mn-lt"/>
                <a:ea typeface="+mn-ea"/>
                <a:cs typeface="+mn-cs"/>
              </a:rPr>
              <a:t>では </a:t>
            </a:r>
            <a:r>
              <a:rPr kumimoji="1" lang="en-US" altLang="ja-JP" sz="1200" b="0" i="0" kern="1200" dirty="0" smtClean="0">
                <a:solidFill>
                  <a:schemeClr val="tx1"/>
                </a:solidFill>
                <a:effectLst/>
                <a:latin typeface="+mn-lt"/>
                <a:ea typeface="+mn-ea"/>
                <a:cs typeface="+mn-cs"/>
              </a:rPr>
              <a:t>3.4Mbps </a:t>
            </a:r>
            <a:r>
              <a:rPr kumimoji="1" lang="ja-JP" altLang="en-US" sz="1200" b="0" i="0" kern="1200" dirty="0" smtClean="0">
                <a:solidFill>
                  <a:schemeClr val="tx1"/>
                </a:solidFill>
                <a:effectLst/>
                <a:latin typeface="+mn-lt"/>
                <a:ea typeface="+mn-ea"/>
                <a:cs typeface="+mn-cs"/>
              </a:rPr>
              <a:t>も規格化されています。</a:t>
            </a:r>
            <a:endParaRPr kumimoji="1" lang="en-US" altLang="ja-JP" sz="1200" b="0" i="0" kern="1200" dirty="0" smtClean="0">
              <a:solidFill>
                <a:schemeClr val="tx1"/>
              </a:solidFill>
              <a:effectLst/>
              <a:latin typeface="+mn-lt"/>
              <a:ea typeface="+mn-ea"/>
              <a:cs typeface="+mn-cs"/>
            </a:endParaRPr>
          </a:p>
          <a:p>
            <a:r>
              <a:rPr kumimoji="1" lang="en-US" altLang="ja-JP" sz="1200" b="0" i="0" kern="1200" dirty="0" smtClean="0">
                <a:solidFill>
                  <a:schemeClr val="tx1"/>
                </a:solidFill>
                <a:effectLst/>
                <a:latin typeface="+mn-lt"/>
                <a:ea typeface="+mn-ea"/>
                <a:cs typeface="+mn-cs"/>
              </a:rPr>
              <a:t>I2C</a:t>
            </a:r>
            <a:r>
              <a:rPr kumimoji="1" lang="ja-JP" altLang="en-US" sz="1200" b="0" i="0" kern="1200" dirty="0" smtClean="0">
                <a:solidFill>
                  <a:schemeClr val="tx1"/>
                </a:solidFill>
                <a:effectLst/>
                <a:latin typeface="+mn-lt"/>
                <a:ea typeface="+mn-ea"/>
                <a:cs typeface="+mn-cs"/>
              </a:rPr>
              <a:t>　アイスクウェアドシーと読む</a:t>
            </a:r>
            <a:endParaRPr kumimoji="1" lang="en-US" altLang="ja-JP" sz="1200" b="0" i="0" kern="1200" dirty="0" smtClean="0">
              <a:solidFill>
                <a:schemeClr val="tx1"/>
              </a:solidFill>
              <a:effectLst/>
              <a:latin typeface="+mn-lt"/>
              <a:ea typeface="+mn-ea"/>
              <a:cs typeface="+mn-cs"/>
            </a:endParaRPr>
          </a:p>
          <a:p>
            <a:r>
              <a:rPr kumimoji="1" lang="ja-JP" altLang="en-US" dirty="0" smtClean="0"/>
              <a:t>＜通信速度＞</a:t>
            </a:r>
          </a:p>
          <a:p>
            <a:r>
              <a:rPr kumimoji="1" lang="ja-JP" altLang="en-US" dirty="0" smtClean="0"/>
              <a:t>１．標準モード　</a:t>
            </a:r>
            <a:r>
              <a:rPr kumimoji="1" lang="en-US" altLang="ja-JP" dirty="0" smtClean="0"/>
              <a:t>100kbps</a:t>
            </a:r>
          </a:p>
          <a:p>
            <a:r>
              <a:rPr kumimoji="1" lang="ja-JP" altLang="en-US" dirty="0" smtClean="0"/>
              <a:t>２．ファーストモード　</a:t>
            </a:r>
            <a:r>
              <a:rPr kumimoji="1" lang="en-US" altLang="ja-JP" dirty="0" smtClean="0"/>
              <a:t>400kbps</a:t>
            </a:r>
          </a:p>
          <a:p>
            <a:r>
              <a:rPr lang="ja-JP" altLang="en-US" smtClean="0"/>
              <a:t>マスター（同期用クロック信号 およびデータの書込み・読み込みの指示を行う側） とスレーブ（受け側。設定の必要なし）を決める。</a:t>
            </a:r>
            <a:endParaRPr kumimoji="1" lang="ja-JP" altLang="en-US" dirty="0"/>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17</a:t>
            </a:fld>
            <a:endParaRPr kumimoji="1" lang="ja-JP" altLang="en-US"/>
          </a:p>
        </p:txBody>
      </p:sp>
    </p:spTree>
    <p:extLst>
      <p:ext uri="{BB962C8B-B14F-4D97-AF65-F5344CB8AC3E}">
        <p14:creationId xmlns:p14="http://schemas.microsoft.com/office/powerpoint/2010/main" val="25184091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18</a:t>
            </a:fld>
            <a:endParaRPr kumimoji="1" lang="ja-JP" altLang="en-US"/>
          </a:p>
        </p:txBody>
      </p:sp>
    </p:spTree>
    <p:extLst>
      <p:ext uri="{BB962C8B-B14F-4D97-AF65-F5344CB8AC3E}">
        <p14:creationId xmlns:p14="http://schemas.microsoft.com/office/powerpoint/2010/main" val="2723966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19</a:t>
            </a:fld>
            <a:endParaRPr kumimoji="1" lang="ja-JP" altLang="en-US"/>
          </a:p>
        </p:txBody>
      </p:sp>
    </p:spTree>
    <p:extLst>
      <p:ext uri="{BB962C8B-B14F-4D97-AF65-F5344CB8AC3E}">
        <p14:creationId xmlns:p14="http://schemas.microsoft.com/office/powerpoint/2010/main" val="13303268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20</a:t>
            </a:fld>
            <a:endParaRPr kumimoji="1" lang="ja-JP" altLang="en-US"/>
          </a:p>
        </p:txBody>
      </p:sp>
    </p:spTree>
    <p:extLst>
      <p:ext uri="{BB962C8B-B14F-4D97-AF65-F5344CB8AC3E}">
        <p14:creationId xmlns:p14="http://schemas.microsoft.com/office/powerpoint/2010/main" val="2566594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21</a:t>
            </a:fld>
            <a:endParaRPr kumimoji="1" lang="ja-JP" altLang="en-US"/>
          </a:p>
        </p:txBody>
      </p:sp>
    </p:spTree>
    <p:extLst>
      <p:ext uri="{BB962C8B-B14F-4D97-AF65-F5344CB8AC3E}">
        <p14:creationId xmlns:p14="http://schemas.microsoft.com/office/powerpoint/2010/main" val="30885175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22</a:t>
            </a:fld>
            <a:endParaRPr kumimoji="1" lang="ja-JP" altLang="en-US"/>
          </a:p>
        </p:txBody>
      </p:sp>
    </p:spTree>
    <p:extLst>
      <p:ext uri="{BB962C8B-B14F-4D97-AF65-F5344CB8AC3E}">
        <p14:creationId xmlns:p14="http://schemas.microsoft.com/office/powerpoint/2010/main" val="7150205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23</a:t>
            </a:fld>
            <a:endParaRPr kumimoji="1" lang="ja-JP" altLang="en-US"/>
          </a:p>
        </p:txBody>
      </p:sp>
    </p:spTree>
    <p:extLst>
      <p:ext uri="{BB962C8B-B14F-4D97-AF65-F5344CB8AC3E}">
        <p14:creationId xmlns:p14="http://schemas.microsoft.com/office/powerpoint/2010/main" val="1883162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24</a:t>
            </a:fld>
            <a:endParaRPr kumimoji="1" lang="ja-JP" altLang="en-US"/>
          </a:p>
        </p:txBody>
      </p:sp>
    </p:spTree>
    <p:extLst>
      <p:ext uri="{BB962C8B-B14F-4D97-AF65-F5344CB8AC3E}">
        <p14:creationId xmlns:p14="http://schemas.microsoft.com/office/powerpoint/2010/main" val="21847484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25</a:t>
            </a:fld>
            <a:endParaRPr kumimoji="1" lang="ja-JP" altLang="en-US"/>
          </a:p>
        </p:txBody>
      </p:sp>
    </p:spTree>
    <p:extLst>
      <p:ext uri="{BB962C8B-B14F-4D97-AF65-F5344CB8AC3E}">
        <p14:creationId xmlns:p14="http://schemas.microsoft.com/office/powerpoint/2010/main" val="10841032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26</a:t>
            </a:fld>
            <a:endParaRPr kumimoji="1" lang="ja-JP" altLang="en-US"/>
          </a:p>
        </p:txBody>
      </p:sp>
    </p:spTree>
    <p:extLst>
      <p:ext uri="{BB962C8B-B14F-4D97-AF65-F5344CB8AC3E}">
        <p14:creationId xmlns:p14="http://schemas.microsoft.com/office/powerpoint/2010/main" val="147924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27</a:t>
            </a:fld>
            <a:endParaRPr kumimoji="1" lang="ja-JP" altLang="en-US"/>
          </a:p>
        </p:txBody>
      </p:sp>
    </p:spTree>
    <p:extLst>
      <p:ext uri="{BB962C8B-B14F-4D97-AF65-F5344CB8AC3E}">
        <p14:creationId xmlns:p14="http://schemas.microsoft.com/office/powerpoint/2010/main" val="6350605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98700D67-1710-4CE9-AAB1-15063B88344B}" type="slidenum">
              <a:rPr kumimoji="1" lang="ja-JP" altLang="en-US" smtClean="0"/>
              <a:t>28</a:t>
            </a:fld>
            <a:endParaRPr kumimoji="1" lang="ja-JP" altLang="en-US"/>
          </a:p>
        </p:txBody>
      </p:sp>
    </p:spTree>
    <p:extLst>
      <p:ext uri="{BB962C8B-B14F-4D97-AF65-F5344CB8AC3E}">
        <p14:creationId xmlns:p14="http://schemas.microsoft.com/office/powerpoint/2010/main" val="1938839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ja-JP" altLang="en-US" smtClean="0"/>
              <a:t>マスター タイトルの書式設定</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en-US" dirty="0"/>
          </a:p>
        </p:txBody>
      </p:sp>
      <p:sp>
        <p:nvSpPr>
          <p:cNvPr id="4" name="Date Placeholder 3"/>
          <p:cNvSpPr>
            <a:spLocks noGrp="1"/>
          </p:cNvSpPr>
          <p:nvPr>
            <p:ph type="dt" sz="half" idx="10"/>
          </p:nvPr>
        </p:nvSpPr>
        <p:spPr/>
        <p:txBody>
          <a:bodyPr/>
          <a:lstStyle/>
          <a:p>
            <a:fld id="{8EFD69F4-0B24-4894-8DB0-26CC044C8FBB}" type="datetimeFigureOut">
              <a:rPr kumimoji="1" lang="ja-JP" altLang="en-US" smtClean="0"/>
              <a:t>2016/12/22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78E0B75-05FF-4BAC-8E3B-D3C09399455B}" type="slidenum">
              <a:rPr kumimoji="1" lang="ja-JP" altLang="en-US" smtClean="0"/>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
        <p:nvSpPr>
          <p:cNvPr id="4" name="Date Placeholder 3"/>
          <p:cNvSpPr>
            <a:spLocks noGrp="1"/>
          </p:cNvSpPr>
          <p:nvPr>
            <p:ph type="dt" sz="half" idx="10"/>
          </p:nvPr>
        </p:nvSpPr>
        <p:spPr/>
        <p:txBody>
          <a:bodyPr/>
          <a:lstStyle/>
          <a:p>
            <a:fld id="{8EFD69F4-0B24-4894-8DB0-26CC044C8FBB}" type="datetimeFigureOut">
              <a:rPr kumimoji="1" lang="ja-JP" altLang="en-US" smtClean="0"/>
              <a:t>2016/12/22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78E0B75-05FF-4BAC-8E3B-D3C09399455B}" type="slidenum">
              <a:rPr kumimoji="1" lang="ja-JP" altLang="en-US" smtClean="0"/>
              <a:t>‹#›</a:t>
            </a:fld>
            <a:endParaRPr kumimoji="1" lang="ja-JP" altLang="en-US"/>
          </a:p>
        </p:txBody>
      </p:sp>
      <p:sp>
        <p:nvSpPr>
          <p:cNvPr id="7" name="Title 6"/>
          <p:cNvSpPr>
            <a:spLocks noGrp="1"/>
          </p:cNvSpPr>
          <p:nvPr>
            <p:ph type="title"/>
          </p:nvPr>
        </p:nvSpPr>
        <p:spPr/>
        <p:txBody>
          <a:bodyPr/>
          <a:lstStyle/>
          <a:p>
            <a:r>
              <a:rPr lang="ja-JP" altLang="en-US" smtClean="0"/>
              <a:t>マスター タイトルの書式設定</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ja-JP" altLang="en-US" smtClean="0"/>
              <a:t>マスター タイトルの書式設定</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Date Placeholder 3"/>
          <p:cNvSpPr>
            <a:spLocks noGrp="1"/>
          </p:cNvSpPr>
          <p:nvPr>
            <p:ph type="dt" sz="half" idx="10"/>
          </p:nvPr>
        </p:nvSpPr>
        <p:spPr/>
        <p:txBody>
          <a:bodyPr/>
          <a:lstStyle/>
          <a:p>
            <a:fld id="{8EFD69F4-0B24-4894-8DB0-26CC044C8FBB}" type="datetimeFigureOut">
              <a:rPr kumimoji="1" lang="ja-JP" altLang="en-US" smtClean="0"/>
              <a:t>2016/12/22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78E0B75-05FF-4BAC-8E3B-D3C09399455B}" type="slidenum">
              <a:rPr kumimoji="1" lang="ja-JP" altLang="en-US" smtClean="0"/>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5" name="Date Placeholder 4"/>
          <p:cNvSpPr>
            <a:spLocks noGrp="1"/>
          </p:cNvSpPr>
          <p:nvPr>
            <p:ph type="dt" sz="half" idx="10"/>
          </p:nvPr>
        </p:nvSpPr>
        <p:spPr/>
        <p:txBody>
          <a:bodyPr/>
          <a:lstStyle/>
          <a:p>
            <a:fld id="{8EFD69F4-0B24-4894-8DB0-26CC044C8FBB}" type="datetimeFigureOut">
              <a:rPr kumimoji="1" lang="ja-JP" altLang="en-US" smtClean="0"/>
              <a:t>2016/12/22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78E0B75-05FF-4BAC-8E3B-D3C09399455B}" type="slidenum">
              <a:rPr kumimoji="1" lang="ja-JP" altLang="en-US" smtClean="0"/>
              <a:t>‹#›</a:t>
            </a:fld>
            <a:endParaRPr kumimoji="1" lang="ja-JP" altLang="en-US"/>
          </a:p>
        </p:txBody>
      </p:sp>
      <p:sp>
        <p:nvSpPr>
          <p:cNvPr id="9" name="Content Placeholder 8"/>
          <p:cNvSpPr>
            <a:spLocks noGrp="1"/>
          </p:cNvSpPr>
          <p:nvPr>
            <p:ph sz="quarter" idx="13"/>
          </p:nvPr>
        </p:nvSpPr>
        <p:spPr>
          <a:xfrm>
            <a:off x="676655" y="2679192"/>
            <a:ext cx="3822192" cy="3447288"/>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smtClean="0"/>
              <a:t>マスター タイトルの書式設定</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
        <p:nvSpPr>
          <p:cNvPr id="7" name="Date Placeholder 6"/>
          <p:cNvSpPr>
            <a:spLocks noGrp="1"/>
          </p:cNvSpPr>
          <p:nvPr>
            <p:ph type="dt" sz="half" idx="10"/>
          </p:nvPr>
        </p:nvSpPr>
        <p:spPr/>
        <p:txBody>
          <a:bodyPr/>
          <a:lstStyle/>
          <a:p>
            <a:fld id="{8EFD69F4-0B24-4894-8DB0-26CC044C8FBB}" type="datetimeFigureOut">
              <a:rPr kumimoji="1" lang="ja-JP" altLang="en-US" smtClean="0"/>
              <a:t>2016/12/22</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78E0B75-05FF-4BAC-8E3B-D3C09399455B}" type="slidenum">
              <a:rPr kumimoji="1" lang="ja-JP" altLang="en-US" smtClean="0"/>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3" name="Date Placeholder 2"/>
          <p:cNvSpPr>
            <a:spLocks noGrp="1"/>
          </p:cNvSpPr>
          <p:nvPr>
            <p:ph type="dt" sz="half" idx="10"/>
          </p:nvPr>
        </p:nvSpPr>
        <p:spPr/>
        <p:txBody>
          <a:bodyPr/>
          <a:lstStyle/>
          <a:p>
            <a:fld id="{8EFD69F4-0B24-4894-8DB0-26CC044C8FBB}" type="datetimeFigureOut">
              <a:rPr kumimoji="1" lang="ja-JP" altLang="en-US" smtClean="0"/>
              <a:t>2016/12/22</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878E0B75-05FF-4BAC-8E3B-D3C09399455B}" type="slidenum">
              <a:rPr kumimoji="1" lang="ja-JP" altLang="en-US" smtClean="0"/>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8EFD69F4-0B24-4894-8DB0-26CC044C8FBB}" type="datetimeFigureOut">
              <a:rPr kumimoji="1" lang="ja-JP" altLang="en-US" smtClean="0"/>
              <a:t>2016/12/22</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78E0B75-05FF-4BAC-8E3B-D3C09399455B}" type="slidenum">
              <a:rPr kumimoji="1" lang="ja-JP" altLang="en-US" smtClean="0"/>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10;コンテンツ">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8EFD69F4-0B24-4894-8DB0-26CC044C8FBB}" type="datetimeFigureOut">
              <a:rPr kumimoji="1" lang="ja-JP" altLang="en-US" smtClean="0"/>
              <a:t>2016/12/22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78E0B75-05FF-4BAC-8E3B-D3C09399455B}" type="slidenum">
              <a:rPr kumimoji="1" lang="ja-JP" altLang="en-US" smtClean="0"/>
              <a:t>‹#›</a:t>
            </a:fld>
            <a:endParaRPr kumimoji="1" lang="ja-JP"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ja-JP" altLang="en-US" smtClean="0"/>
              <a:t>マスター タイトルの書式設定</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ja-JP" altLang="en-US" smtClean="0"/>
              <a:t>マスター タイトルの書式設定</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Date Placeholder 4"/>
          <p:cNvSpPr>
            <a:spLocks noGrp="1"/>
          </p:cNvSpPr>
          <p:nvPr>
            <p:ph type="dt" sz="half" idx="10"/>
          </p:nvPr>
        </p:nvSpPr>
        <p:spPr/>
        <p:txBody>
          <a:bodyPr/>
          <a:lstStyle/>
          <a:p>
            <a:fld id="{8EFD69F4-0B24-4894-8DB0-26CC044C8FBB}" type="datetimeFigureOut">
              <a:rPr kumimoji="1" lang="ja-JP" altLang="en-US" smtClean="0"/>
              <a:t>2016/12/22</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78E0B75-05FF-4BAC-8E3B-D3C09399455B}" type="slidenum">
              <a:rPr kumimoji="1" lang="ja-JP" altLang="en-US" smtClean="0"/>
              <a:t>‹#›</a:t>
            </a:fld>
            <a:endParaRPr kumimoji="1" lang="ja-JP"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smtClean="0"/>
              <a:t>アイコンをクリックして図を追加</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マスター タイトルの書式設定</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a:p>
        </p:txBody>
      </p:sp>
      <p:sp>
        <p:nvSpPr>
          <p:cNvPr id="4" name="Date Placeholder 3"/>
          <p:cNvSpPr>
            <a:spLocks noGrp="1"/>
          </p:cNvSpPr>
          <p:nvPr>
            <p:ph type="dt" sz="half" idx="10"/>
          </p:nvPr>
        </p:nvSpPr>
        <p:spPr/>
        <p:txBody>
          <a:bodyPr/>
          <a:lstStyle/>
          <a:p>
            <a:fld id="{8EFD69F4-0B24-4894-8DB0-26CC044C8FBB}" type="datetimeFigureOut">
              <a:rPr kumimoji="1" lang="ja-JP" altLang="en-US" smtClean="0"/>
              <a:t>2016/12/22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78E0B75-05FF-4BAC-8E3B-D3C09399455B}" type="slidenum">
              <a:rPr kumimoji="1" lang="ja-JP" altLang="en-US" smtClean="0"/>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縦書きタイトルと&#10;縦書きテキスト">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8EFD69F4-0B24-4894-8DB0-26CC044C8FBB}" type="datetimeFigureOut">
              <a:rPr kumimoji="1" lang="ja-JP" altLang="en-US" smtClean="0"/>
              <a:t>2016/12/22</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78E0B75-05FF-4BAC-8E3B-D3C09399455B}" type="slidenum">
              <a:rPr kumimoji="1" lang="ja-JP" altLang="en-US" smtClean="0"/>
              <a:t>‹#›</a:t>
            </a:fld>
            <a:endParaRPr kumimoji="1" lang="ja-JP"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ja-JP" altLang="en-US" smtClean="0"/>
              <a:t>マスター タイトルの書式設定</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ja-JP" altLang="en-US" smtClean="0"/>
              <a:t>マスター タイトルの書式設定</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8EFD69F4-0B24-4894-8DB0-26CC044C8FBB}" type="datetimeFigureOut">
              <a:rPr kumimoji="1" lang="ja-JP" altLang="en-US" smtClean="0"/>
              <a:t>2016/12/22</a:t>
            </a:fld>
            <a:endParaRPr kumimoji="1" lang="ja-JP"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kumimoji="1" lang="ja-JP"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878E0B75-05FF-4BAC-8E3B-D3C09399455B}" type="slidenum">
              <a:rPr kumimoji="1" lang="ja-JP" altLang="en-US" smtClean="0"/>
              <a:t>‹#›</a:t>
            </a:fld>
            <a:endParaRPr kumimoji="1" lang="ja-JP"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en-US"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ctr" defTabSz="914400" rtl="0" eaLnBrk="1" latinLnBrk="0" hangingPunct="1">
        <a:spcBef>
          <a:spcPct val="0"/>
        </a:spcBef>
        <a:buNone/>
        <a:defRPr kumimoji="1" sz="4400" kern="1200">
          <a:solidFill>
            <a:srgbClr val="FFFFFF"/>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kumimoji="1"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kumimoji="1"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kumimoji="1"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kumimoji="1"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kumimoji="1"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kumimoji="1" sz="1400" kern="1200">
          <a:solidFill>
            <a:schemeClr val="tx2"/>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youtube.com/watch?v=-q7pv8vKH68"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hyperlink" Target="http://deviceplus.jp/hobby/entry013/" TargetMode="External"/><Relationship Id="rId4" Type="http://schemas.openxmlformats.org/officeDocument/2006/relationships/hyperlink" Target="http://mixi.jp/view_bbs.pl?comm_id=447391&amp;id=50273238" TargetMode="Externa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95536" y="1268760"/>
            <a:ext cx="8352928" cy="1793167"/>
          </a:xfrm>
        </p:spPr>
        <p:txBody>
          <a:bodyPr>
            <a:normAutofit/>
          </a:bodyPr>
          <a:lstStyle/>
          <a:p>
            <a:r>
              <a:rPr kumimoji="1" lang="en-US" altLang="ja-JP" dirty="0" smtClean="0"/>
              <a:t>Arduino</a:t>
            </a:r>
            <a:r>
              <a:rPr kumimoji="1" lang="ja-JP" altLang="en-US" dirty="0" smtClean="0"/>
              <a:t>を使用してテーブルの</a:t>
            </a:r>
            <a:r>
              <a:rPr kumimoji="1" lang="en-US" altLang="ja-JP" dirty="0" smtClean="0"/>
              <a:t/>
            </a:r>
            <a:br>
              <a:rPr kumimoji="1" lang="en-US" altLang="ja-JP" dirty="0" smtClean="0"/>
            </a:br>
            <a:r>
              <a:rPr kumimoji="1" lang="ja-JP" altLang="en-US" dirty="0" smtClean="0"/>
              <a:t>バランスをとる装置の作成</a:t>
            </a:r>
            <a:endParaRPr kumimoji="1" lang="ja-JP" altLang="en-US" dirty="0"/>
          </a:p>
        </p:txBody>
      </p:sp>
      <p:sp>
        <p:nvSpPr>
          <p:cNvPr id="3" name="サブタイトル 2"/>
          <p:cNvSpPr>
            <a:spLocks noGrp="1"/>
          </p:cNvSpPr>
          <p:nvPr>
            <p:ph type="subTitle" idx="1"/>
          </p:nvPr>
        </p:nvSpPr>
        <p:spPr/>
        <p:txBody>
          <a:bodyPr>
            <a:normAutofit/>
          </a:bodyPr>
          <a:lstStyle/>
          <a:p>
            <a:pPr algn="r"/>
            <a:r>
              <a:rPr kumimoji="1" lang="ja-JP" altLang="en-US" sz="3600" dirty="0" smtClean="0">
                <a:latin typeface="+mj-ea"/>
                <a:ea typeface="+mj-ea"/>
              </a:rPr>
              <a:t>濱田凌太</a:t>
            </a:r>
            <a:endParaRPr kumimoji="1" lang="en-US" altLang="ja-JP" sz="3600" dirty="0" smtClean="0">
              <a:latin typeface="+mj-ea"/>
              <a:ea typeface="+mj-ea"/>
            </a:endParaRPr>
          </a:p>
          <a:p>
            <a:pPr algn="r"/>
            <a:r>
              <a:rPr lang="ja-JP" altLang="en-US" sz="3600" dirty="0">
                <a:latin typeface="+mj-ea"/>
                <a:ea typeface="+mj-ea"/>
              </a:rPr>
              <a:t>担当</a:t>
            </a:r>
            <a:r>
              <a:rPr lang="ja-JP" altLang="en-US" sz="3600" dirty="0" smtClean="0">
                <a:latin typeface="+mj-ea"/>
                <a:ea typeface="+mj-ea"/>
              </a:rPr>
              <a:t>教員　菅野研一</a:t>
            </a:r>
            <a:endParaRPr kumimoji="1" lang="ja-JP" altLang="en-US" sz="3600" dirty="0">
              <a:latin typeface="+mj-ea"/>
              <a:ea typeface="+mj-ea"/>
            </a:endParaRPr>
          </a:p>
        </p:txBody>
      </p:sp>
    </p:spTree>
    <p:extLst>
      <p:ext uri="{BB962C8B-B14F-4D97-AF65-F5344CB8AC3E}">
        <p14:creationId xmlns:p14="http://schemas.microsoft.com/office/powerpoint/2010/main" val="5385206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827584" y="2636912"/>
            <a:ext cx="7772400" cy="4572000"/>
          </a:xfrm>
        </p:spPr>
        <p:txBody>
          <a:bodyPr>
            <a:normAutofit/>
          </a:bodyPr>
          <a:lstStyle/>
          <a:p>
            <a:pPr marL="0" indent="0">
              <a:buNone/>
            </a:pPr>
            <a:r>
              <a:rPr lang="ja-JP" altLang="en-US" sz="3600" dirty="0" smtClean="0"/>
              <a:t>・</a:t>
            </a:r>
            <a:r>
              <a:rPr lang="ja-JP" altLang="ja-JP" sz="3600" dirty="0" smtClean="0"/>
              <a:t>卒</a:t>
            </a:r>
            <a:r>
              <a:rPr lang="ja-JP" altLang="ja-JP" sz="3600" dirty="0"/>
              <a:t>研で何か動く「物」を作りたいと</a:t>
            </a:r>
            <a:r>
              <a:rPr lang="ja-JP" altLang="ja-JP" sz="3600" dirty="0" smtClean="0"/>
              <a:t>思</a:t>
            </a:r>
            <a:r>
              <a:rPr lang="ja-JP" altLang="en-US" sz="3600" dirty="0" smtClean="0"/>
              <a:t>った。</a:t>
            </a:r>
            <a:endParaRPr lang="en-US" altLang="ja-JP" sz="3600" dirty="0" smtClean="0"/>
          </a:p>
          <a:p>
            <a:pPr marL="0" indent="0">
              <a:buNone/>
            </a:pPr>
            <a:r>
              <a:rPr lang="ja-JP" altLang="en-US" sz="3600" dirty="0"/>
              <a:t>・</a:t>
            </a:r>
            <a:r>
              <a:rPr lang="ja-JP" altLang="ja-JP" sz="3600" dirty="0" smtClean="0"/>
              <a:t>動画</a:t>
            </a:r>
            <a:r>
              <a:rPr lang="ja-JP" altLang="ja-JP" sz="3600" dirty="0"/>
              <a:t>サイトを見ていた</a:t>
            </a:r>
            <a:r>
              <a:rPr lang="ja-JP" altLang="ja-JP" sz="3600" dirty="0" smtClean="0"/>
              <a:t>ところ「</a:t>
            </a:r>
            <a:r>
              <a:rPr lang="ja-JP" altLang="ja-JP" sz="3600" dirty="0"/>
              <a:t>コップの水がこぼれない車載テーブル」を見て興味を抱き、作成してみることに</a:t>
            </a:r>
            <a:r>
              <a:rPr lang="ja-JP" altLang="ja-JP" sz="3600" dirty="0" smtClean="0"/>
              <a:t>した</a:t>
            </a:r>
            <a:r>
              <a:rPr lang="ja-JP" altLang="en-US" sz="3600" dirty="0" smtClean="0"/>
              <a:t>。</a:t>
            </a:r>
            <a:endParaRPr kumimoji="1" lang="ja-JP" altLang="en-US" sz="3600" dirty="0"/>
          </a:p>
        </p:txBody>
      </p:sp>
      <p:sp>
        <p:nvSpPr>
          <p:cNvPr id="2" name="タイトル 1"/>
          <p:cNvSpPr>
            <a:spLocks noGrp="1"/>
          </p:cNvSpPr>
          <p:nvPr>
            <p:ph type="title"/>
          </p:nvPr>
        </p:nvSpPr>
        <p:spPr/>
        <p:txBody>
          <a:bodyPr/>
          <a:lstStyle/>
          <a:p>
            <a:r>
              <a:rPr kumimoji="1" lang="ja-JP" altLang="en-US" dirty="0" smtClean="0"/>
              <a:t>１</a:t>
            </a:r>
            <a:r>
              <a:rPr kumimoji="1" lang="en-US" altLang="ja-JP" dirty="0" smtClean="0"/>
              <a:t>.</a:t>
            </a:r>
            <a:r>
              <a:rPr kumimoji="1" lang="ja-JP" altLang="en-US" dirty="0" smtClean="0"/>
              <a:t>　はじめに</a:t>
            </a:r>
            <a:endParaRPr kumimoji="1" lang="ja-JP" altLang="en-US" dirty="0"/>
          </a:p>
        </p:txBody>
      </p:sp>
    </p:spTree>
    <p:extLst>
      <p:ext uri="{BB962C8B-B14F-4D97-AF65-F5344CB8AC3E}">
        <p14:creationId xmlns:p14="http://schemas.microsoft.com/office/powerpoint/2010/main" val="42682958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コンテンツ プレースホルダー 4"/>
          <p:cNvGraphicFramePr>
            <a:graphicFrameLocks noGrp="1"/>
          </p:cNvGraphicFramePr>
          <p:nvPr>
            <p:ph idx="1"/>
            <p:extLst>
              <p:ext uri="{D42A27DB-BD31-4B8C-83A1-F6EECF244321}">
                <p14:modId xmlns:p14="http://schemas.microsoft.com/office/powerpoint/2010/main" val="3349937664"/>
              </p:ext>
            </p:extLst>
          </p:nvPr>
        </p:nvGraphicFramePr>
        <p:xfrm>
          <a:off x="395536" y="2708920"/>
          <a:ext cx="8229600" cy="2808312"/>
        </p:xfrm>
        <a:graphic>
          <a:graphicData uri="http://schemas.openxmlformats.org/drawingml/2006/table">
            <a:tbl>
              <a:tblPr firstRow="1" bandRow="1">
                <a:tableStyleId>{5C22544A-7EE6-4342-B048-85BDC9FD1C3A}</a:tableStyleId>
              </a:tblPr>
              <a:tblGrid>
                <a:gridCol w="3312368"/>
                <a:gridCol w="4917232"/>
              </a:tblGrid>
              <a:tr h="936104">
                <a:tc>
                  <a:txBody>
                    <a:bodyPr/>
                    <a:lstStyle/>
                    <a:p>
                      <a:pPr algn="ctr"/>
                      <a:r>
                        <a:rPr kumimoji="1" lang="ja-JP" altLang="en-US" sz="4400" b="0" dirty="0" smtClean="0">
                          <a:solidFill>
                            <a:schemeClr val="tx1"/>
                          </a:solidFill>
                          <a:latin typeface="+mn-ea"/>
                          <a:ea typeface="+mn-ea"/>
                        </a:rPr>
                        <a:t>ＯＳ</a:t>
                      </a:r>
                      <a:endParaRPr kumimoji="1" lang="ja-JP" altLang="en-US" sz="4400" b="0" dirty="0">
                        <a:solidFill>
                          <a:schemeClr val="tx1"/>
                        </a:solidFill>
                        <a:latin typeface="+mn-ea"/>
                        <a:ea typeface="+mn-ea"/>
                      </a:endParaRPr>
                    </a:p>
                  </a:txBody>
                  <a:tcPr/>
                </a:tc>
                <a:tc>
                  <a:txBody>
                    <a:bodyPr/>
                    <a:lstStyle/>
                    <a:p>
                      <a:pPr algn="ctr"/>
                      <a:r>
                        <a:rPr kumimoji="1" lang="en-US" altLang="ja-JP" sz="4400" b="0" kern="1200" dirty="0" smtClean="0">
                          <a:solidFill>
                            <a:schemeClr val="dk1"/>
                          </a:solidFill>
                          <a:effectLst/>
                          <a:latin typeface="+mn-ea"/>
                          <a:ea typeface="+mn-ea"/>
                          <a:cs typeface="+mn-cs"/>
                        </a:rPr>
                        <a:t>Windows7</a:t>
                      </a:r>
                      <a:endParaRPr kumimoji="1" lang="ja-JP" altLang="en-US" sz="4400" b="0" dirty="0">
                        <a:latin typeface="+mn-ea"/>
                        <a:ea typeface="+mn-ea"/>
                      </a:endParaRPr>
                    </a:p>
                  </a:txBody>
                  <a:tcPr/>
                </a:tc>
              </a:tr>
              <a:tr h="936104">
                <a:tc>
                  <a:txBody>
                    <a:bodyPr/>
                    <a:lstStyle/>
                    <a:p>
                      <a:pPr algn="ctr"/>
                      <a:r>
                        <a:rPr kumimoji="1" lang="ja-JP" altLang="en-US" sz="4400" dirty="0" smtClean="0">
                          <a:latin typeface="+mn-ea"/>
                          <a:ea typeface="+mn-ea"/>
                        </a:rPr>
                        <a:t>ハードウェア</a:t>
                      </a:r>
                      <a:endParaRPr kumimoji="1" lang="ja-JP" altLang="en-US" sz="4400" dirty="0">
                        <a:latin typeface="+mn-ea"/>
                        <a:ea typeface="+mn-ea"/>
                      </a:endParaRPr>
                    </a:p>
                  </a:txBody>
                  <a:tcPr/>
                </a:tc>
                <a:tc>
                  <a:txBody>
                    <a:bodyPr/>
                    <a:lstStyle/>
                    <a:p>
                      <a:pPr algn="ctr"/>
                      <a:r>
                        <a:rPr kumimoji="1" lang="en-US" altLang="ja-JP" sz="4400" kern="1200" dirty="0" smtClean="0">
                          <a:solidFill>
                            <a:schemeClr val="dk1"/>
                          </a:solidFill>
                          <a:effectLst/>
                          <a:latin typeface="+mn-ea"/>
                          <a:ea typeface="+mn-ea"/>
                          <a:cs typeface="+mn-cs"/>
                        </a:rPr>
                        <a:t>Arduino </a:t>
                      </a:r>
                      <a:r>
                        <a:rPr kumimoji="1" lang="en-US" altLang="ja-JP" sz="4400" kern="1200" dirty="0" err="1" smtClean="0">
                          <a:solidFill>
                            <a:schemeClr val="dk1"/>
                          </a:solidFill>
                          <a:effectLst/>
                          <a:latin typeface="+mn-ea"/>
                          <a:ea typeface="+mn-ea"/>
                          <a:cs typeface="+mn-cs"/>
                        </a:rPr>
                        <a:t>uno</a:t>
                      </a:r>
                      <a:endParaRPr kumimoji="1" lang="en-US" altLang="ja-JP" sz="4400" kern="1200" dirty="0" smtClean="0">
                        <a:solidFill>
                          <a:schemeClr val="dk1"/>
                        </a:solidFill>
                        <a:effectLst/>
                        <a:latin typeface="+mn-ea"/>
                        <a:ea typeface="+mn-ea"/>
                        <a:cs typeface="+mn-cs"/>
                      </a:endParaRPr>
                    </a:p>
                  </a:txBody>
                  <a:tcPr/>
                </a:tc>
              </a:tr>
              <a:tr h="936104">
                <a:tc>
                  <a:txBody>
                    <a:bodyPr/>
                    <a:lstStyle/>
                    <a:p>
                      <a:pPr algn="ctr"/>
                      <a:r>
                        <a:rPr kumimoji="1" lang="ja-JP" altLang="en-US" sz="4400" dirty="0" smtClean="0">
                          <a:latin typeface="+mn-ea"/>
                          <a:ea typeface="+mn-ea"/>
                        </a:rPr>
                        <a:t>使用言語</a:t>
                      </a:r>
                      <a:endParaRPr kumimoji="1" lang="ja-JP" altLang="en-US" sz="4400" dirty="0">
                        <a:latin typeface="+mn-ea"/>
                        <a:ea typeface="+mn-ea"/>
                      </a:endParaRPr>
                    </a:p>
                  </a:txBody>
                  <a:tcPr/>
                </a:tc>
                <a:tc>
                  <a:txBody>
                    <a:bodyPr/>
                    <a:lstStyle/>
                    <a:p>
                      <a:pPr algn="ctr"/>
                      <a:r>
                        <a:rPr kumimoji="1" lang="en-US" altLang="ja-JP" sz="4400" b="0" i="0" u="none" strike="noStrike" kern="1200" baseline="0" dirty="0" smtClean="0">
                          <a:solidFill>
                            <a:schemeClr val="dk1"/>
                          </a:solidFill>
                          <a:latin typeface="+mn-ea"/>
                          <a:ea typeface="+mn-ea"/>
                          <a:cs typeface="+mn-cs"/>
                        </a:rPr>
                        <a:t>ArduinoIDE-1.6.10</a:t>
                      </a:r>
                      <a:endParaRPr kumimoji="1" lang="ja-JP" altLang="en-US" sz="8000" dirty="0">
                        <a:latin typeface="+mn-ea"/>
                        <a:ea typeface="+mn-ea"/>
                      </a:endParaRPr>
                    </a:p>
                  </a:txBody>
                  <a:tcPr/>
                </a:tc>
              </a:tr>
            </a:tbl>
          </a:graphicData>
        </a:graphic>
      </p:graphicFrame>
      <p:sp>
        <p:nvSpPr>
          <p:cNvPr id="2" name="タイトル 1"/>
          <p:cNvSpPr>
            <a:spLocks noGrp="1"/>
          </p:cNvSpPr>
          <p:nvPr>
            <p:ph type="title"/>
          </p:nvPr>
        </p:nvSpPr>
        <p:spPr/>
        <p:txBody>
          <a:bodyPr/>
          <a:lstStyle/>
          <a:p>
            <a:r>
              <a:rPr lang="ja-JP" altLang="en-US" dirty="0" smtClean="0"/>
              <a:t>２．</a:t>
            </a:r>
            <a:r>
              <a:rPr kumimoji="1" lang="ja-JP" altLang="en-US" dirty="0" smtClean="0"/>
              <a:t>開発環境</a:t>
            </a:r>
            <a:endParaRPr kumimoji="1" lang="ja-JP" altLang="en-US" dirty="0"/>
          </a:p>
        </p:txBody>
      </p:sp>
    </p:spTree>
    <p:extLst>
      <p:ext uri="{BB962C8B-B14F-4D97-AF65-F5344CB8AC3E}">
        <p14:creationId xmlns:p14="http://schemas.microsoft.com/office/powerpoint/2010/main" val="397309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lang="ja-JP" altLang="en-US" dirty="0" smtClean="0">
                <a:latin typeface="+mj-ea"/>
              </a:rPr>
              <a:t>３</a:t>
            </a:r>
            <a:r>
              <a:rPr lang="en-US" altLang="ja-JP" dirty="0" smtClean="0">
                <a:latin typeface="+mj-ea"/>
              </a:rPr>
              <a:t>.</a:t>
            </a:r>
            <a:r>
              <a:rPr lang="ja-JP" altLang="en-US" dirty="0"/>
              <a:t>　作成物</a:t>
            </a:r>
            <a:endParaRPr kumimoji="1" lang="ja-JP" altLang="en-US" dirty="0"/>
          </a:p>
        </p:txBody>
      </p:sp>
      <p:pic>
        <p:nvPicPr>
          <p:cNvPr id="8" name="コンテンツ プレースホルダー 7"/>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11560" y="2636913"/>
            <a:ext cx="2965829" cy="3451223"/>
          </a:xfrm>
        </p:spPr>
      </p:pic>
      <p:sp>
        <p:nvSpPr>
          <p:cNvPr id="11" name="テキスト ボックス 10"/>
          <p:cNvSpPr txBox="1"/>
          <p:nvPr/>
        </p:nvSpPr>
        <p:spPr>
          <a:xfrm>
            <a:off x="3923928" y="2924944"/>
            <a:ext cx="4984057" cy="1815882"/>
          </a:xfrm>
          <a:prstGeom prst="rect">
            <a:avLst/>
          </a:prstGeom>
          <a:noFill/>
        </p:spPr>
        <p:txBody>
          <a:bodyPr wrap="none" rtlCol="0">
            <a:spAutoFit/>
          </a:bodyPr>
          <a:lstStyle/>
          <a:p>
            <a:r>
              <a:rPr kumimoji="1" lang="ja-JP" altLang="en-US" sz="2800" dirty="0" smtClean="0"/>
              <a:t>・横２０㎝　高さ２０㎝　奥行２０㎝</a:t>
            </a:r>
            <a:endParaRPr lang="en-US" altLang="ja-JP" sz="2800" dirty="0" smtClean="0"/>
          </a:p>
          <a:p>
            <a:r>
              <a:rPr kumimoji="1" lang="ja-JP" altLang="en-US" sz="2800" dirty="0" smtClean="0"/>
              <a:t>・主にアクリル板を使用</a:t>
            </a:r>
            <a:endParaRPr kumimoji="1" lang="en-US" altLang="ja-JP" sz="2800" dirty="0" smtClean="0"/>
          </a:p>
          <a:p>
            <a:r>
              <a:rPr lang="ja-JP" altLang="en-US" sz="2800" dirty="0" smtClean="0"/>
              <a:t>・アクリル板を支える支柱部分は</a:t>
            </a:r>
            <a:endParaRPr lang="en-US" altLang="ja-JP" sz="2800" dirty="0" smtClean="0"/>
          </a:p>
          <a:p>
            <a:r>
              <a:rPr kumimoji="1" lang="ja-JP" altLang="en-US" sz="2800" dirty="0"/>
              <a:t>　</a:t>
            </a:r>
            <a:r>
              <a:rPr kumimoji="1" lang="ja-JP" altLang="en-US" sz="2800" dirty="0" smtClean="0"/>
              <a:t>六角スペーサーを使用</a:t>
            </a:r>
            <a:endParaRPr kumimoji="1" lang="en-US" altLang="ja-JP" sz="2800" dirty="0" smtClean="0"/>
          </a:p>
        </p:txBody>
      </p:sp>
    </p:spTree>
    <p:extLst>
      <p:ext uri="{BB962C8B-B14F-4D97-AF65-F5344CB8AC3E}">
        <p14:creationId xmlns:p14="http://schemas.microsoft.com/office/powerpoint/2010/main" val="10111339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装置の仕組み</a:t>
            </a:r>
            <a:endParaRPr kumimoji="1" lang="ja-JP" altLang="en-US" dirty="0"/>
          </a:p>
        </p:txBody>
      </p:sp>
      <p:pic>
        <p:nvPicPr>
          <p:cNvPr id="4" name="図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975132"/>
            <a:ext cx="4538994" cy="2995193"/>
          </a:xfrm>
          <a:prstGeom prst="rect">
            <a:avLst/>
          </a:prstGeom>
        </p:spPr>
      </p:pic>
      <p:sp>
        <p:nvSpPr>
          <p:cNvPr id="6" name="テキスト ボックス 5"/>
          <p:cNvSpPr txBox="1"/>
          <p:nvPr/>
        </p:nvSpPr>
        <p:spPr>
          <a:xfrm>
            <a:off x="4238490" y="3250266"/>
            <a:ext cx="4995278" cy="1815882"/>
          </a:xfrm>
          <a:prstGeom prst="rect">
            <a:avLst/>
          </a:prstGeom>
          <a:noFill/>
        </p:spPr>
        <p:txBody>
          <a:bodyPr wrap="none" rtlCol="0">
            <a:spAutoFit/>
          </a:bodyPr>
          <a:lstStyle/>
          <a:p>
            <a:r>
              <a:rPr kumimoji="1" lang="ja-JP" altLang="en-US" sz="2800" dirty="0" smtClean="0"/>
              <a:t>・黄色いテーブル</a:t>
            </a:r>
            <a:r>
              <a:rPr lang="ja-JP" altLang="en-US" sz="2800" dirty="0" smtClean="0"/>
              <a:t>が</a:t>
            </a:r>
            <a:r>
              <a:rPr lang="ja-JP" altLang="en-US" sz="2800" dirty="0" err="1" smtClean="0"/>
              <a:t>ｘ</a:t>
            </a:r>
            <a:r>
              <a:rPr lang="ja-JP" altLang="en-US" sz="2800" dirty="0" smtClean="0"/>
              <a:t>，</a:t>
            </a:r>
            <a:r>
              <a:rPr lang="ja-JP" altLang="en-US" sz="2800" dirty="0" err="1" smtClean="0"/>
              <a:t>ｙ</a:t>
            </a:r>
            <a:r>
              <a:rPr lang="ja-JP" altLang="en-US" sz="2800" dirty="0" smtClean="0"/>
              <a:t>軸方向</a:t>
            </a:r>
            <a:endParaRPr lang="en-US" altLang="ja-JP" sz="2800" dirty="0" smtClean="0"/>
          </a:p>
          <a:p>
            <a:r>
              <a:rPr kumimoji="1" lang="ja-JP" altLang="en-US" sz="2800" dirty="0"/>
              <a:t>　</a:t>
            </a:r>
            <a:r>
              <a:rPr kumimoji="1" lang="ja-JP" altLang="en-US" sz="2800" dirty="0" smtClean="0"/>
              <a:t>に動き、コップのバランスをとる</a:t>
            </a:r>
            <a:endParaRPr kumimoji="1" lang="en-US" altLang="ja-JP" sz="2800" dirty="0" smtClean="0"/>
          </a:p>
          <a:p>
            <a:r>
              <a:rPr kumimoji="1" lang="ja-JP" altLang="en-US" sz="2800" dirty="0" smtClean="0"/>
              <a:t>・テーブル部分を回転させる</a:t>
            </a:r>
            <a:endParaRPr kumimoji="1" lang="en-US" altLang="ja-JP" sz="2800" dirty="0" smtClean="0"/>
          </a:p>
          <a:p>
            <a:r>
              <a:rPr kumimoji="1" lang="ja-JP" altLang="en-US" sz="2800" dirty="0" smtClean="0"/>
              <a:t>　ために隙間を空けている。</a:t>
            </a:r>
            <a:endParaRPr kumimoji="1" lang="ja-JP" altLang="en-US" sz="2800" dirty="0"/>
          </a:p>
        </p:txBody>
      </p:sp>
    </p:spTree>
    <p:extLst>
      <p:ext uri="{BB962C8B-B14F-4D97-AF65-F5344CB8AC3E}">
        <p14:creationId xmlns:p14="http://schemas.microsoft.com/office/powerpoint/2010/main" val="7262935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コンテンツ プレースホルダー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672" y="2708920"/>
            <a:ext cx="4172082" cy="3451225"/>
          </a:xfrm>
        </p:spPr>
      </p:pic>
      <p:sp>
        <p:nvSpPr>
          <p:cNvPr id="3" name="タイトル 2"/>
          <p:cNvSpPr>
            <a:spLocks noGrp="1"/>
          </p:cNvSpPr>
          <p:nvPr>
            <p:ph type="title"/>
          </p:nvPr>
        </p:nvSpPr>
        <p:spPr/>
        <p:txBody>
          <a:bodyPr/>
          <a:lstStyle/>
          <a:p>
            <a:r>
              <a:rPr kumimoji="1" lang="ja-JP" altLang="en-US" dirty="0" smtClean="0"/>
              <a:t>装置の概要</a:t>
            </a:r>
            <a:endParaRPr kumimoji="1" lang="ja-JP" altLang="en-US" dirty="0"/>
          </a:p>
        </p:txBody>
      </p:sp>
      <p:sp>
        <p:nvSpPr>
          <p:cNvPr id="5" name="テキスト ボックス 4"/>
          <p:cNvSpPr txBox="1"/>
          <p:nvPr/>
        </p:nvSpPr>
        <p:spPr>
          <a:xfrm>
            <a:off x="4067944" y="2876175"/>
            <a:ext cx="5194051" cy="1815882"/>
          </a:xfrm>
          <a:prstGeom prst="rect">
            <a:avLst/>
          </a:prstGeom>
          <a:noFill/>
        </p:spPr>
        <p:txBody>
          <a:bodyPr wrap="none" rtlCol="0">
            <a:spAutoFit/>
          </a:bodyPr>
          <a:lstStyle/>
          <a:p>
            <a:r>
              <a:rPr kumimoji="1" lang="ja-JP" altLang="en-US" sz="2800" dirty="0" smtClean="0"/>
              <a:t>・加速度センサーを使って加速</a:t>
            </a:r>
            <a:endParaRPr kumimoji="1" lang="en-US" altLang="ja-JP" sz="2800" dirty="0" smtClean="0"/>
          </a:p>
          <a:p>
            <a:r>
              <a:rPr lang="ja-JP" altLang="en-US" sz="2800" dirty="0"/>
              <a:t>　</a:t>
            </a:r>
            <a:r>
              <a:rPr kumimoji="1" lang="ja-JP" altLang="en-US" sz="2800" dirty="0" smtClean="0"/>
              <a:t>度を検出する。</a:t>
            </a:r>
            <a:endParaRPr kumimoji="1" lang="en-US" altLang="ja-JP" sz="2800" dirty="0" smtClean="0"/>
          </a:p>
          <a:p>
            <a:r>
              <a:rPr lang="ja-JP" altLang="en-US" sz="2800" dirty="0" smtClean="0"/>
              <a:t>・</a:t>
            </a:r>
            <a:r>
              <a:rPr lang="en-US" altLang="ja-JP" sz="2800" dirty="0" smtClean="0"/>
              <a:t>Arduino</a:t>
            </a:r>
            <a:r>
              <a:rPr lang="ja-JP" altLang="en-US" sz="2800" dirty="0" smtClean="0"/>
              <a:t>で、検出した値を処理</a:t>
            </a:r>
            <a:endParaRPr lang="en-US" altLang="ja-JP" sz="2800" dirty="0" smtClean="0"/>
          </a:p>
          <a:p>
            <a:r>
              <a:rPr lang="ja-JP" altLang="en-US" sz="2800" dirty="0" smtClean="0"/>
              <a:t>　しサーボモーターを回転させる。</a:t>
            </a:r>
            <a:endParaRPr lang="en-US" altLang="ja-JP" sz="2800" dirty="0" smtClean="0"/>
          </a:p>
        </p:txBody>
      </p:sp>
    </p:spTree>
    <p:extLst>
      <p:ext uri="{BB962C8B-B14F-4D97-AF65-F5344CB8AC3E}">
        <p14:creationId xmlns:p14="http://schemas.microsoft.com/office/powerpoint/2010/main" val="34866658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latin typeface="+mj-ea"/>
              </a:rPr>
              <a:t>テーブル部分</a:t>
            </a:r>
            <a:endParaRPr kumimoji="1" lang="ja-JP" altLang="en-US" dirty="0"/>
          </a:p>
        </p:txBody>
      </p:sp>
      <p:pic>
        <p:nvPicPr>
          <p:cNvPr id="7" name="図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3" y="2708920"/>
            <a:ext cx="4624003" cy="3051288"/>
          </a:xfrm>
          <a:prstGeom prst="rect">
            <a:avLst/>
          </a:prstGeom>
        </p:spPr>
      </p:pic>
      <p:sp>
        <p:nvSpPr>
          <p:cNvPr id="3" name="テキスト ボックス 2"/>
          <p:cNvSpPr txBox="1"/>
          <p:nvPr/>
        </p:nvSpPr>
        <p:spPr>
          <a:xfrm>
            <a:off x="4555617" y="2996952"/>
            <a:ext cx="4499950" cy="2677656"/>
          </a:xfrm>
          <a:prstGeom prst="rect">
            <a:avLst/>
          </a:prstGeom>
          <a:noFill/>
        </p:spPr>
        <p:txBody>
          <a:bodyPr wrap="none" rtlCol="0">
            <a:spAutoFit/>
          </a:bodyPr>
          <a:lstStyle/>
          <a:p>
            <a:r>
              <a:rPr lang="ja-JP" altLang="en-US" sz="2800" dirty="0" smtClean="0"/>
              <a:t>・</a:t>
            </a:r>
            <a:r>
              <a:rPr lang="ja-JP" altLang="en-US" sz="2800" dirty="0" err="1" smtClean="0"/>
              <a:t>ｘ</a:t>
            </a:r>
            <a:r>
              <a:rPr lang="ja-JP" altLang="en-US" sz="2800" dirty="0" smtClean="0"/>
              <a:t>軸方向とｙ軸方向に計２つ</a:t>
            </a:r>
            <a:endParaRPr lang="en-US" altLang="ja-JP" sz="2800" dirty="0" smtClean="0"/>
          </a:p>
          <a:p>
            <a:r>
              <a:rPr lang="ja-JP" altLang="en-US" sz="2800" dirty="0"/>
              <a:t>　</a:t>
            </a:r>
            <a:r>
              <a:rPr lang="ja-JP" altLang="en-US" sz="2800" dirty="0" smtClean="0"/>
              <a:t>のサーボモーターを設置。</a:t>
            </a:r>
            <a:endParaRPr lang="en-US" altLang="ja-JP" sz="2800" dirty="0" smtClean="0"/>
          </a:p>
          <a:p>
            <a:r>
              <a:rPr kumimoji="1" lang="ja-JP" altLang="en-US" sz="2800" dirty="0" smtClean="0"/>
              <a:t>・テーブルが回転するため</a:t>
            </a:r>
            <a:endParaRPr kumimoji="1" lang="en-US" altLang="ja-JP" sz="2800" dirty="0" smtClean="0"/>
          </a:p>
          <a:p>
            <a:r>
              <a:rPr lang="ja-JP" altLang="en-US" sz="2800" dirty="0"/>
              <a:t>　</a:t>
            </a:r>
            <a:r>
              <a:rPr kumimoji="1" lang="ja-JP" altLang="en-US" sz="2800" dirty="0" smtClean="0"/>
              <a:t>隙間を空ける。</a:t>
            </a:r>
            <a:endParaRPr kumimoji="1" lang="en-US" altLang="ja-JP" sz="2800" dirty="0" smtClean="0"/>
          </a:p>
          <a:p>
            <a:r>
              <a:rPr lang="ja-JP" altLang="en-US" sz="2800" dirty="0" smtClean="0"/>
              <a:t>・</a:t>
            </a:r>
            <a:r>
              <a:rPr lang="ja-JP" altLang="en-US" sz="2800" dirty="0"/>
              <a:t>テーブル</a:t>
            </a:r>
            <a:r>
              <a:rPr lang="ja-JP" altLang="en-US" sz="2800" dirty="0" smtClean="0"/>
              <a:t>の中心部分に穴を</a:t>
            </a:r>
            <a:endParaRPr lang="en-US" altLang="ja-JP" sz="2800" dirty="0" smtClean="0"/>
          </a:p>
          <a:p>
            <a:r>
              <a:rPr lang="ja-JP" altLang="en-US" sz="2800" dirty="0"/>
              <a:t>　</a:t>
            </a:r>
            <a:r>
              <a:rPr lang="ja-JP" altLang="en-US" sz="2800" dirty="0" smtClean="0"/>
              <a:t>空け、コップをはめ込む。</a:t>
            </a:r>
            <a:endParaRPr lang="en-US" altLang="ja-JP" sz="2800" dirty="0" smtClean="0"/>
          </a:p>
        </p:txBody>
      </p:sp>
    </p:spTree>
    <p:extLst>
      <p:ext uri="{BB962C8B-B14F-4D97-AF65-F5344CB8AC3E}">
        <p14:creationId xmlns:p14="http://schemas.microsoft.com/office/powerpoint/2010/main" val="33113139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コンテンツ プレースホルダー 3"/>
          <p:cNvGraphicFramePr>
            <a:graphicFrameLocks noGrp="1"/>
          </p:cNvGraphicFramePr>
          <p:nvPr>
            <p:ph idx="1"/>
            <p:extLst>
              <p:ext uri="{D42A27DB-BD31-4B8C-83A1-F6EECF244321}">
                <p14:modId xmlns:p14="http://schemas.microsoft.com/office/powerpoint/2010/main" val="2740929952"/>
              </p:ext>
            </p:extLst>
          </p:nvPr>
        </p:nvGraphicFramePr>
        <p:xfrm>
          <a:off x="871538" y="2674938"/>
          <a:ext cx="7408862" cy="3627120"/>
        </p:xfrm>
        <a:graphic>
          <a:graphicData uri="http://schemas.openxmlformats.org/drawingml/2006/table">
            <a:tbl>
              <a:tblPr firstRow="1" bandRow="1">
                <a:tableStyleId>{5C22544A-7EE6-4342-B048-85BDC9FD1C3A}</a:tableStyleId>
              </a:tblPr>
              <a:tblGrid>
                <a:gridCol w="7408862"/>
              </a:tblGrid>
              <a:tr h="370840">
                <a:tc>
                  <a:txBody>
                    <a:bodyPr/>
                    <a:lstStyle/>
                    <a:p>
                      <a:pPr algn="ctr"/>
                      <a:r>
                        <a:rPr kumimoji="1" lang="ja-JP" altLang="en-US" sz="2800" dirty="0" smtClean="0"/>
                        <a:t>使用部品</a:t>
                      </a:r>
                      <a:endParaRPr kumimoji="1" lang="en-US" altLang="ja-JP" sz="2800" dirty="0" smtClean="0"/>
                    </a:p>
                  </a:txBody>
                  <a:tcPr/>
                </a:tc>
              </a:tr>
              <a:tr h="370840">
                <a:tc>
                  <a:txBody>
                    <a:bodyPr/>
                    <a:lstStyle/>
                    <a:p>
                      <a:pPr algn="ctr"/>
                      <a:r>
                        <a:rPr kumimoji="1" lang="en-US" altLang="ja-JP" sz="2800" dirty="0" smtClean="0"/>
                        <a:t>Arduino</a:t>
                      </a:r>
                      <a:r>
                        <a:rPr kumimoji="1" lang="en-US" altLang="ja-JP" sz="2800" baseline="0" dirty="0" smtClean="0"/>
                        <a:t> </a:t>
                      </a:r>
                      <a:r>
                        <a:rPr kumimoji="1" lang="en-US" altLang="ja-JP" sz="2800" baseline="0" dirty="0" err="1" smtClean="0"/>
                        <a:t>uno</a:t>
                      </a:r>
                      <a:endParaRPr kumimoji="1" lang="en-US" altLang="ja-JP" sz="2800" dirty="0" smtClean="0"/>
                    </a:p>
                  </a:txBody>
                  <a:tcPr/>
                </a:tc>
              </a:tr>
              <a:tr h="370840">
                <a:tc>
                  <a:txBody>
                    <a:bodyPr/>
                    <a:lstStyle/>
                    <a:p>
                      <a:pPr algn="ctr"/>
                      <a:r>
                        <a:rPr kumimoji="1" lang="ja-JP" altLang="en-US" sz="2800" dirty="0" smtClean="0"/>
                        <a:t>バニラシールド</a:t>
                      </a:r>
                      <a:endParaRPr kumimoji="1" lang="en-US" altLang="ja-JP" sz="2800" dirty="0" smtClean="0"/>
                    </a:p>
                  </a:txBody>
                  <a:tcPr/>
                </a:tc>
              </a:tr>
              <a:tr h="370840">
                <a:tc>
                  <a:txBody>
                    <a:bodyPr/>
                    <a:lstStyle/>
                    <a:p>
                      <a:pPr algn="ctr"/>
                      <a:r>
                        <a:rPr kumimoji="1" lang="ja-JP" altLang="en-US" sz="2800" dirty="0" smtClean="0"/>
                        <a:t>スイッチング電源</a:t>
                      </a:r>
                      <a:endParaRPr kumimoji="1" lang="ja-JP" altLang="en-US" sz="2800" dirty="0"/>
                    </a:p>
                  </a:txBody>
                  <a:tcPr/>
                </a:tc>
              </a:tr>
              <a:tr h="370840">
                <a:tc>
                  <a:txBody>
                    <a:bodyPr/>
                    <a:lstStyle/>
                    <a:p>
                      <a:pPr algn="ctr"/>
                      <a:r>
                        <a:rPr kumimoji="1" lang="ja-JP" altLang="en-US" sz="2800" dirty="0" smtClean="0"/>
                        <a:t>サーボモーター</a:t>
                      </a:r>
                      <a:endParaRPr kumimoji="1" lang="ja-JP" altLang="en-US" sz="2800" dirty="0"/>
                    </a:p>
                  </a:txBody>
                  <a:tcPr/>
                </a:tc>
              </a:tr>
              <a:tr h="370840">
                <a:tc>
                  <a:txBody>
                    <a:bodyPr/>
                    <a:lstStyle/>
                    <a:p>
                      <a:pPr algn="ctr"/>
                      <a:r>
                        <a:rPr kumimoji="1" lang="ja-JP" altLang="en-US" sz="2800" dirty="0" smtClean="0"/>
                        <a:t>加速度センサー</a:t>
                      </a:r>
                      <a:endParaRPr kumimoji="1" lang="ja-JP" altLang="en-US" sz="2800" dirty="0"/>
                    </a:p>
                  </a:txBody>
                  <a:tcPr/>
                </a:tc>
              </a:tr>
              <a:tr h="370840">
                <a:tc>
                  <a:txBody>
                    <a:bodyPr/>
                    <a:lstStyle/>
                    <a:p>
                      <a:pPr algn="ctr"/>
                      <a:r>
                        <a:rPr kumimoji="1" lang="ja-JP" altLang="en-US" sz="2800" dirty="0" smtClean="0"/>
                        <a:t>アクリル板</a:t>
                      </a:r>
                      <a:endParaRPr kumimoji="1" lang="ja-JP" altLang="en-US" sz="2800" dirty="0"/>
                    </a:p>
                  </a:txBody>
                  <a:tcPr/>
                </a:tc>
              </a:tr>
            </a:tbl>
          </a:graphicData>
        </a:graphic>
      </p:graphicFrame>
      <p:sp>
        <p:nvSpPr>
          <p:cNvPr id="3" name="タイトル 2"/>
          <p:cNvSpPr>
            <a:spLocks noGrp="1"/>
          </p:cNvSpPr>
          <p:nvPr>
            <p:ph type="title"/>
          </p:nvPr>
        </p:nvSpPr>
        <p:spPr/>
        <p:txBody>
          <a:bodyPr>
            <a:normAutofit/>
          </a:bodyPr>
          <a:lstStyle/>
          <a:p>
            <a:r>
              <a:rPr lang="ja-JP" altLang="en-US" dirty="0"/>
              <a:t>４</a:t>
            </a:r>
            <a:r>
              <a:rPr kumimoji="1" lang="ja-JP" altLang="en-US" dirty="0" smtClean="0"/>
              <a:t>．</a:t>
            </a:r>
            <a:r>
              <a:rPr kumimoji="1" lang="ja-JP" altLang="en-US" dirty="0" smtClean="0"/>
              <a:t>　主な構成部品</a:t>
            </a:r>
            <a:endParaRPr kumimoji="1" lang="ja-JP" altLang="en-US" dirty="0"/>
          </a:p>
        </p:txBody>
      </p:sp>
    </p:spTree>
    <p:extLst>
      <p:ext uri="{BB962C8B-B14F-4D97-AF65-F5344CB8AC3E}">
        <p14:creationId xmlns:p14="http://schemas.microsoft.com/office/powerpoint/2010/main" val="2098971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en-US" altLang="ja-JP" dirty="0" smtClean="0"/>
              <a:t>Arduino </a:t>
            </a:r>
            <a:r>
              <a:rPr kumimoji="1" lang="en-US" altLang="ja-JP" dirty="0" err="1" smtClean="0"/>
              <a:t>uno</a:t>
            </a:r>
            <a:endParaRPr kumimoji="1" lang="ja-JP" altLang="en-US" dirty="0"/>
          </a:p>
        </p:txBody>
      </p:sp>
      <p:pic>
        <p:nvPicPr>
          <p:cNvPr id="5" name="コンテンツ プレースホルダー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23528" y="3212976"/>
            <a:ext cx="3700462" cy="2583818"/>
          </a:xfrm>
        </p:spPr>
      </p:pic>
      <p:sp>
        <p:nvSpPr>
          <p:cNvPr id="6" name="テキスト ボックス 5"/>
          <p:cNvSpPr txBox="1"/>
          <p:nvPr/>
        </p:nvSpPr>
        <p:spPr>
          <a:xfrm>
            <a:off x="4341082" y="3429000"/>
            <a:ext cx="4802918" cy="1815882"/>
          </a:xfrm>
          <a:prstGeom prst="rect">
            <a:avLst/>
          </a:prstGeom>
          <a:noFill/>
        </p:spPr>
        <p:txBody>
          <a:bodyPr wrap="none" rtlCol="0">
            <a:spAutoFit/>
          </a:bodyPr>
          <a:lstStyle/>
          <a:p>
            <a:r>
              <a:rPr kumimoji="1" lang="ja-JP" altLang="en-US" sz="2800" dirty="0" smtClean="0"/>
              <a:t>・マイコンボード</a:t>
            </a:r>
            <a:endParaRPr kumimoji="1" lang="en-US" altLang="ja-JP" sz="2800" dirty="0" smtClean="0"/>
          </a:p>
          <a:p>
            <a:r>
              <a:rPr kumimoji="1" lang="ja-JP" altLang="en-US" sz="2800" dirty="0" smtClean="0"/>
              <a:t>・加速度センサーから加速度の</a:t>
            </a:r>
            <a:endParaRPr kumimoji="1" lang="en-US" altLang="ja-JP" sz="2800" dirty="0" smtClean="0"/>
          </a:p>
          <a:p>
            <a:r>
              <a:rPr lang="ja-JP" altLang="en-US" sz="2800" dirty="0"/>
              <a:t>　</a:t>
            </a:r>
            <a:r>
              <a:rPr kumimoji="1" lang="ja-JP" altLang="en-US" sz="2800" dirty="0" smtClean="0"/>
              <a:t>値を求める</a:t>
            </a:r>
            <a:endParaRPr kumimoji="1" lang="en-US" altLang="ja-JP" sz="2800" dirty="0" smtClean="0"/>
          </a:p>
          <a:p>
            <a:r>
              <a:rPr lang="ja-JP" altLang="en-US" sz="2800" dirty="0" smtClean="0"/>
              <a:t>・サーボモーターを回転させる</a:t>
            </a:r>
            <a:endParaRPr kumimoji="1" lang="ja-JP" altLang="en-US" sz="2800" dirty="0"/>
          </a:p>
        </p:txBody>
      </p:sp>
    </p:spTree>
    <p:extLst>
      <p:ext uri="{BB962C8B-B14F-4D97-AF65-F5344CB8AC3E}">
        <p14:creationId xmlns:p14="http://schemas.microsoft.com/office/powerpoint/2010/main" val="244888810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コンテンツ プレースホルダー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23925" y="2674938"/>
            <a:ext cx="3451225" cy="3451225"/>
          </a:xfrm>
        </p:spPr>
      </p:pic>
      <p:sp>
        <p:nvSpPr>
          <p:cNvPr id="3" name="タイトル 2"/>
          <p:cNvSpPr>
            <a:spLocks noGrp="1"/>
          </p:cNvSpPr>
          <p:nvPr>
            <p:ph type="title"/>
          </p:nvPr>
        </p:nvSpPr>
        <p:spPr/>
        <p:txBody>
          <a:bodyPr/>
          <a:lstStyle/>
          <a:p>
            <a:r>
              <a:rPr kumimoji="1" lang="ja-JP" altLang="en-US" dirty="0" smtClean="0"/>
              <a:t>バニラシールド</a:t>
            </a:r>
            <a:endParaRPr kumimoji="1" lang="ja-JP" altLang="en-US" dirty="0"/>
          </a:p>
        </p:txBody>
      </p:sp>
      <p:sp>
        <p:nvSpPr>
          <p:cNvPr id="5" name="テキスト ボックス 4"/>
          <p:cNvSpPr txBox="1"/>
          <p:nvPr/>
        </p:nvSpPr>
        <p:spPr>
          <a:xfrm>
            <a:off x="4499992" y="3501008"/>
            <a:ext cx="4363695" cy="1384995"/>
          </a:xfrm>
          <a:prstGeom prst="rect">
            <a:avLst/>
          </a:prstGeom>
          <a:noFill/>
        </p:spPr>
        <p:txBody>
          <a:bodyPr wrap="none" rtlCol="0">
            <a:spAutoFit/>
          </a:bodyPr>
          <a:lstStyle/>
          <a:p>
            <a:r>
              <a:rPr kumimoji="1" lang="ja-JP" altLang="en-US" sz="2800" dirty="0" smtClean="0"/>
              <a:t>・拡張基板</a:t>
            </a:r>
            <a:endParaRPr kumimoji="1" lang="en-US" altLang="ja-JP" sz="2800" dirty="0" smtClean="0"/>
          </a:p>
          <a:p>
            <a:r>
              <a:rPr lang="ja-JP" altLang="en-US" sz="2800" dirty="0" smtClean="0"/>
              <a:t>・はんだ付けをして加速度</a:t>
            </a:r>
            <a:endParaRPr lang="en-US" altLang="ja-JP" sz="2800" dirty="0" smtClean="0"/>
          </a:p>
          <a:p>
            <a:r>
              <a:rPr lang="ja-JP" altLang="en-US" sz="2800" dirty="0"/>
              <a:t>　</a:t>
            </a:r>
            <a:r>
              <a:rPr lang="ja-JP" altLang="en-US" sz="2800" dirty="0" smtClean="0"/>
              <a:t>センサーを取り付ける予定</a:t>
            </a:r>
            <a:endParaRPr kumimoji="1" lang="ja-JP" altLang="en-US" sz="2800" dirty="0"/>
          </a:p>
        </p:txBody>
      </p:sp>
    </p:spTree>
    <p:extLst>
      <p:ext uri="{BB962C8B-B14F-4D97-AF65-F5344CB8AC3E}">
        <p14:creationId xmlns:p14="http://schemas.microsoft.com/office/powerpoint/2010/main" val="9818365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コンテンツ プレースホルダー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74492" y="3284510"/>
            <a:ext cx="3048000" cy="2286000"/>
          </a:xfrm>
        </p:spPr>
      </p:pic>
      <p:sp>
        <p:nvSpPr>
          <p:cNvPr id="3" name="タイトル 2"/>
          <p:cNvSpPr>
            <a:spLocks noGrp="1"/>
          </p:cNvSpPr>
          <p:nvPr>
            <p:ph type="title"/>
          </p:nvPr>
        </p:nvSpPr>
        <p:spPr/>
        <p:txBody>
          <a:bodyPr/>
          <a:lstStyle/>
          <a:p>
            <a:r>
              <a:rPr kumimoji="1" lang="ja-JP" altLang="en-US" dirty="0" smtClean="0"/>
              <a:t>スイッチング電源</a:t>
            </a:r>
            <a:endParaRPr kumimoji="1" lang="ja-JP" altLang="en-US" dirty="0"/>
          </a:p>
        </p:txBody>
      </p:sp>
      <p:sp>
        <p:nvSpPr>
          <p:cNvPr id="5" name="テキスト ボックス 4"/>
          <p:cNvSpPr txBox="1"/>
          <p:nvPr/>
        </p:nvSpPr>
        <p:spPr>
          <a:xfrm>
            <a:off x="3352380" y="3307875"/>
            <a:ext cx="5804794" cy="1815882"/>
          </a:xfrm>
          <a:prstGeom prst="rect">
            <a:avLst/>
          </a:prstGeom>
          <a:noFill/>
        </p:spPr>
        <p:txBody>
          <a:bodyPr wrap="none" rtlCol="0">
            <a:spAutoFit/>
          </a:bodyPr>
          <a:lstStyle/>
          <a:p>
            <a:r>
              <a:rPr lang="ja-JP" altLang="en-US" sz="2800" dirty="0" smtClean="0"/>
              <a:t>・今回は</a:t>
            </a:r>
            <a:r>
              <a:rPr lang="en-US" altLang="ja-JP" sz="2800" dirty="0"/>
              <a:t>AC</a:t>
            </a:r>
            <a:r>
              <a:rPr lang="ja-JP" altLang="en-US" sz="2800" dirty="0" smtClean="0"/>
              <a:t>１００</a:t>
            </a:r>
            <a:r>
              <a:rPr lang="en-US" altLang="ja-JP" sz="2800" dirty="0" smtClean="0"/>
              <a:t>V</a:t>
            </a:r>
            <a:r>
              <a:rPr lang="ja-JP" altLang="en-US" sz="2800" dirty="0" smtClean="0"/>
              <a:t>を</a:t>
            </a:r>
            <a:r>
              <a:rPr lang="en-US" altLang="ja-JP" sz="2800" dirty="0" smtClean="0"/>
              <a:t>DC</a:t>
            </a:r>
            <a:r>
              <a:rPr lang="ja-JP" altLang="en-US" sz="2800" dirty="0" smtClean="0"/>
              <a:t>５</a:t>
            </a:r>
            <a:r>
              <a:rPr lang="en-US" altLang="ja-JP" sz="2800" dirty="0" smtClean="0"/>
              <a:t>V</a:t>
            </a:r>
            <a:r>
              <a:rPr lang="ja-JP" altLang="en-US" sz="2800" dirty="0" smtClean="0"/>
              <a:t>に</a:t>
            </a:r>
            <a:r>
              <a:rPr lang="ja-JP" altLang="en-US" sz="2800" dirty="0"/>
              <a:t>変換</a:t>
            </a:r>
            <a:r>
              <a:rPr lang="ja-JP" altLang="en-US" sz="2800" dirty="0" smtClean="0"/>
              <a:t>させ</a:t>
            </a:r>
            <a:endParaRPr lang="en-US" altLang="ja-JP" sz="2800" dirty="0" smtClean="0"/>
          </a:p>
          <a:p>
            <a:r>
              <a:rPr lang="ja-JP" altLang="en-US" sz="2800" dirty="0" smtClean="0"/>
              <a:t>　</a:t>
            </a:r>
            <a:r>
              <a:rPr lang="ja-JP" altLang="en-US" sz="2800" dirty="0" err="1" smtClean="0"/>
              <a:t>て</a:t>
            </a:r>
            <a:r>
              <a:rPr lang="ja-JP" altLang="en-US" sz="2800" dirty="0"/>
              <a:t>使用</a:t>
            </a:r>
          </a:p>
          <a:p>
            <a:r>
              <a:rPr kumimoji="1" lang="ja-JP" altLang="en-US" sz="2800" dirty="0" smtClean="0"/>
              <a:t>・サーボモーターが大量に電流を消費</a:t>
            </a:r>
            <a:endParaRPr kumimoji="1" lang="en-US" altLang="ja-JP" sz="2800" dirty="0" smtClean="0"/>
          </a:p>
          <a:p>
            <a:r>
              <a:rPr lang="ja-JP" altLang="en-US" sz="2800" dirty="0"/>
              <a:t>　</a:t>
            </a:r>
            <a:r>
              <a:rPr lang="ja-JP" altLang="en-US" sz="2800" dirty="0" smtClean="0"/>
              <a:t>するため使用</a:t>
            </a:r>
            <a:endParaRPr kumimoji="1" lang="ja-JP" altLang="en-US" sz="2800" dirty="0"/>
          </a:p>
        </p:txBody>
      </p:sp>
    </p:spTree>
    <p:extLst>
      <p:ext uri="{BB962C8B-B14F-4D97-AF65-F5344CB8AC3E}">
        <p14:creationId xmlns:p14="http://schemas.microsoft.com/office/powerpoint/2010/main" val="34544318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スイッチング電源とは</a:t>
            </a:r>
            <a:endParaRPr kumimoji="1" lang="ja-JP" altLang="en-US" dirty="0"/>
          </a:p>
        </p:txBody>
      </p:sp>
      <p:sp>
        <p:nvSpPr>
          <p:cNvPr id="6" name="テキスト ボックス 5"/>
          <p:cNvSpPr txBox="1"/>
          <p:nvPr/>
        </p:nvSpPr>
        <p:spPr>
          <a:xfrm>
            <a:off x="3491880" y="2727196"/>
            <a:ext cx="5238935" cy="3539430"/>
          </a:xfrm>
          <a:prstGeom prst="rect">
            <a:avLst/>
          </a:prstGeom>
          <a:noFill/>
        </p:spPr>
        <p:txBody>
          <a:bodyPr wrap="none" rtlCol="0">
            <a:spAutoFit/>
          </a:bodyPr>
          <a:lstStyle/>
          <a:p>
            <a:r>
              <a:rPr kumimoji="1" lang="ja-JP" altLang="en-US" sz="2800" dirty="0" smtClean="0"/>
              <a:t>・安定した直流電圧をつくるため</a:t>
            </a:r>
            <a:endParaRPr kumimoji="1" lang="en-US" altLang="ja-JP" sz="2800" dirty="0" smtClean="0"/>
          </a:p>
          <a:p>
            <a:r>
              <a:rPr kumimoji="1" lang="ja-JP" altLang="en-US" sz="2800" dirty="0" smtClean="0"/>
              <a:t>　のもの。</a:t>
            </a:r>
            <a:endParaRPr kumimoji="1" lang="en-US" altLang="ja-JP" sz="2800" dirty="0" smtClean="0"/>
          </a:p>
          <a:p>
            <a:r>
              <a:rPr kumimoji="1" lang="ja-JP" altLang="en-US" sz="2800" dirty="0" smtClean="0"/>
              <a:t>・変換方式としてトランス方式と</a:t>
            </a:r>
            <a:endParaRPr kumimoji="1" lang="en-US" altLang="ja-JP" sz="2800" dirty="0" smtClean="0"/>
          </a:p>
          <a:p>
            <a:r>
              <a:rPr lang="ja-JP" altLang="en-US" sz="2800" dirty="0"/>
              <a:t>　</a:t>
            </a:r>
            <a:r>
              <a:rPr kumimoji="1" lang="ja-JP" altLang="en-US" sz="2800" dirty="0" smtClean="0"/>
              <a:t>スイッチング方式があるがスイ</a:t>
            </a:r>
            <a:endParaRPr kumimoji="1" lang="en-US" altLang="ja-JP" sz="2800" dirty="0" smtClean="0"/>
          </a:p>
          <a:p>
            <a:r>
              <a:rPr lang="ja-JP" altLang="en-US" sz="2800" dirty="0"/>
              <a:t>　</a:t>
            </a:r>
            <a:r>
              <a:rPr kumimoji="1" lang="ja-JP" altLang="en-US" sz="2800" dirty="0" err="1" smtClean="0"/>
              <a:t>ッ</a:t>
            </a:r>
            <a:r>
              <a:rPr kumimoji="1" lang="ja-JP" altLang="en-US" sz="2800" dirty="0" smtClean="0"/>
              <a:t>チング方式は、軽量化、発熱</a:t>
            </a:r>
            <a:endParaRPr kumimoji="1" lang="en-US" altLang="ja-JP" sz="2800" dirty="0" smtClean="0"/>
          </a:p>
          <a:p>
            <a:r>
              <a:rPr lang="ja-JP" altLang="en-US" sz="2800" dirty="0"/>
              <a:t>　</a:t>
            </a:r>
            <a:r>
              <a:rPr kumimoji="1" lang="ja-JP" altLang="en-US" sz="2800" dirty="0" smtClean="0"/>
              <a:t>が少ないという点で優れている。</a:t>
            </a:r>
            <a:endParaRPr kumimoji="1" lang="en-US" altLang="ja-JP" sz="2800" dirty="0" smtClean="0"/>
          </a:p>
          <a:p>
            <a:r>
              <a:rPr lang="ja-JP" altLang="en-US" sz="2800" dirty="0" smtClean="0"/>
              <a:t>・ケータイ</a:t>
            </a:r>
            <a:r>
              <a:rPr lang="ja-JP" altLang="en-US" sz="2800" dirty="0"/>
              <a:t>電話</a:t>
            </a:r>
            <a:r>
              <a:rPr lang="ja-JP" altLang="en-US" sz="2800" dirty="0" smtClean="0"/>
              <a:t>の充電器などにも</a:t>
            </a:r>
            <a:endParaRPr lang="en-US" altLang="ja-JP" sz="2800" dirty="0" smtClean="0"/>
          </a:p>
          <a:p>
            <a:r>
              <a:rPr lang="ja-JP" altLang="en-US" sz="2800" dirty="0"/>
              <a:t>　</a:t>
            </a:r>
            <a:r>
              <a:rPr lang="ja-JP" altLang="en-US" sz="2800" dirty="0" smtClean="0"/>
              <a:t>使用されている。</a:t>
            </a:r>
            <a:endParaRPr kumimoji="1" lang="en-US" altLang="ja-JP" sz="2800" dirty="0" smtClean="0"/>
          </a:p>
        </p:txBody>
      </p:sp>
      <p:pic>
        <p:nvPicPr>
          <p:cNvPr id="7" name="コンテンツ プレースホルダー 6"/>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115616" y="2674938"/>
            <a:ext cx="2037060" cy="3451225"/>
          </a:xfrm>
        </p:spPr>
      </p:pic>
    </p:spTree>
    <p:extLst>
      <p:ext uri="{BB962C8B-B14F-4D97-AF65-F5344CB8AC3E}">
        <p14:creationId xmlns:p14="http://schemas.microsoft.com/office/powerpoint/2010/main" val="164354545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サーボモーター</a:t>
            </a:r>
            <a:endParaRPr kumimoji="1" lang="ja-JP" altLang="en-US" dirty="0"/>
          </a:p>
        </p:txBody>
      </p:sp>
      <p:pic>
        <p:nvPicPr>
          <p:cNvPr id="4" name="コンテンツ プレースホルダー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9552" y="3068960"/>
            <a:ext cx="3456385" cy="2952328"/>
          </a:xfrm>
        </p:spPr>
      </p:pic>
      <p:sp>
        <p:nvSpPr>
          <p:cNvPr id="5" name="テキスト ボックス 4"/>
          <p:cNvSpPr txBox="1"/>
          <p:nvPr/>
        </p:nvSpPr>
        <p:spPr>
          <a:xfrm>
            <a:off x="4211960" y="3546013"/>
            <a:ext cx="4929555" cy="2246769"/>
          </a:xfrm>
          <a:prstGeom prst="rect">
            <a:avLst/>
          </a:prstGeom>
          <a:noFill/>
        </p:spPr>
        <p:txBody>
          <a:bodyPr wrap="none" rtlCol="0">
            <a:spAutoFit/>
          </a:bodyPr>
          <a:lstStyle/>
          <a:p>
            <a:r>
              <a:rPr kumimoji="1" lang="ja-JP" altLang="en-US" sz="2800" dirty="0" smtClean="0"/>
              <a:t>・テーブルの回転に使用</a:t>
            </a:r>
            <a:endParaRPr kumimoji="1" lang="en-US" altLang="ja-JP" sz="2800" dirty="0" smtClean="0"/>
          </a:p>
          <a:p>
            <a:r>
              <a:rPr lang="ja-JP" altLang="en-US" sz="2800" dirty="0" smtClean="0"/>
              <a:t>・２つ使用し、テーブルを傾ける</a:t>
            </a:r>
            <a:endParaRPr lang="en-US" altLang="ja-JP" sz="2800" dirty="0" smtClean="0"/>
          </a:p>
          <a:p>
            <a:r>
              <a:rPr kumimoji="1" lang="ja-JP" altLang="en-US" sz="2800" dirty="0" smtClean="0"/>
              <a:t>・サーボモーターにはエンコーダ</a:t>
            </a:r>
            <a:endParaRPr kumimoji="1" lang="en-US" altLang="ja-JP" sz="2800" dirty="0" smtClean="0"/>
          </a:p>
          <a:p>
            <a:r>
              <a:rPr lang="ja-JP" altLang="en-US" sz="2800" dirty="0"/>
              <a:t>　</a:t>
            </a:r>
            <a:r>
              <a:rPr lang="ja-JP" altLang="en-US" sz="2800" dirty="0" smtClean="0"/>
              <a:t>が内蔵されているため角度の</a:t>
            </a:r>
            <a:endParaRPr lang="en-US" altLang="ja-JP" sz="2800" dirty="0" smtClean="0"/>
          </a:p>
          <a:p>
            <a:r>
              <a:rPr kumimoji="1" lang="ja-JP" altLang="en-US" sz="2800" dirty="0"/>
              <a:t>　</a:t>
            </a:r>
            <a:r>
              <a:rPr kumimoji="1" lang="ja-JP" altLang="en-US" sz="2800" dirty="0" smtClean="0"/>
              <a:t>情報が分かる。</a:t>
            </a:r>
            <a:endParaRPr kumimoji="1" lang="ja-JP" altLang="en-US" sz="2800" dirty="0"/>
          </a:p>
        </p:txBody>
      </p:sp>
    </p:spTree>
    <p:extLst>
      <p:ext uri="{BB962C8B-B14F-4D97-AF65-F5344CB8AC3E}">
        <p14:creationId xmlns:p14="http://schemas.microsoft.com/office/powerpoint/2010/main" val="12080813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加速度センサー</a:t>
            </a:r>
            <a:endParaRPr kumimoji="1" lang="ja-JP" altLang="en-US" dirty="0"/>
          </a:p>
        </p:txBody>
      </p:sp>
      <p:pic>
        <p:nvPicPr>
          <p:cNvPr id="6" name="コンテンツ プレースホルダー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7544" y="2780928"/>
            <a:ext cx="3451225" cy="3451225"/>
          </a:xfrm>
        </p:spPr>
      </p:pic>
      <p:sp>
        <p:nvSpPr>
          <p:cNvPr id="5" name="テキスト ボックス 4"/>
          <p:cNvSpPr txBox="1"/>
          <p:nvPr/>
        </p:nvSpPr>
        <p:spPr>
          <a:xfrm>
            <a:off x="4283968" y="3284984"/>
            <a:ext cx="4838184" cy="1384995"/>
          </a:xfrm>
          <a:prstGeom prst="rect">
            <a:avLst/>
          </a:prstGeom>
          <a:noFill/>
        </p:spPr>
        <p:txBody>
          <a:bodyPr wrap="none" rtlCol="0">
            <a:spAutoFit/>
          </a:bodyPr>
          <a:lstStyle/>
          <a:p>
            <a:r>
              <a:rPr kumimoji="1" lang="ja-JP" altLang="en-US" sz="2800" dirty="0" smtClean="0"/>
              <a:t>・加速度を読み取るために使用</a:t>
            </a:r>
            <a:endParaRPr kumimoji="1" lang="en-US" altLang="ja-JP" sz="2800" dirty="0" smtClean="0"/>
          </a:p>
          <a:p>
            <a:r>
              <a:rPr lang="ja-JP" altLang="en-US" sz="2800" dirty="0" smtClean="0"/>
              <a:t>・Ｉ２Ｃを使って</a:t>
            </a:r>
            <a:r>
              <a:rPr lang="en-US" altLang="ja-JP" sz="2800" dirty="0" smtClean="0"/>
              <a:t>Arduino</a:t>
            </a:r>
            <a:r>
              <a:rPr lang="ja-JP" altLang="en-US" sz="2800" dirty="0" smtClean="0"/>
              <a:t>にデータ</a:t>
            </a:r>
            <a:endParaRPr lang="en-US" altLang="ja-JP" sz="2800" dirty="0" smtClean="0"/>
          </a:p>
          <a:p>
            <a:r>
              <a:rPr lang="ja-JP" altLang="en-US" sz="2800" dirty="0" smtClean="0"/>
              <a:t>　を送る</a:t>
            </a:r>
            <a:endParaRPr kumimoji="1" lang="ja-JP" altLang="en-US" sz="2800" dirty="0"/>
          </a:p>
        </p:txBody>
      </p:sp>
    </p:spTree>
    <p:extLst>
      <p:ext uri="{BB962C8B-B14F-4D97-AF65-F5344CB8AC3E}">
        <p14:creationId xmlns:p14="http://schemas.microsoft.com/office/powerpoint/2010/main" val="9258386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1"/>
          </p:nvPr>
        </p:nvSpPr>
        <p:spPr>
          <a:xfrm>
            <a:off x="667265" y="2675467"/>
            <a:ext cx="7613135" cy="3450696"/>
          </a:xfrm>
        </p:spPr>
        <p:txBody>
          <a:bodyPr>
            <a:normAutofit/>
          </a:bodyPr>
          <a:lstStyle/>
          <a:p>
            <a:pPr marL="0" indent="0">
              <a:buNone/>
            </a:pPr>
            <a:r>
              <a:rPr kumimoji="1" lang="ja-JP" altLang="en-US" sz="2800" dirty="0" smtClean="0"/>
              <a:t>・物体の加速度（速度の変化率）を計測するためのセンサー</a:t>
            </a:r>
            <a:endParaRPr kumimoji="1" lang="en-US" altLang="ja-JP" sz="2800" dirty="0" smtClean="0"/>
          </a:p>
          <a:p>
            <a:pPr marL="0" indent="0">
              <a:buNone/>
            </a:pPr>
            <a:r>
              <a:rPr lang="ja-JP" altLang="en-US" sz="2800" dirty="0" smtClean="0"/>
              <a:t>・</a:t>
            </a:r>
            <a:r>
              <a:rPr lang="en-US" altLang="ja-JP" sz="2800" dirty="0" smtClean="0"/>
              <a:t>x</a:t>
            </a:r>
            <a:r>
              <a:rPr lang="ja-JP" altLang="en-US" sz="2800" dirty="0" smtClean="0"/>
              <a:t>軸、</a:t>
            </a:r>
            <a:r>
              <a:rPr lang="en-US" altLang="ja-JP" sz="2800" dirty="0" smtClean="0"/>
              <a:t>y</a:t>
            </a:r>
            <a:r>
              <a:rPr lang="ja-JP" altLang="en-US" sz="2800" dirty="0" smtClean="0"/>
              <a:t>軸、</a:t>
            </a:r>
            <a:r>
              <a:rPr lang="en-US" altLang="ja-JP" sz="2800" dirty="0" smtClean="0"/>
              <a:t>z</a:t>
            </a:r>
            <a:r>
              <a:rPr lang="ja-JP" altLang="en-US" sz="2800" dirty="0" smtClean="0"/>
              <a:t>軸の３方向を計測できるものが多い</a:t>
            </a:r>
            <a:endParaRPr lang="en-US" altLang="ja-JP" sz="2800" dirty="0" smtClean="0"/>
          </a:p>
          <a:p>
            <a:pPr marL="0" indent="0">
              <a:buNone/>
            </a:pPr>
            <a:r>
              <a:rPr kumimoji="1" lang="ja-JP" altLang="en-US" sz="2800" dirty="0" smtClean="0"/>
              <a:t>・スマートフォンや</a:t>
            </a:r>
            <a:r>
              <a:rPr kumimoji="1" lang="en-US" altLang="ja-JP" sz="2800" dirty="0" smtClean="0"/>
              <a:t>Wii</a:t>
            </a:r>
            <a:r>
              <a:rPr kumimoji="1" lang="ja-JP" altLang="en-US" sz="2800" dirty="0" smtClean="0"/>
              <a:t>のコントローラにも搭載されている</a:t>
            </a:r>
            <a:endParaRPr kumimoji="1" lang="ja-JP" altLang="en-US" sz="2800" dirty="0"/>
          </a:p>
        </p:txBody>
      </p:sp>
      <p:sp>
        <p:nvSpPr>
          <p:cNvPr id="3" name="タイトル 2"/>
          <p:cNvSpPr>
            <a:spLocks noGrp="1"/>
          </p:cNvSpPr>
          <p:nvPr>
            <p:ph type="title"/>
          </p:nvPr>
        </p:nvSpPr>
        <p:spPr/>
        <p:txBody>
          <a:bodyPr/>
          <a:lstStyle/>
          <a:p>
            <a:r>
              <a:rPr kumimoji="1" lang="ja-JP" altLang="en-US" dirty="0" smtClean="0"/>
              <a:t>加速度センサーについて</a:t>
            </a:r>
            <a:endParaRPr kumimoji="1" lang="ja-JP" altLang="en-US" dirty="0"/>
          </a:p>
        </p:txBody>
      </p:sp>
    </p:spTree>
    <p:extLst>
      <p:ext uri="{BB962C8B-B14F-4D97-AF65-F5344CB8AC3E}">
        <p14:creationId xmlns:p14="http://schemas.microsoft.com/office/powerpoint/2010/main" val="4202590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1"/>
          </p:nvPr>
        </p:nvSpPr>
        <p:spPr>
          <a:xfrm>
            <a:off x="467545" y="2675466"/>
            <a:ext cx="8208912" cy="3921885"/>
          </a:xfrm>
        </p:spPr>
        <p:txBody>
          <a:bodyPr/>
          <a:lstStyle/>
          <a:p>
            <a:pPr marL="0" indent="0">
              <a:buNone/>
            </a:pPr>
            <a:r>
              <a:rPr kumimoji="1" lang="ja-JP" altLang="en-US" sz="2800" dirty="0" smtClean="0"/>
              <a:t>ニュートンの法則により、物体に働くちからを求めます。</a:t>
            </a:r>
            <a:endParaRPr kumimoji="1" lang="en-US" altLang="ja-JP" sz="2800" dirty="0" smtClean="0"/>
          </a:p>
          <a:p>
            <a:pPr marL="0" indent="0" algn="ctr">
              <a:buNone/>
            </a:pPr>
            <a:r>
              <a:rPr lang="en-US" altLang="ja-JP" sz="3600" dirty="0" smtClean="0">
                <a:latin typeface="+mn-ea"/>
              </a:rPr>
              <a:t>F=</a:t>
            </a:r>
            <a:r>
              <a:rPr lang="en-US" altLang="ja-JP" sz="3600" dirty="0" err="1" smtClean="0">
                <a:latin typeface="+mn-ea"/>
              </a:rPr>
              <a:t>m×a</a:t>
            </a:r>
            <a:r>
              <a:rPr lang="en-US" altLang="ja-JP" dirty="0" smtClean="0">
                <a:latin typeface="+mn-ea"/>
              </a:rPr>
              <a:t> </a:t>
            </a:r>
            <a:r>
              <a:rPr lang="ja-JP" altLang="en-US" dirty="0" smtClean="0">
                <a:latin typeface="+mn-ea"/>
              </a:rPr>
              <a:t>（１）</a:t>
            </a:r>
            <a:endParaRPr lang="en-US" altLang="ja-JP" dirty="0" smtClean="0">
              <a:latin typeface="+mn-ea"/>
            </a:endParaRPr>
          </a:p>
          <a:p>
            <a:pPr marL="0" indent="0">
              <a:buNone/>
            </a:pPr>
            <a:r>
              <a:rPr lang="ja-JP" altLang="en-US" dirty="0"/>
              <a:t>ばね</a:t>
            </a:r>
            <a:r>
              <a:rPr lang="ja-JP" altLang="en-US" dirty="0" smtClean="0"/>
              <a:t>と重りで構成されるシステムを考えた場合に</a:t>
            </a:r>
            <a:r>
              <a:rPr lang="en-US" altLang="ja-JP" dirty="0" smtClean="0"/>
              <a:t>F</a:t>
            </a:r>
            <a:r>
              <a:rPr lang="ja-JP" altLang="en-US" dirty="0" smtClean="0"/>
              <a:t>を次の式で求めます。</a:t>
            </a:r>
            <a:endParaRPr lang="en-US" altLang="ja-JP" dirty="0" smtClean="0"/>
          </a:p>
          <a:p>
            <a:pPr marL="0" indent="0" algn="ctr">
              <a:buNone/>
            </a:pPr>
            <a:r>
              <a:rPr lang="en-US" altLang="ja-JP" sz="3600" dirty="0" smtClean="0">
                <a:latin typeface="+mn-ea"/>
              </a:rPr>
              <a:t>F=k×</a:t>
            </a:r>
            <a:r>
              <a:rPr lang="ja-JP" altLang="en-US" sz="3600" dirty="0" smtClean="0">
                <a:latin typeface="+mn-ea"/>
              </a:rPr>
              <a:t>ｘ</a:t>
            </a:r>
            <a:r>
              <a:rPr lang="ja-JP" altLang="en-US" dirty="0" smtClean="0">
                <a:latin typeface="+mn-ea"/>
              </a:rPr>
              <a:t>（２）</a:t>
            </a:r>
            <a:endParaRPr lang="en-US" altLang="ja-JP" dirty="0" smtClean="0">
              <a:latin typeface="+mn-ea"/>
            </a:endParaRPr>
          </a:p>
          <a:p>
            <a:pPr marL="0" indent="0">
              <a:buNone/>
            </a:pPr>
            <a:r>
              <a:rPr lang="en-US" altLang="ja-JP" dirty="0" smtClean="0"/>
              <a:t>(1)</a:t>
            </a:r>
            <a:r>
              <a:rPr lang="ja-JP" altLang="en-US" dirty="0" smtClean="0"/>
              <a:t>と</a:t>
            </a:r>
            <a:r>
              <a:rPr lang="en-US" altLang="ja-JP" dirty="0" smtClean="0"/>
              <a:t>(2)</a:t>
            </a:r>
            <a:r>
              <a:rPr lang="ja-JP" altLang="en-US" dirty="0" smtClean="0"/>
              <a:t>の連立方程式を解くと加速度</a:t>
            </a:r>
            <a:r>
              <a:rPr lang="en-US" altLang="ja-JP" dirty="0" smtClean="0"/>
              <a:t>a</a:t>
            </a:r>
            <a:r>
              <a:rPr lang="ja-JP" altLang="en-US" dirty="0" smtClean="0"/>
              <a:t>が求められます。</a:t>
            </a:r>
            <a:endParaRPr lang="en-US" altLang="ja-JP" dirty="0" smtClean="0"/>
          </a:p>
          <a:p>
            <a:pPr marL="0" indent="0" algn="ctr">
              <a:buNone/>
            </a:pPr>
            <a:r>
              <a:rPr lang="en-US" altLang="ja-JP" sz="3600" dirty="0" smtClean="0">
                <a:latin typeface="+mn-ea"/>
              </a:rPr>
              <a:t>a=</a:t>
            </a:r>
            <a:r>
              <a:rPr lang="en-US" altLang="ja-JP" sz="3600" dirty="0" err="1" smtClean="0">
                <a:latin typeface="+mn-ea"/>
              </a:rPr>
              <a:t>k×x</a:t>
            </a:r>
            <a:r>
              <a:rPr lang="en-US" altLang="ja-JP" sz="3600" dirty="0" smtClean="0">
                <a:latin typeface="+mn-ea"/>
              </a:rPr>
              <a:t>/m</a:t>
            </a:r>
            <a:r>
              <a:rPr lang="en-US" altLang="ja-JP" dirty="0" smtClean="0">
                <a:latin typeface="+mn-ea"/>
              </a:rPr>
              <a:t>(3)</a:t>
            </a:r>
          </a:p>
        </p:txBody>
      </p:sp>
      <p:sp>
        <p:nvSpPr>
          <p:cNvPr id="3" name="タイトル 2"/>
          <p:cNvSpPr>
            <a:spLocks noGrp="1"/>
          </p:cNvSpPr>
          <p:nvPr>
            <p:ph type="title"/>
          </p:nvPr>
        </p:nvSpPr>
        <p:spPr/>
        <p:txBody>
          <a:bodyPr/>
          <a:lstStyle/>
          <a:p>
            <a:r>
              <a:rPr kumimoji="1" lang="ja-JP" altLang="en-US" dirty="0" smtClean="0"/>
              <a:t>加速度を求める式</a:t>
            </a:r>
            <a:endParaRPr kumimoji="1" lang="ja-JP" altLang="en-US" dirty="0"/>
          </a:p>
        </p:txBody>
      </p:sp>
    </p:spTree>
    <p:extLst>
      <p:ext uri="{BB962C8B-B14F-4D97-AF65-F5344CB8AC3E}">
        <p14:creationId xmlns:p14="http://schemas.microsoft.com/office/powerpoint/2010/main" val="3612321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1"/>
          </p:nvPr>
        </p:nvSpPr>
        <p:spPr>
          <a:xfrm>
            <a:off x="827584" y="2708920"/>
            <a:ext cx="7776864" cy="3450696"/>
          </a:xfrm>
        </p:spPr>
        <p:txBody>
          <a:bodyPr/>
          <a:lstStyle/>
          <a:p>
            <a:pPr marL="0" indent="0">
              <a:buNone/>
            </a:pPr>
            <a:r>
              <a:rPr lang="ja-JP" altLang="en-US" sz="2800" dirty="0"/>
              <a:t>・</a:t>
            </a:r>
            <a:r>
              <a:rPr kumimoji="1" lang="en-US" altLang="ja-JP" sz="2800" dirty="0" smtClean="0"/>
              <a:t>I2C</a:t>
            </a:r>
            <a:r>
              <a:rPr kumimoji="1" lang="ja-JP" altLang="en-US" sz="2800" dirty="0" smtClean="0"/>
              <a:t>は２本の信号</a:t>
            </a:r>
            <a:r>
              <a:rPr kumimoji="1" lang="en-US" altLang="ja-JP" sz="2800" dirty="0" smtClean="0"/>
              <a:t>SDA</a:t>
            </a:r>
            <a:r>
              <a:rPr kumimoji="1" lang="ja-JP" altLang="en-US" sz="2800" dirty="0" smtClean="0"/>
              <a:t>（データ信号）と</a:t>
            </a:r>
            <a:r>
              <a:rPr kumimoji="1" lang="en-US" altLang="ja-JP" sz="2800" dirty="0" smtClean="0"/>
              <a:t>SCL</a:t>
            </a:r>
            <a:r>
              <a:rPr kumimoji="1" lang="ja-JP" altLang="en-US" sz="2800" dirty="0" smtClean="0"/>
              <a:t>（クロック信号）で接続するシリアル通信の一種です。</a:t>
            </a:r>
            <a:endParaRPr kumimoji="1" lang="en-US" altLang="ja-JP" sz="2800" dirty="0" smtClean="0"/>
          </a:p>
          <a:p>
            <a:pPr marL="0" indent="0">
              <a:buNone/>
            </a:pPr>
            <a:r>
              <a:rPr lang="ja-JP" altLang="en-US" sz="2800" dirty="0" smtClean="0"/>
              <a:t>・</a:t>
            </a:r>
            <a:r>
              <a:rPr lang="en-US" altLang="ja-JP" sz="2800" dirty="0" smtClean="0"/>
              <a:t>I2C</a:t>
            </a:r>
            <a:r>
              <a:rPr lang="ja-JP" altLang="en-US" sz="2800" dirty="0" smtClean="0"/>
              <a:t>通信をする場合はマスターとスレーブを決める。</a:t>
            </a:r>
            <a:endParaRPr kumimoji="1" lang="en-US" altLang="ja-JP" sz="2800" dirty="0" smtClean="0"/>
          </a:p>
          <a:p>
            <a:pPr marL="0" indent="0">
              <a:buNone/>
            </a:pPr>
            <a:r>
              <a:rPr kumimoji="1" lang="ja-JP" altLang="en-US" sz="2800" dirty="0" smtClean="0"/>
              <a:t>・</a:t>
            </a:r>
            <a:r>
              <a:rPr kumimoji="1" lang="en-US" altLang="ja-JP" sz="2800" dirty="0" smtClean="0"/>
              <a:t>Arduino</a:t>
            </a:r>
            <a:r>
              <a:rPr kumimoji="1" lang="ja-JP" altLang="en-US" sz="2800" dirty="0" smtClean="0"/>
              <a:t>では</a:t>
            </a:r>
            <a:r>
              <a:rPr kumimoji="1" lang="en-US" altLang="ja-JP" sz="2800" dirty="0" smtClean="0"/>
              <a:t>I2C</a:t>
            </a:r>
            <a:r>
              <a:rPr kumimoji="1" lang="ja-JP" altLang="en-US" sz="2800" dirty="0" smtClean="0"/>
              <a:t>のライブラリーがあるためそれを使っていく。</a:t>
            </a:r>
            <a:endParaRPr kumimoji="1" lang="en-US" altLang="ja-JP" sz="2800" dirty="0" smtClean="0"/>
          </a:p>
          <a:p>
            <a:pPr marL="0" indent="0">
              <a:buNone/>
            </a:pPr>
            <a:endParaRPr kumimoji="1" lang="ja-JP" altLang="en-US" dirty="0"/>
          </a:p>
        </p:txBody>
      </p:sp>
      <p:sp>
        <p:nvSpPr>
          <p:cNvPr id="3" name="タイトル 2"/>
          <p:cNvSpPr>
            <a:spLocks noGrp="1"/>
          </p:cNvSpPr>
          <p:nvPr>
            <p:ph type="title"/>
          </p:nvPr>
        </p:nvSpPr>
        <p:spPr/>
        <p:txBody>
          <a:bodyPr/>
          <a:lstStyle/>
          <a:p>
            <a:r>
              <a:rPr kumimoji="1" lang="en-US" altLang="ja-JP" dirty="0" smtClean="0"/>
              <a:t>I2C</a:t>
            </a:r>
            <a:r>
              <a:rPr kumimoji="1" lang="ja-JP" altLang="en-US" dirty="0" smtClean="0"/>
              <a:t>接続</a:t>
            </a:r>
            <a:endParaRPr kumimoji="1" lang="ja-JP" altLang="en-US" dirty="0"/>
          </a:p>
        </p:txBody>
      </p:sp>
    </p:spTree>
    <p:extLst>
      <p:ext uri="{BB962C8B-B14F-4D97-AF65-F5344CB8AC3E}">
        <p14:creationId xmlns:p14="http://schemas.microsoft.com/office/powerpoint/2010/main" val="37143571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コンテンツ プレースホルダー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39552" y="3212976"/>
            <a:ext cx="3340422" cy="2608461"/>
          </a:xfrm>
        </p:spPr>
      </p:pic>
      <p:sp>
        <p:nvSpPr>
          <p:cNvPr id="3" name="タイトル 2"/>
          <p:cNvSpPr>
            <a:spLocks noGrp="1"/>
          </p:cNvSpPr>
          <p:nvPr>
            <p:ph type="title"/>
          </p:nvPr>
        </p:nvSpPr>
        <p:spPr/>
        <p:txBody>
          <a:bodyPr/>
          <a:lstStyle/>
          <a:p>
            <a:r>
              <a:rPr kumimoji="1" lang="ja-JP" altLang="en-US" dirty="0" smtClean="0"/>
              <a:t>アクリル板</a:t>
            </a:r>
            <a:endParaRPr kumimoji="1" lang="ja-JP" altLang="en-US" dirty="0"/>
          </a:p>
        </p:txBody>
      </p:sp>
      <p:sp>
        <p:nvSpPr>
          <p:cNvPr id="5" name="テキスト ボックス 4"/>
          <p:cNvSpPr txBox="1"/>
          <p:nvPr/>
        </p:nvSpPr>
        <p:spPr>
          <a:xfrm>
            <a:off x="4084067" y="3573016"/>
            <a:ext cx="4806124" cy="1815882"/>
          </a:xfrm>
          <a:prstGeom prst="rect">
            <a:avLst/>
          </a:prstGeom>
          <a:noFill/>
        </p:spPr>
        <p:txBody>
          <a:bodyPr wrap="none" rtlCol="0">
            <a:spAutoFit/>
          </a:bodyPr>
          <a:lstStyle/>
          <a:p>
            <a:r>
              <a:rPr kumimoji="1" lang="ja-JP" altLang="en-US" sz="2800" dirty="0" smtClean="0"/>
              <a:t>・装置の外枠とテーブル部分に</a:t>
            </a:r>
            <a:endParaRPr kumimoji="1" lang="en-US" altLang="ja-JP" sz="2800" dirty="0" smtClean="0"/>
          </a:p>
          <a:p>
            <a:r>
              <a:rPr lang="ja-JP" altLang="en-US" sz="2800" dirty="0"/>
              <a:t>　</a:t>
            </a:r>
            <a:r>
              <a:rPr kumimoji="1" lang="ja-JP" altLang="en-US" sz="2800" dirty="0" smtClean="0"/>
              <a:t>使用</a:t>
            </a:r>
            <a:endParaRPr kumimoji="1" lang="en-US" altLang="ja-JP" sz="2800" dirty="0" smtClean="0"/>
          </a:p>
          <a:p>
            <a:r>
              <a:rPr lang="ja-JP" altLang="en-US" sz="2800" dirty="0" smtClean="0"/>
              <a:t>・厚さ３ｍｍと５ｍｍの組み</a:t>
            </a:r>
            <a:r>
              <a:rPr lang="ja-JP" altLang="en-US" sz="2800" dirty="0" err="1" smtClean="0"/>
              <a:t>合わ</a:t>
            </a:r>
            <a:endParaRPr lang="en-US" altLang="ja-JP" sz="2800" dirty="0" smtClean="0"/>
          </a:p>
          <a:p>
            <a:r>
              <a:rPr lang="ja-JP" altLang="en-US" sz="2800" dirty="0"/>
              <a:t>　</a:t>
            </a:r>
            <a:r>
              <a:rPr lang="ja-JP" altLang="en-US" sz="2800" dirty="0" err="1" smtClean="0"/>
              <a:t>せて</a:t>
            </a:r>
            <a:r>
              <a:rPr lang="ja-JP" altLang="en-US" sz="2800" dirty="0" smtClean="0"/>
              <a:t>使用する予定</a:t>
            </a:r>
            <a:endParaRPr kumimoji="1" lang="en-US" altLang="ja-JP" sz="2800" dirty="0" smtClean="0"/>
          </a:p>
        </p:txBody>
      </p:sp>
    </p:spTree>
    <p:extLst>
      <p:ext uri="{BB962C8B-B14F-4D97-AF65-F5344CB8AC3E}">
        <p14:creationId xmlns:p14="http://schemas.microsoft.com/office/powerpoint/2010/main" val="16659204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1"/>
          </p:nvPr>
        </p:nvSpPr>
        <p:spPr/>
        <p:txBody>
          <a:bodyPr/>
          <a:lstStyle/>
          <a:p>
            <a:pPr marL="0" indent="0" algn="ctr">
              <a:lnSpc>
                <a:spcPct val="150000"/>
              </a:lnSpc>
              <a:buNone/>
            </a:pPr>
            <a:r>
              <a:rPr kumimoji="1" lang="ja-JP" altLang="en-US" sz="3200" dirty="0" smtClean="0"/>
              <a:t>・モータードライバの不使用</a:t>
            </a:r>
            <a:endParaRPr kumimoji="1" lang="en-US" altLang="ja-JP" sz="3200" dirty="0" smtClean="0"/>
          </a:p>
          <a:p>
            <a:pPr marL="0" indent="0" algn="ctr">
              <a:lnSpc>
                <a:spcPct val="150000"/>
              </a:lnSpc>
              <a:buNone/>
            </a:pPr>
            <a:r>
              <a:rPr lang="ja-JP" altLang="en-US" sz="3200" dirty="0" smtClean="0"/>
              <a:t>・テーブル部分の形の変更</a:t>
            </a:r>
            <a:endParaRPr lang="en-US" altLang="ja-JP" sz="3200" dirty="0" smtClean="0"/>
          </a:p>
          <a:p>
            <a:pPr marL="0" indent="0" algn="ctr">
              <a:lnSpc>
                <a:spcPct val="150000"/>
              </a:lnSpc>
              <a:buNone/>
            </a:pPr>
            <a:r>
              <a:rPr kumimoji="1" lang="ja-JP" altLang="en-US" sz="3200" dirty="0" smtClean="0"/>
              <a:t>・スイッチング電源の使用</a:t>
            </a:r>
            <a:endParaRPr kumimoji="1" lang="en-US" altLang="ja-JP" sz="3200" dirty="0" smtClean="0"/>
          </a:p>
          <a:p>
            <a:pPr marL="0" indent="0" algn="ctr">
              <a:lnSpc>
                <a:spcPct val="150000"/>
              </a:lnSpc>
              <a:buNone/>
            </a:pPr>
            <a:r>
              <a:rPr lang="ja-JP" altLang="en-US" sz="3200" dirty="0" smtClean="0"/>
              <a:t>・</a:t>
            </a:r>
            <a:r>
              <a:rPr lang="en-US" altLang="ja-JP" sz="3200" dirty="0" smtClean="0"/>
              <a:t>AC</a:t>
            </a:r>
            <a:r>
              <a:rPr lang="ja-JP" altLang="en-US" sz="3200" dirty="0" smtClean="0"/>
              <a:t>アダプタの使用</a:t>
            </a:r>
            <a:endParaRPr kumimoji="1" lang="en-US" altLang="ja-JP" sz="3200" dirty="0" smtClean="0"/>
          </a:p>
          <a:p>
            <a:endParaRPr kumimoji="1" lang="ja-JP" altLang="en-US" dirty="0"/>
          </a:p>
        </p:txBody>
      </p:sp>
      <p:sp>
        <p:nvSpPr>
          <p:cNvPr id="3" name="タイトル 2"/>
          <p:cNvSpPr>
            <a:spLocks noGrp="1"/>
          </p:cNvSpPr>
          <p:nvPr>
            <p:ph type="title"/>
          </p:nvPr>
        </p:nvSpPr>
        <p:spPr/>
        <p:txBody>
          <a:bodyPr/>
          <a:lstStyle/>
          <a:p>
            <a:r>
              <a:rPr lang="ja-JP" altLang="en-US" dirty="0"/>
              <a:t>５</a:t>
            </a:r>
            <a:r>
              <a:rPr kumimoji="1" lang="ja-JP" altLang="en-US" dirty="0" smtClean="0"/>
              <a:t>．</a:t>
            </a:r>
            <a:r>
              <a:rPr kumimoji="1" lang="ja-JP" altLang="en-US" dirty="0" smtClean="0"/>
              <a:t>　変更点</a:t>
            </a:r>
            <a:endParaRPr kumimoji="1" lang="ja-JP" altLang="en-US" dirty="0"/>
          </a:p>
        </p:txBody>
      </p:sp>
    </p:spTree>
    <p:extLst>
      <p:ext uri="{BB962C8B-B14F-4D97-AF65-F5344CB8AC3E}">
        <p14:creationId xmlns:p14="http://schemas.microsoft.com/office/powerpoint/2010/main" val="22471835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コンテンツ プレースホルダー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07504" y="3212976"/>
            <a:ext cx="3672408" cy="2695453"/>
          </a:xfrm>
        </p:spPr>
      </p:pic>
      <p:sp>
        <p:nvSpPr>
          <p:cNvPr id="3" name="タイトル 2"/>
          <p:cNvSpPr>
            <a:spLocks noGrp="1"/>
          </p:cNvSpPr>
          <p:nvPr>
            <p:ph type="title"/>
          </p:nvPr>
        </p:nvSpPr>
        <p:spPr/>
        <p:txBody>
          <a:bodyPr>
            <a:normAutofit/>
          </a:bodyPr>
          <a:lstStyle/>
          <a:p>
            <a:r>
              <a:rPr kumimoji="1" lang="ja-JP" altLang="en-US" dirty="0" smtClean="0"/>
              <a:t>モータードライバの不使用</a:t>
            </a:r>
            <a:endParaRPr kumimoji="1" lang="ja-JP" altLang="en-US" dirty="0"/>
          </a:p>
        </p:txBody>
      </p:sp>
      <p:sp>
        <p:nvSpPr>
          <p:cNvPr id="5" name="テキスト ボックス 4"/>
          <p:cNvSpPr txBox="1"/>
          <p:nvPr/>
        </p:nvSpPr>
        <p:spPr>
          <a:xfrm>
            <a:off x="3794780" y="3689449"/>
            <a:ext cx="5410455" cy="954107"/>
          </a:xfrm>
          <a:prstGeom prst="rect">
            <a:avLst/>
          </a:prstGeom>
          <a:noFill/>
        </p:spPr>
        <p:txBody>
          <a:bodyPr wrap="none" rtlCol="0">
            <a:spAutoFit/>
          </a:bodyPr>
          <a:lstStyle/>
          <a:p>
            <a:r>
              <a:rPr lang="ja-JP" altLang="en-US" sz="2800" dirty="0" smtClean="0"/>
              <a:t>サーボモーター</a:t>
            </a:r>
            <a:r>
              <a:rPr lang="ja-JP" altLang="en-US" sz="2800" dirty="0"/>
              <a:t>に</a:t>
            </a:r>
            <a:r>
              <a:rPr lang="ja-JP" altLang="en-US" sz="2800" dirty="0" smtClean="0"/>
              <a:t>制御回路が内蔵</a:t>
            </a:r>
            <a:endParaRPr lang="en-US" altLang="ja-JP" sz="2800" dirty="0" smtClean="0"/>
          </a:p>
          <a:p>
            <a:r>
              <a:rPr lang="ja-JP" altLang="en-US" sz="2800" dirty="0" smtClean="0"/>
              <a:t>されているため今回</a:t>
            </a:r>
            <a:r>
              <a:rPr lang="ja-JP" altLang="en-US" sz="2800" dirty="0"/>
              <a:t>不要</a:t>
            </a:r>
            <a:r>
              <a:rPr lang="ja-JP" altLang="en-US" sz="2800" dirty="0" smtClean="0"/>
              <a:t>。</a:t>
            </a:r>
            <a:endParaRPr lang="en-US" altLang="ja-JP" sz="2800" dirty="0"/>
          </a:p>
        </p:txBody>
      </p:sp>
    </p:spTree>
    <p:extLst>
      <p:ext uri="{BB962C8B-B14F-4D97-AF65-F5344CB8AC3E}">
        <p14:creationId xmlns:p14="http://schemas.microsoft.com/office/powerpoint/2010/main" val="41763586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テーブル部分の形の変更</a:t>
            </a:r>
            <a:endParaRPr kumimoji="1" lang="ja-JP" altLang="en-US" dirty="0"/>
          </a:p>
        </p:txBody>
      </p:sp>
      <p:sp>
        <p:nvSpPr>
          <p:cNvPr id="5" name="テキスト ボックス 4"/>
          <p:cNvSpPr txBox="1"/>
          <p:nvPr/>
        </p:nvSpPr>
        <p:spPr>
          <a:xfrm>
            <a:off x="4067944" y="3284984"/>
            <a:ext cx="5009705" cy="3108543"/>
          </a:xfrm>
          <a:prstGeom prst="rect">
            <a:avLst/>
          </a:prstGeom>
          <a:noFill/>
        </p:spPr>
        <p:txBody>
          <a:bodyPr wrap="none" rtlCol="0">
            <a:spAutoFit/>
          </a:bodyPr>
          <a:lstStyle/>
          <a:p>
            <a:r>
              <a:rPr lang="ja-JP" altLang="en-US" sz="2800" dirty="0" smtClean="0"/>
              <a:t>変更前：テーブル部分にのせる</a:t>
            </a:r>
            <a:endParaRPr lang="en-US" altLang="ja-JP" sz="2800" dirty="0" smtClean="0"/>
          </a:p>
          <a:p>
            <a:endParaRPr lang="en-US" altLang="ja-JP" sz="2800" dirty="0" smtClean="0"/>
          </a:p>
          <a:p>
            <a:r>
              <a:rPr lang="ja-JP" altLang="en-US" sz="2800" dirty="0" smtClean="0"/>
              <a:t>　　　　　　　　　↓</a:t>
            </a:r>
            <a:endParaRPr lang="en-US" altLang="ja-JP" sz="2800" dirty="0" smtClean="0"/>
          </a:p>
          <a:p>
            <a:endParaRPr lang="en-US" altLang="ja-JP" sz="2800" dirty="0" smtClean="0"/>
          </a:p>
          <a:p>
            <a:r>
              <a:rPr kumimoji="1" lang="ja-JP" altLang="en-US" sz="2800" dirty="0" smtClean="0"/>
              <a:t>変更後：テーブルをコップの形に</a:t>
            </a:r>
            <a:endParaRPr kumimoji="1" lang="en-US" altLang="ja-JP" sz="2800" dirty="0" smtClean="0"/>
          </a:p>
          <a:p>
            <a:r>
              <a:rPr lang="ja-JP" altLang="en-US" sz="2800" dirty="0"/>
              <a:t>　</a:t>
            </a:r>
            <a:r>
              <a:rPr lang="ja-JP" altLang="en-US" sz="2800" dirty="0" smtClean="0"/>
              <a:t>　　　　</a:t>
            </a:r>
            <a:r>
              <a:rPr kumimoji="1" lang="ja-JP" altLang="en-US" sz="2800" dirty="0" smtClean="0"/>
              <a:t>切り取り、そこにコップを</a:t>
            </a:r>
            <a:endParaRPr kumimoji="1" lang="en-US" altLang="ja-JP" sz="2800" dirty="0" smtClean="0"/>
          </a:p>
          <a:p>
            <a:r>
              <a:rPr lang="ja-JP" altLang="en-US" sz="2800" dirty="0"/>
              <a:t>　</a:t>
            </a:r>
            <a:r>
              <a:rPr lang="ja-JP" altLang="en-US" sz="2800" dirty="0" smtClean="0"/>
              <a:t>　　　　</a:t>
            </a:r>
            <a:r>
              <a:rPr kumimoji="1" lang="ja-JP" altLang="en-US" sz="2800" dirty="0" smtClean="0"/>
              <a:t>はめ込む</a:t>
            </a:r>
            <a:endParaRPr kumimoji="1" lang="ja-JP" altLang="en-US" sz="2800" dirty="0"/>
          </a:p>
        </p:txBody>
      </p:sp>
      <p:pic>
        <p:nvPicPr>
          <p:cNvPr id="2" name="図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2721119"/>
            <a:ext cx="2232248" cy="3672408"/>
          </a:xfrm>
          <a:prstGeom prst="rect">
            <a:avLst/>
          </a:prstGeom>
        </p:spPr>
      </p:pic>
    </p:spTree>
    <p:extLst>
      <p:ext uri="{BB962C8B-B14F-4D97-AF65-F5344CB8AC3E}">
        <p14:creationId xmlns:p14="http://schemas.microsoft.com/office/powerpoint/2010/main" val="71019965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71538" y="3174802"/>
            <a:ext cx="3268662" cy="2451496"/>
          </a:xfrm>
        </p:spPr>
      </p:pic>
      <p:sp>
        <p:nvSpPr>
          <p:cNvPr id="3" name="タイトル 2"/>
          <p:cNvSpPr>
            <a:spLocks noGrp="1"/>
          </p:cNvSpPr>
          <p:nvPr>
            <p:ph type="title"/>
          </p:nvPr>
        </p:nvSpPr>
        <p:spPr/>
        <p:txBody>
          <a:bodyPr/>
          <a:lstStyle/>
          <a:p>
            <a:r>
              <a:rPr kumimoji="1" lang="ja-JP" altLang="en-US" dirty="0" smtClean="0"/>
              <a:t>スイッチング電源の使用</a:t>
            </a:r>
            <a:endParaRPr kumimoji="1" lang="ja-JP" altLang="en-US" dirty="0"/>
          </a:p>
        </p:txBody>
      </p:sp>
      <p:sp>
        <p:nvSpPr>
          <p:cNvPr id="4" name="テキスト ボックス 3"/>
          <p:cNvSpPr txBox="1"/>
          <p:nvPr/>
        </p:nvSpPr>
        <p:spPr>
          <a:xfrm>
            <a:off x="4067944" y="3308608"/>
            <a:ext cx="4599336" cy="1815882"/>
          </a:xfrm>
          <a:prstGeom prst="rect">
            <a:avLst/>
          </a:prstGeom>
          <a:noFill/>
        </p:spPr>
        <p:txBody>
          <a:bodyPr wrap="none" rtlCol="0">
            <a:spAutoFit/>
          </a:bodyPr>
          <a:lstStyle/>
          <a:p>
            <a:r>
              <a:rPr kumimoji="1" lang="ja-JP" altLang="en-US" sz="2800" dirty="0" smtClean="0"/>
              <a:t>・サーボモーターへの電源とし</a:t>
            </a:r>
            <a:endParaRPr kumimoji="1" lang="en-US" altLang="ja-JP" sz="2800" dirty="0" smtClean="0"/>
          </a:p>
          <a:p>
            <a:r>
              <a:rPr lang="ja-JP" altLang="en-US" sz="2800" dirty="0"/>
              <a:t>　</a:t>
            </a:r>
            <a:r>
              <a:rPr kumimoji="1" lang="ja-JP" altLang="en-US" sz="2800" dirty="0" err="1" smtClean="0"/>
              <a:t>て</a:t>
            </a:r>
            <a:r>
              <a:rPr kumimoji="1" lang="ja-JP" altLang="en-US" sz="2800" dirty="0" smtClean="0"/>
              <a:t>使用</a:t>
            </a:r>
            <a:endParaRPr kumimoji="1" lang="en-US" altLang="ja-JP" sz="2800" dirty="0" smtClean="0"/>
          </a:p>
          <a:p>
            <a:r>
              <a:rPr kumimoji="1" lang="ja-JP" altLang="en-US" sz="2800" dirty="0" smtClean="0"/>
              <a:t>・安定した電圧を流すことが</a:t>
            </a:r>
            <a:endParaRPr kumimoji="1" lang="en-US" altLang="ja-JP" sz="2800" dirty="0" smtClean="0"/>
          </a:p>
          <a:p>
            <a:r>
              <a:rPr lang="ja-JP" altLang="en-US" sz="2800" dirty="0"/>
              <a:t>　</a:t>
            </a:r>
            <a:r>
              <a:rPr kumimoji="1" lang="ja-JP" altLang="en-US" sz="2800" dirty="0" smtClean="0"/>
              <a:t>できる</a:t>
            </a:r>
            <a:endParaRPr kumimoji="1" lang="ja-JP" altLang="en-US" sz="2800" dirty="0"/>
          </a:p>
        </p:txBody>
      </p:sp>
    </p:spTree>
    <p:extLst>
      <p:ext uri="{BB962C8B-B14F-4D97-AF65-F5344CB8AC3E}">
        <p14:creationId xmlns:p14="http://schemas.microsoft.com/office/powerpoint/2010/main" val="415992893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コンテンツ プレースホルダー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71538" y="3283149"/>
            <a:ext cx="2979737" cy="2234802"/>
          </a:xfrm>
        </p:spPr>
      </p:pic>
      <p:sp>
        <p:nvSpPr>
          <p:cNvPr id="3" name="タイトル 2"/>
          <p:cNvSpPr>
            <a:spLocks noGrp="1"/>
          </p:cNvSpPr>
          <p:nvPr>
            <p:ph type="title"/>
          </p:nvPr>
        </p:nvSpPr>
        <p:spPr/>
        <p:txBody>
          <a:bodyPr/>
          <a:lstStyle/>
          <a:p>
            <a:r>
              <a:rPr kumimoji="1" lang="en-US" altLang="ja-JP" dirty="0" smtClean="0"/>
              <a:t>AC</a:t>
            </a:r>
            <a:r>
              <a:rPr kumimoji="1" lang="ja-JP" altLang="en-US" dirty="0" smtClean="0"/>
              <a:t>アダプタ</a:t>
            </a:r>
            <a:endParaRPr kumimoji="1" lang="ja-JP" altLang="en-US" dirty="0"/>
          </a:p>
        </p:txBody>
      </p:sp>
      <p:sp>
        <p:nvSpPr>
          <p:cNvPr id="4" name="テキスト ボックス 3"/>
          <p:cNvSpPr txBox="1"/>
          <p:nvPr/>
        </p:nvSpPr>
        <p:spPr>
          <a:xfrm>
            <a:off x="4283968" y="2996952"/>
            <a:ext cx="4815742" cy="1384995"/>
          </a:xfrm>
          <a:prstGeom prst="rect">
            <a:avLst/>
          </a:prstGeom>
          <a:noFill/>
        </p:spPr>
        <p:txBody>
          <a:bodyPr wrap="none" rtlCol="0">
            <a:spAutoFit/>
          </a:bodyPr>
          <a:lstStyle/>
          <a:p>
            <a:r>
              <a:rPr kumimoji="1" lang="ja-JP" altLang="en-US" sz="2800" dirty="0" smtClean="0"/>
              <a:t>・</a:t>
            </a:r>
            <a:r>
              <a:rPr kumimoji="1" lang="en-US" altLang="ja-JP" sz="2800" dirty="0" smtClean="0"/>
              <a:t>Arduino</a:t>
            </a:r>
            <a:r>
              <a:rPr kumimoji="1" lang="ja-JP" altLang="en-US" sz="2800" dirty="0" smtClean="0"/>
              <a:t>の電源に使用</a:t>
            </a:r>
            <a:endParaRPr kumimoji="1" lang="en-US" altLang="ja-JP" sz="2800" dirty="0" smtClean="0"/>
          </a:p>
          <a:p>
            <a:r>
              <a:rPr lang="ja-JP" altLang="en-US" sz="2800" dirty="0" smtClean="0"/>
              <a:t>・初めは電池を使用予定だった</a:t>
            </a:r>
            <a:endParaRPr lang="en-US" altLang="ja-JP" sz="2800" dirty="0" smtClean="0"/>
          </a:p>
          <a:p>
            <a:endParaRPr kumimoji="1" lang="ja-JP" altLang="en-US" sz="2800" dirty="0"/>
          </a:p>
        </p:txBody>
      </p:sp>
    </p:spTree>
    <p:extLst>
      <p:ext uri="{BB962C8B-B14F-4D97-AF65-F5344CB8AC3E}">
        <p14:creationId xmlns:p14="http://schemas.microsoft.com/office/powerpoint/2010/main" val="421298403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kumimoji="1" lang="ja-JP" altLang="en-US" dirty="0" smtClean="0"/>
              <a:t>６．　進捗状況</a:t>
            </a:r>
            <a:endParaRPr kumimoji="1" lang="ja-JP" altLang="en-US" dirty="0"/>
          </a:p>
        </p:txBody>
      </p:sp>
      <p:sp>
        <p:nvSpPr>
          <p:cNvPr id="5" name="コンテンツ プレースホルダー 2"/>
          <p:cNvSpPr>
            <a:spLocks noGrp="1"/>
          </p:cNvSpPr>
          <p:nvPr>
            <p:ph idx="1"/>
          </p:nvPr>
        </p:nvSpPr>
        <p:spPr>
          <a:xfrm>
            <a:off x="899592" y="2642600"/>
            <a:ext cx="7408333" cy="3450696"/>
          </a:xfrm>
        </p:spPr>
        <p:txBody>
          <a:bodyPr numCol="2" anchor="ctr">
            <a:normAutofit/>
          </a:bodyPr>
          <a:lstStyle/>
          <a:p>
            <a:pPr lvl="0"/>
            <a:r>
              <a:rPr lang="ja-JP" altLang="ja-JP" dirty="0">
                <a:latin typeface="+mn-ea"/>
              </a:rPr>
              <a:t>使用する部品の決定</a:t>
            </a:r>
          </a:p>
          <a:p>
            <a:pPr lvl="0"/>
            <a:r>
              <a:rPr lang="en-US" altLang="ja-JP" dirty="0">
                <a:latin typeface="+mn-ea"/>
              </a:rPr>
              <a:t>Arduino IDE</a:t>
            </a:r>
            <a:r>
              <a:rPr lang="ja-JP" altLang="ja-JP" dirty="0">
                <a:latin typeface="+mn-ea"/>
              </a:rPr>
              <a:t>のインストール</a:t>
            </a:r>
          </a:p>
          <a:p>
            <a:pPr lvl="0"/>
            <a:r>
              <a:rPr lang="ja-JP" altLang="ja-JP" dirty="0">
                <a:latin typeface="+mn-ea"/>
              </a:rPr>
              <a:t>サンプルコードを試行</a:t>
            </a:r>
          </a:p>
          <a:p>
            <a:pPr lvl="0"/>
            <a:r>
              <a:rPr lang="ja-JP" altLang="ja-JP" dirty="0">
                <a:latin typeface="+mn-ea"/>
              </a:rPr>
              <a:t>回路についての勉強</a:t>
            </a:r>
          </a:p>
          <a:p>
            <a:pPr lvl="0"/>
            <a:r>
              <a:rPr lang="ja-JP" altLang="ja-JP" dirty="0">
                <a:latin typeface="+mn-ea"/>
              </a:rPr>
              <a:t>電子回路作成</a:t>
            </a:r>
          </a:p>
          <a:p>
            <a:pPr lvl="0"/>
            <a:r>
              <a:rPr lang="ja-JP" altLang="ja-JP" dirty="0">
                <a:latin typeface="+mn-ea"/>
              </a:rPr>
              <a:t>外枠・テーブルの</a:t>
            </a:r>
            <a:r>
              <a:rPr lang="ja-JP" altLang="ja-JP" dirty="0" smtClean="0">
                <a:latin typeface="+mn-ea"/>
              </a:rPr>
              <a:t>設計図</a:t>
            </a:r>
            <a:r>
              <a:rPr lang="ja-JP" altLang="ja-JP" dirty="0">
                <a:latin typeface="+mn-ea"/>
              </a:rPr>
              <a:t>の</a:t>
            </a:r>
            <a:r>
              <a:rPr lang="ja-JP" altLang="ja-JP" dirty="0" smtClean="0">
                <a:latin typeface="+mn-ea"/>
              </a:rPr>
              <a:t>作成</a:t>
            </a:r>
            <a:r>
              <a:rPr lang="ja-JP" altLang="en-US" dirty="0" smtClean="0">
                <a:latin typeface="+mn-ea"/>
              </a:rPr>
              <a:t>　　</a:t>
            </a:r>
            <a:endParaRPr lang="en-US" altLang="ja-JP" dirty="0" smtClean="0">
              <a:latin typeface="+mn-ea"/>
            </a:endParaRPr>
          </a:p>
          <a:p>
            <a:pPr lvl="0"/>
            <a:r>
              <a:rPr lang="ja-JP" altLang="ja-JP" dirty="0" smtClean="0">
                <a:latin typeface="+mn-ea"/>
              </a:rPr>
              <a:t>素材</a:t>
            </a:r>
            <a:r>
              <a:rPr lang="ja-JP" altLang="ja-JP" dirty="0">
                <a:latin typeface="+mn-ea"/>
              </a:rPr>
              <a:t>の</a:t>
            </a:r>
            <a:r>
              <a:rPr lang="ja-JP" altLang="ja-JP" dirty="0" smtClean="0">
                <a:latin typeface="+mn-ea"/>
              </a:rPr>
              <a:t>加工</a:t>
            </a:r>
            <a:endParaRPr lang="en-US" altLang="ja-JP" dirty="0" smtClean="0">
              <a:latin typeface="+mn-ea"/>
            </a:endParaRPr>
          </a:p>
          <a:p>
            <a:pPr lvl="0"/>
            <a:r>
              <a:rPr lang="ja-JP" altLang="en-US" dirty="0">
                <a:latin typeface="+mn-ea"/>
              </a:rPr>
              <a:t>プログラミング</a:t>
            </a:r>
            <a:endParaRPr lang="ja-JP" altLang="ja-JP" dirty="0">
              <a:latin typeface="+mn-ea"/>
            </a:endParaRPr>
          </a:p>
          <a:p>
            <a:pPr lvl="0"/>
            <a:r>
              <a:rPr lang="ja-JP" altLang="ja-JP" dirty="0">
                <a:latin typeface="+mn-ea"/>
              </a:rPr>
              <a:t>加工した部品の</a:t>
            </a:r>
            <a:r>
              <a:rPr lang="ja-JP" altLang="ja-JP" dirty="0" smtClean="0">
                <a:latin typeface="+mn-ea"/>
              </a:rPr>
              <a:t>組み立て</a:t>
            </a:r>
            <a:endParaRPr lang="ja-JP" altLang="ja-JP" dirty="0">
              <a:latin typeface="+mn-ea"/>
            </a:endParaRPr>
          </a:p>
          <a:p>
            <a:pPr lvl="0"/>
            <a:r>
              <a:rPr lang="ja-JP" altLang="ja-JP" dirty="0">
                <a:latin typeface="+mn-ea"/>
              </a:rPr>
              <a:t>試行</a:t>
            </a:r>
          </a:p>
          <a:p>
            <a:pPr lvl="0"/>
            <a:r>
              <a:rPr lang="ja-JP" altLang="ja-JP" dirty="0" smtClean="0">
                <a:latin typeface="+mn-ea"/>
              </a:rPr>
              <a:t>完成</a:t>
            </a:r>
            <a:endParaRPr lang="ja-JP" altLang="ja-JP" dirty="0">
              <a:latin typeface="+mn-ea"/>
            </a:endParaRPr>
          </a:p>
        </p:txBody>
      </p:sp>
      <p:sp>
        <p:nvSpPr>
          <p:cNvPr id="7" name="右矢印 6"/>
          <p:cNvSpPr/>
          <p:nvPr/>
        </p:nvSpPr>
        <p:spPr>
          <a:xfrm>
            <a:off x="107504" y="5360580"/>
            <a:ext cx="792088" cy="4320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3272099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lang="ja-JP" altLang="en-US" dirty="0"/>
              <a:t>動画</a:t>
            </a:r>
            <a:endParaRPr kumimoji="1" lang="ja-JP"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3068960"/>
            <a:ext cx="5550990" cy="316509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9675250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1"/>
          </p:nvPr>
        </p:nvSpPr>
        <p:spPr>
          <a:xfrm>
            <a:off x="872067" y="2675466"/>
            <a:ext cx="7408333" cy="4065901"/>
          </a:xfrm>
        </p:spPr>
        <p:txBody>
          <a:bodyPr/>
          <a:lstStyle/>
          <a:p>
            <a:pPr marL="0" indent="0">
              <a:buNone/>
            </a:pPr>
            <a:r>
              <a:rPr kumimoji="1" lang="en-US" altLang="ja-JP" dirty="0" smtClean="0"/>
              <a:t>12</a:t>
            </a:r>
            <a:r>
              <a:rPr kumimoji="1" lang="ja-JP" altLang="en-US" dirty="0" smtClean="0"/>
              <a:t>月　  ・加速度センサーのプログラムテスト</a:t>
            </a:r>
            <a:endParaRPr lang="en-US" altLang="ja-JP" dirty="0"/>
          </a:p>
          <a:p>
            <a:pPr marL="0" indent="0">
              <a:buNone/>
            </a:pPr>
            <a:r>
              <a:rPr kumimoji="1" lang="en-US" altLang="ja-JP" sz="2400" dirty="0" smtClean="0"/>
              <a:t>	</a:t>
            </a:r>
            <a:r>
              <a:rPr kumimoji="1" lang="ja-JP" altLang="en-US" sz="2400" dirty="0" smtClean="0"/>
              <a:t>・サーボモーターと加速度センサーのプログラムテ　　    </a:t>
            </a:r>
            <a:r>
              <a:rPr kumimoji="1" lang="en-US" altLang="ja-JP" sz="2400" dirty="0" smtClean="0"/>
              <a:t>	   </a:t>
            </a:r>
            <a:r>
              <a:rPr kumimoji="1" lang="ja-JP" altLang="en-US" sz="2400" dirty="0" smtClean="0"/>
              <a:t>スト</a:t>
            </a:r>
            <a:endParaRPr kumimoji="1" lang="en-US" altLang="ja-JP" sz="2400" dirty="0" smtClean="0"/>
          </a:p>
          <a:p>
            <a:pPr marL="914400" lvl="3" indent="0">
              <a:buNone/>
            </a:pPr>
            <a:r>
              <a:rPr lang="ja-JP" altLang="en-US" sz="2400" dirty="0"/>
              <a:t>・</a:t>
            </a:r>
            <a:r>
              <a:rPr lang="ja-JP" altLang="en-US" sz="2400" dirty="0" smtClean="0"/>
              <a:t>アクリル板の</a:t>
            </a:r>
            <a:r>
              <a:rPr lang="ja-JP" altLang="en-US" sz="2400" dirty="0"/>
              <a:t>加工・</a:t>
            </a:r>
            <a:r>
              <a:rPr lang="ja-JP" altLang="en-US" sz="2400" dirty="0" smtClean="0"/>
              <a:t>組み立て</a:t>
            </a:r>
            <a:endParaRPr lang="en-US" altLang="ja-JP" sz="2400" dirty="0" smtClean="0"/>
          </a:p>
          <a:p>
            <a:pPr marL="45720" lvl="3" indent="0">
              <a:buNone/>
            </a:pPr>
            <a:r>
              <a:rPr lang="en-US" altLang="ja-JP" sz="2400" dirty="0"/>
              <a:t>1</a:t>
            </a:r>
            <a:r>
              <a:rPr lang="ja-JP" altLang="en-US" sz="2400" dirty="0" smtClean="0"/>
              <a:t>月</a:t>
            </a:r>
            <a:r>
              <a:rPr lang="ja-JP" altLang="en-US" dirty="0"/>
              <a:t>　</a:t>
            </a:r>
            <a:r>
              <a:rPr lang="ja-JP" altLang="en-US" dirty="0" smtClean="0"/>
              <a:t>　　</a:t>
            </a:r>
            <a:r>
              <a:rPr lang="ja-JP" altLang="en-US" sz="2400" dirty="0" smtClean="0"/>
              <a:t>・サーボモーター</a:t>
            </a:r>
            <a:r>
              <a:rPr lang="ja-JP" altLang="en-US" sz="2400" dirty="0"/>
              <a:t>と加速度センサーの</a:t>
            </a:r>
            <a:r>
              <a:rPr lang="ja-JP" altLang="en-US" sz="2400" dirty="0" smtClean="0"/>
              <a:t>プログラムテ</a:t>
            </a:r>
            <a:r>
              <a:rPr lang="en-US" altLang="ja-JP" sz="2400" dirty="0" smtClean="0"/>
              <a:t>	</a:t>
            </a:r>
            <a:r>
              <a:rPr lang="ja-JP" altLang="en-US" sz="2400" dirty="0" smtClean="0"/>
              <a:t>　スト</a:t>
            </a:r>
            <a:endParaRPr lang="en-US" altLang="ja-JP" sz="2400" dirty="0"/>
          </a:p>
          <a:p>
            <a:pPr marL="45720" lvl="3" indent="0">
              <a:buNone/>
            </a:pPr>
            <a:r>
              <a:rPr lang="en-US" altLang="ja-JP" dirty="0" smtClean="0"/>
              <a:t>	</a:t>
            </a:r>
            <a:r>
              <a:rPr lang="ja-JP" altLang="en-US" sz="2400" dirty="0"/>
              <a:t>・</a:t>
            </a:r>
            <a:r>
              <a:rPr lang="ja-JP" altLang="en-US" sz="2400" dirty="0" smtClean="0"/>
              <a:t>アクリル板</a:t>
            </a:r>
            <a:r>
              <a:rPr lang="ja-JP" altLang="en-US" sz="2400" dirty="0"/>
              <a:t>の加工・</a:t>
            </a:r>
            <a:r>
              <a:rPr lang="ja-JP" altLang="en-US" sz="2400" dirty="0" smtClean="0"/>
              <a:t>組み立て</a:t>
            </a:r>
            <a:endParaRPr lang="en-US" altLang="ja-JP" sz="2400" dirty="0" smtClean="0"/>
          </a:p>
          <a:p>
            <a:pPr marL="45720" lvl="3" indent="0">
              <a:buNone/>
            </a:pPr>
            <a:r>
              <a:rPr lang="en-US" altLang="ja-JP" sz="2400" dirty="0"/>
              <a:t>	</a:t>
            </a:r>
            <a:r>
              <a:rPr lang="ja-JP" altLang="en-US" sz="2400" dirty="0" smtClean="0"/>
              <a:t>・プログラミング</a:t>
            </a:r>
            <a:endParaRPr lang="en-US" altLang="ja-JP" sz="2400" dirty="0" smtClean="0"/>
          </a:p>
          <a:p>
            <a:pPr marL="45720" lvl="3" indent="0">
              <a:buNone/>
            </a:pPr>
            <a:r>
              <a:rPr lang="en-US" altLang="ja-JP" sz="2400" dirty="0"/>
              <a:t>2</a:t>
            </a:r>
            <a:r>
              <a:rPr lang="ja-JP" altLang="en-US" sz="2400" dirty="0" smtClean="0"/>
              <a:t>月　　・動作確認＆調整</a:t>
            </a:r>
            <a:endParaRPr lang="en-US" altLang="ja-JP" sz="2400" dirty="0"/>
          </a:p>
          <a:p>
            <a:pPr marL="45720" indent="0">
              <a:buNone/>
            </a:pPr>
            <a:endParaRPr lang="en-US" altLang="ja-JP" dirty="0" smtClean="0"/>
          </a:p>
        </p:txBody>
      </p:sp>
      <p:sp>
        <p:nvSpPr>
          <p:cNvPr id="3" name="タイトル 2"/>
          <p:cNvSpPr>
            <a:spLocks noGrp="1"/>
          </p:cNvSpPr>
          <p:nvPr>
            <p:ph type="title"/>
          </p:nvPr>
        </p:nvSpPr>
        <p:spPr/>
        <p:txBody>
          <a:bodyPr/>
          <a:lstStyle/>
          <a:p>
            <a:r>
              <a:rPr kumimoji="1" lang="ja-JP" altLang="en-US" dirty="0" smtClean="0"/>
              <a:t>７．　１２月以降の作業計画</a:t>
            </a:r>
            <a:endParaRPr kumimoji="1" lang="ja-JP" altLang="en-US" dirty="0"/>
          </a:p>
        </p:txBody>
      </p:sp>
    </p:spTree>
    <p:extLst>
      <p:ext uri="{BB962C8B-B14F-4D97-AF65-F5344CB8AC3E}">
        <p14:creationId xmlns:p14="http://schemas.microsoft.com/office/powerpoint/2010/main" val="14043398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1"/>
          </p:nvPr>
        </p:nvSpPr>
        <p:spPr/>
        <p:txBody>
          <a:bodyPr/>
          <a:lstStyle/>
          <a:p>
            <a:pPr marL="0" indent="0">
              <a:buNone/>
            </a:pPr>
            <a:r>
              <a:rPr lang="ja-JP" altLang="en-US" dirty="0" smtClean="0">
                <a:hlinkClick r:id="rId3"/>
              </a:rPr>
              <a:t>・「コップの水がこぼれない車載テーブルを</a:t>
            </a:r>
            <a:r>
              <a:rPr lang="en-US" altLang="ja-JP" dirty="0" err="1" smtClean="0">
                <a:hlinkClick r:id="rId3"/>
              </a:rPr>
              <a:t>arduino</a:t>
            </a:r>
            <a:r>
              <a:rPr lang="ja-JP" altLang="en-US" dirty="0" smtClean="0">
                <a:hlinkClick r:id="rId3"/>
              </a:rPr>
              <a:t>で」</a:t>
            </a:r>
            <a:endParaRPr lang="en-US" altLang="ja-JP" dirty="0" smtClean="0">
              <a:hlinkClick r:id="rId3"/>
            </a:endParaRPr>
          </a:p>
          <a:p>
            <a:pPr marL="0" indent="0">
              <a:buNone/>
            </a:pPr>
            <a:r>
              <a:rPr lang="en-US" altLang="ja-JP" dirty="0" smtClean="0">
                <a:hlinkClick r:id="rId3"/>
              </a:rPr>
              <a:t>https</a:t>
            </a:r>
            <a:r>
              <a:rPr lang="en-US" altLang="ja-JP" dirty="0">
                <a:hlinkClick r:id="rId3"/>
              </a:rPr>
              <a:t>://www.youtube.com/watch?v=-</a:t>
            </a:r>
            <a:r>
              <a:rPr lang="en-US" altLang="ja-JP" dirty="0" smtClean="0">
                <a:hlinkClick r:id="rId3"/>
              </a:rPr>
              <a:t>q7pv8vKH68</a:t>
            </a:r>
            <a:endParaRPr lang="en-US" altLang="ja-JP" dirty="0" smtClean="0"/>
          </a:p>
          <a:p>
            <a:pPr marL="0" indent="0">
              <a:buNone/>
            </a:pPr>
            <a:r>
              <a:rPr lang="ja-JP" altLang="en-US" dirty="0" smtClean="0">
                <a:hlinkClick r:id="rId4"/>
              </a:rPr>
              <a:t>・コップの水がこぼれない映像</a:t>
            </a:r>
            <a:endParaRPr lang="en-US" altLang="ja-JP" dirty="0" smtClean="0">
              <a:hlinkClick r:id="rId4"/>
            </a:endParaRPr>
          </a:p>
          <a:p>
            <a:pPr marL="0" indent="0">
              <a:buNone/>
            </a:pPr>
            <a:r>
              <a:rPr lang="en-US" altLang="ja-JP" dirty="0" smtClean="0">
                <a:hlinkClick r:id="rId4"/>
              </a:rPr>
              <a:t>http</a:t>
            </a:r>
            <a:r>
              <a:rPr lang="en-US" altLang="ja-JP" dirty="0">
                <a:hlinkClick r:id="rId4"/>
              </a:rPr>
              <a:t>://</a:t>
            </a:r>
            <a:r>
              <a:rPr lang="en-US" altLang="ja-JP" dirty="0" smtClean="0">
                <a:hlinkClick r:id="rId4"/>
              </a:rPr>
              <a:t>mixi.jp/view_bbs.pl?comm_id=447391&amp;id=50273238</a:t>
            </a:r>
            <a:endParaRPr lang="en-US" altLang="ja-JP" dirty="0" smtClean="0"/>
          </a:p>
          <a:p>
            <a:pPr marL="0" indent="0">
              <a:buNone/>
            </a:pPr>
            <a:r>
              <a:rPr lang="ja-JP" altLang="en-US" dirty="0" smtClean="0">
                <a:hlinkClick r:id="rId5"/>
              </a:rPr>
              <a:t>・はじめての電子工作超入門</a:t>
            </a:r>
            <a:endParaRPr lang="en-US" altLang="ja-JP" dirty="0" smtClean="0">
              <a:hlinkClick r:id="rId5"/>
            </a:endParaRPr>
          </a:p>
          <a:p>
            <a:pPr marL="0" indent="0">
              <a:buNone/>
            </a:pPr>
            <a:r>
              <a:rPr lang="en-US" altLang="ja-JP" dirty="0" smtClean="0">
                <a:hlinkClick r:id="rId5"/>
              </a:rPr>
              <a:t>http</a:t>
            </a:r>
            <a:r>
              <a:rPr lang="en-US" altLang="ja-JP" dirty="0">
                <a:hlinkClick r:id="rId5"/>
              </a:rPr>
              <a:t>://deviceplus.jp/hobby/entry013</a:t>
            </a:r>
            <a:r>
              <a:rPr lang="en-US" altLang="ja-JP" dirty="0" smtClean="0">
                <a:hlinkClick r:id="rId5"/>
              </a:rPr>
              <a:t>/</a:t>
            </a:r>
            <a:endParaRPr lang="en-US" altLang="ja-JP" dirty="0" smtClean="0"/>
          </a:p>
          <a:p>
            <a:endParaRPr lang="en-US" altLang="ja-JP" dirty="0" smtClean="0"/>
          </a:p>
          <a:p>
            <a:endParaRPr kumimoji="1" lang="ja-JP" altLang="en-US" dirty="0"/>
          </a:p>
        </p:txBody>
      </p:sp>
      <p:sp>
        <p:nvSpPr>
          <p:cNvPr id="3" name="タイトル 2"/>
          <p:cNvSpPr>
            <a:spLocks noGrp="1"/>
          </p:cNvSpPr>
          <p:nvPr>
            <p:ph type="title"/>
          </p:nvPr>
        </p:nvSpPr>
        <p:spPr/>
        <p:txBody>
          <a:bodyPr/>
          <a:lstStyle/>
          <a:p>
            <a:r>
              <a:rPr lang="ja-JP" altLang="en-US" dirty="0" smtClean="0"/>
              <a:t>６</a:t>
            </a:r>
            <a:r>
              <a:rPr lang="en-US" altLang="ja-JP" dirty="0" smtClean="0"/>
              <a:t>.</a:t>
            </a:r>
            <a:r>
              <a:rPr lang="ja-JP" altLang="en-US" dirty="0" smtClean="0"/>
              <a:t>　参考文献</a:t>
            </a:r>
            <a:endParaRPr kumimoji="1" lang="ja-JP" altLang="en-US" dirty="0"/>
          </a:p>
        </p:txBody>
      </p:sp>
    </p:spTree>
    <p:extLst>
      <p:ext uri="{BB962C8B-B14F-4D97-AF65-F5344CB8AC3E}">
        <p14:creationId xmlns:p14="http://schemas.microsoft.com/office/powerpoint/2010/main" val="33691247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867834" y="3016230"/>
            <a:ext cx="7408333" cy="825541"/>
          </a:xfrm>
        </p:spPr>
        <p:txBody>
          <a:bodyPr>
            <a:normAutofit/>
          </a:bodyPr>
          <a:lstStyle/>
          <a:p>
            <a:pPr marL="0" indent="0" algn="ctr">
              <a:buNone/>
            </a:pPr>
            <a:r>
              <a:rPr kumimoji="1" lang="ja-JP" altLang="en-US" sz="4000" dirty="0" smtClean="0"/>
              <a:t>ご静聴ありがとうございました。</a:t>
            </a:r>
            <a:endParaRPr kumimoji="1" lang="en-US" altLang="ja-JP" sz="4000" dirty="0" smtClean="0"/>
          </a:p>
        </p:txBody>
      </p:sp>
    </p:spTree>
    <p:extLst>
      <p:ext uri="{BB962C8B-B14F-4D97-AF65-F5344CB8AC3E}">
        <p14:creationId xmlns:p14="http://schemas.microsoft.com/office/powerpoint/2010/main" val="251391628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ウェーブ">
  <a:themeElements>
    <a:clrScheme name="ウェーブ">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ウェーブ">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ウェーブ">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3137</TotalTime>
  <Words>872</Words>
  <Application>Microsoft Office PowerPoint</Application>
  <PresentationFormat>画面に合わせる (4:3)</PresentationFormat>
  <Paragraphs>195</Paragraphs>
  <Slides>28</Slides>
  <Notes>27</Notes>
  <HiddenSlides>0</HiddenSlides>
  <MMClips>0</MMClips>
  <ScaleCrop>false</ScaleCrop>
  <HeadingPairs>
    <vt:vector size="4" baseType="variant">
      <vt:variant>
        <vt:lpstr>テーマ</vt:lpstr>
      </vt:variant>
      <vt:variant>
        <vt:i4>1</vt:i4>
      </vt:variant>
      <vt:variant>
        <vt:lpstr>スライド タイトル</vt:lpstr>
      </vt:variant>
      <vt:variant>
        <vt:i4>28</vt:i4>
      </vt:variant>
    </vt:vector>
  </HeadingPairs>
  <TitlesOfParts>
    <vt:vector size="29" baseType="lpstr">
      <vt:lpstr>ウェーブ</vt:lpstr>
      <vt:lpstr>Arduinoを使用してテーブルの バランスをとる装置の作成</vt:lpstr>
      <vt:lpstr>１.　はじめに</vt:lpstr>
      <vt:lpstr>２．開発環境</vt:lpstr>
      <vt:lpstr>３.　作成物</vt:lpstr>
      <vt:lpstr>装置の仕組み</vt:lpstr>
      <vt:lpstr>装置の概要</vt:lpstr>
      <vt:lpstr>テーブル部分</vt:lpstr>
      <vt:lpstr>４．　主な構成部品</vt:lpstr>
      <vt:lpstr>Arduino uno</vt:lpstr>
      <vt:lpstr>バニラシールド</vt:lpstr>
      <vt:lpstr>スイッチング電源</vt:lpstr>
      <vt:lpstr>スイッチング電源とは</vt:lpstr>
      <vt:lpstr>サーボモーター</vt:lpstr>
      <vt:lpstr>加速度センサー</vt:lpstr>
      <vt:lpstr>加速度センサーについて</vt:lpstr>
      <vt:lpstr>加速度を求める式</vt:lpstr>
      <vt:lpstr>I2C接続</vt:lpstr>
      <vt:lpstr>アクリル板</vt:lpstr>
      <vt:lpstr>５．　変更点</vt:lpstr>
      <vt:lpstr>モータードライバの不使用</vt:lpstr>
      <vt:lpstr>テーブル部分の形の変更</vt:lpstr>
      <vt:lpstr>スイッチング電源の使用</vt:lpstr>
      <vt:lpstr>ACアダプタ</vt:lpstr>
      <vt:lpstr>６．　進捗状況</vt:lpstr>
      <vt:lpstr>動画</vt:lpstr>
      <vt:lpstr>７．　１２月以降の作業計画</vt:lpstr>
      <vt:lpstr>６.　参考文献</vt:lpstr>
      <vt:lpstr>PowerPoint プレゼンテーション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Arduinoを使用してテーブルの バランスをとる装置の作成</dc:title>
  <dc:creator>h27cis18</dc:creator>
  <cp:lastModifiedBy>h27cis18</cp:lastModifiedBy>
  <cp:revision>104</cp:revision>
  <cp:lastPrinted>2016-12-22T03:29:29Z</cp:lastPrinted>
  <dcterms:created xsi:type="dcterms:W3CDTF">2016-09-01T23:55:32Z</dcterms:created>
  <dcterms:modified xsi:type="dcterms:W3CDTF">2016-12-22T03:46:06Z</dcterms:modified>
</cp:coreProperties>
</file>