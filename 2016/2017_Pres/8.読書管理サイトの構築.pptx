
<file path=[Content_Types].xml><?xml version="1.0" encoding="utf-8"?>
<Types xmlns="http://schemas.openxmlformats.org/package/2006/content-types">
  <Default Extension="png" ContentType="image/png"/>
  <Default Extension="tmp"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handoutMasterIdLst>
    <p:handoutMasterId r:id="rId23"/>
  </p:handoutMasterIdLst>
  <p:sldIdLst>
    <p:sldId id="256" r:id="rId2"/>
    <p:sldId id="257" r:id="rId3"/>
    <p:sldId id="258" r:id="rId4"/>
    <p:sldId id="259" r:id="rId5"/>
    <p:sldId id="260" r:id="rId6"/>
    <p:sldId id="270" r:id="rId7"/>
    <p:sldId id="271" r:id="rId8"/>
    <p:sldId id="272" r:id="rId9"/>
    <p:sldId id="273" r:id="rId10"/>
    <p:sldId id="274" r:id="rId11"/>
    <p:sldId id="282" r:id="rId12"/>
    <p:sldId id="276" r:id="rId13"/>
    <p:sldId id="277" r:id="rId14"/>
    <p:sldId id="278" r:id="rId15"/>
    <p:sldId id="279" r:id="rId16"/>
    <p:sldId id="280" r:id="rId17"/>
    <p:sldId id="283" r:id="rId18"/>
    <p:sldId id="281" r:id="rId19"/>
    <p:sldId id="284" r:id="rId20"/>
    <p:sldId id="269" r:id="rId21"/>
  </p:sldIdLst>
  <p:sldSz cx="9144000" cy="6858000" type="screen4x3"/>
  <p:notesSz cx="6735763" cy="98663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230" y="-10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53" d="100"/>
          <a:sy n="53" d="100"/>
        </p:scale>
        <p:origin x="-1200" y="-96"/>
      </p:cViewPr>
      <p:guideLst>
        <p:guide orient="horz" pos="3107"/>
        <p:guide pos="212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3316"/>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5373" y="0"/>
            <a:ext cx="2918831" cy="493316"/>
          </a:xfrm>
          <a:prstGeom prst="rect">
            <a:avLst/>
          </a:prstGeom>
        </p:spPr>
        <p:txBody>
          <a:bodyPr vert="horz" lIns="91440" tIns="45720" rIns="91440" bIns="45720" rtlCol="0"/>
          <a:lstStyle>
            <a:lvl1pPr algn="r">
              <a:defRPr sz="1200"/>
            </a:lvl1pPr>
          </a:lstStyle>
          <a:p>
            <a:fld id="{7078E897-A3F3-43E3-8E97-2C58BD11BC8D}" type="datetimeFigureOut">
              <a:rPr kumimoji="1" lang="ja-JP" altLang="en-US" smtClean="0"/>
              <a:t>2016/12/21</a:t>
            </a:fld>
            <a:endParaRPr kumimoji="1" lang="ja-JP" altLang="en-US"/>
          </a:p>
        </p:txBody>
      </p:sp>
      <p:sp>
        <p:nvSpPr>
          <p:cNvPr id="4" name="フッター プレースホルダー 3"/>
          <p:cNvSpPr>
            <a:spLocks noGrp="1"/>
          </p:cNvSpPr>
          <p:nvPr>
            <p:ph type="ftr" sz="quarter" idx="2"/>
          </p:nvPr>
        </p:nvSpPr>
        <p:spPr>
          <a:xfrm>
            <a:off x="0" y="9371285"/>
            <a:ext cx="2918831" cy="493316"/>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5373" y="9371285"/>
            <a:ext cx="2918831" cy="493316"/>
          </a:xfrm>
          <a:prstGeom prst="rect">
            <a:avLst/>
          </a:prstGeom>
        </p:spPr>
        <p:txBody>
          <a:bodyPr vert="horz" lIns="91440" tIns="45720" rIns="91440" bIns="45720" rtlCol="0" anchor="b"/>
          <a:lstStyle>
            <a:lvl1pPr algn="r">
              <a:defRPr sz="1200"/>
            </a:lvl1pPr>
          </a:lstStyle>
          <a:p>
            <a:fld id="{E517CECE-EBB9-4522-BC4B-7C956CA5EBE9}" type="slidenum">
              <a:rPr kumimoji="1" lang="ja-JP" altLang="en-US" smtClean="0"/>
              <a:t>‹#›</a:t>
            </a:fld>
            <a:endParaRPr kumimoji="1" lang="ja-JP" altLang="en-US"/>
          </a:p>
        </p:txBody>
      </p:sp>
    </p:spTree>
    <p:extLst>
      <p:ext uri="{BB962C8B-B14F-4D97-AF65-F5344CB8AC3E}">
        <p14:creationId xmlns:p14="http://schemas.microsoft.com/office/powerpoint/2010/main" val="9754189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9413" cy="49371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4763" y="0"/>
            <a:ext cx="2919412" cy="493713"/>
          </a:xfrm>
          <a:prstGeom prst="rect">
            <a:avLst/>
          </a:prstGeom>
        </p:spPr>
        <p:txBody>
          <a:bodyPr vert="horz" lIns="91440" tIns="45720" rIns="91440" bIns="45720" rtlCol="0"/>
          <a:lstStyle>
            <a:lvl1pPr algn="r">
              <a:defRPr sz="1200"/>
            </a:lvl1pPr>
          </a:lstStyle>
          <a:p>
            <a:fld id="{5E69AF2C-4D6F-47B3-A991-5AAB94C8477D}" type="datetimeFigureOut">
              <a:rPr kumimoji="1" lang="ja-JP" altLang="en-US" smtClean="0"/>
              <a:t>2016/12/21</a:t>
            </a:fld>
            <a:endParaRPr kumimoji="1" lang="ja-JP" altLang="en-US"/>
          </a:p>
        </p:txBody>
      </p:sp>
      <p:sp>
        <p:nvSpPr>
          <p:cNvPr id="4" name="スライド イメージ プレースホルダー 3"/>
          <p:cNvSpPr>
            <a:spLocks noGrp="1" noRot="1" noChangeAspect="1"/>
          </p:cNvSpPr>
          <p:nvPr>
            <p:ph type="sldImg" idx="2"/>
          </p:nvPr>
        </p:nvSpPr>
        <p:spPr>
          <a:xfrm>
            <a:off x="901700" y="739775"/>
            <a:ext cx="4932363" cy="3700463"/>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3100" y="4686300"/>
            <a:ext cx="5389563" cy="4440238"/>
          </a:xfrm>
          <a:prstGeom prst="rect">
            <a:avLst/>
          </a:prstGeom>
        </p:spPr>
        <p:txBody>
          <a:bodyPr vert="horz" lIns="91440" tIns="45720" rIns="91440" bIns="45720" rtlCol="0"/>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ー 5"/>
          <p:cNvSpPr>
            <a:spLocks noGrp="1"/>
          </p:cNvSpPr>
          <p:nvPr>
            <p:ph type="ftr" sz="quarter" idx="4"/>
          </p:nvPr>
        </p:nvSpPr>
        <p:spPr>
          <a:xfrm>
            <a:off x="0" y="9371013"/>
            <a:ext cx="2919413" cy="49371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4763" y="9371013"/>
            <a:ext cx="2919412" cy="493712"/>
          </a:xfrm>
          <a:prstGeom prst="rect">
            <a:avLst/>
          </a:prstGeom>
        </p:spPr>
        <p:txBody>
          <a:bodyPr vert="horz" lIns="91440" tIns="45720" rIns="91440" bIns="45720" rtlCol="0" anchor="b"/>
          <a:lstStyle>
            <a:lvl1pPr algn="r">
              <a:defRPr sz="1200"/>
            </a:lvl1pPr>
          </a:lstStyle>
          <a:p>
            <a:fld id="{F7C75E2C-74DF-409E-8A40-8CF294024303}" type="slidenum">
              <a:rPr kumimoji="1" lang="ja-JP" altLang="en-US" smtClean="0"/>
              <a:t>‹#›</a:t>
            </a:fld>
            <a:endParaRPr kumimoji="1" lang="ja-JP" altLang="en-US"/>
          </a:p>
        </p:txBody>
      </p:sp>
    </p:spTree>
    <p:extLst>
      <p:ext uri="{BB962C8B-B14F-4D97-AF65-F5344CB8AC3E}">
        <p14:creationId xmlns:p14="http://schemas.microsoft.com/office/powerpoint/2010/main" val="17388965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sz="1400" dirty="0" smtClean="0"/>
              <a:t>これから読書管理サイトの構築について</a:t>
            </a:r>
            <a:r>
              <a:rPr lang="en-US" altLang="ja-JP" sz="1400" dirty="0" smtClean="0"/>
              <a:t>15</a:t>
            </a:r>
            <a:r>
              <a:rPr lang="ja-JP" altLang="en-US" sz="1400" dirty="0" smtClean="0"/>
              <a:t>番　菅野里穂が発表します。</a:t>
            </a:r>
            <a:endParaRPr lang="en-US" altLang="ja-JP" sz="1400" dirty="0" smtClean="0"/>
          </a:p>
          <a:p>
            <a:r>
              <a:rPr kumimoji="1" lang="ja-JP" altLang="en-US" sz="1400" dirty="0" smtClean="0"/>
              <a:t>担当教諭は小野陽子先生です。</a:t>
            </a:r>
            <a:endParaRPr kumimoji="1" lang="ja-JP" altLang="en-US" sz="1400" dirty="0"/>
          </a:p>
        </p:txBody>
      </p:sp>
      <p:sp>
        <p:nvSpPr>
          <p:cNvPr id="4" name="スライド番号プレースホルダー 3"/>
          <p:cNvSpPr>
            <a:spLocks noGrp="1"/>
          </p:cNvSpPr>
          <p:nvPr>
            <p:ph type="sldNum" sz="quarter" idx="10"/>
          </p:nvPr>
        </p:nvSpPr>
        <p:spPr/>
        <p:txBody>
          <a:bodyPr/>
          <a:lstStyle/>
          <a:p>
            <a:fld id="{F7C75E2C-74DF-409E-8A40-8CF294024303}" type="slidenum">
              <a:rPr kumimoji="1" lang="ja-JP" altLang="en-US" smtClean="0"/>
              <a:t>1</a:t>
            </a:fld>
            <a:endParaRPr kumimoji="1" lang="ja-JP" altLang="en-US"/>
          </a:p>
        </p:txBody>
      </p:sp>
    </p:spTree>
    <p:extLst>
      <p:ext uri="{BB962C8B-B14F-4D97-AF65-F5344CB8AC3E}">
        <p14:creationId xmlns:p14="http://schemas.microsoft.com/office/powerpoint/2010/main" val="3471587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400" dirty="0" smtClean="0"/>
              <a:t>はじめに、このテーマにした理由は、普段からマンガ本をよく読むので自分の読書の記録や普段読んでいる本の新刊を教えてくれるようなサイトを構築したいと思ったからです。</a:t>
            </a:r>
            <a:endParaRPr kumimoji="1" lang="en-US" altLang="ja-JP" sz="1400" dirty="0" smtClean="0"/>
          </a:p>
          <a:p>
            <a:r>
              <a:rPr lang="ja-JP" altLang="en-US" sz="1400" dirty="0"/>
              <a:t>また</a:t>
            </a:r>
            <a:r>
              <a:rPr lang="ja-JP" altLang="en-US" sz="1400" dirty="0" smtClean="0"/>
              <a:t>、ＨＴＭＬやＰＨＰなどの理解も深め、内定先で行っている事業に役立つような知識を身に着けていきたいです。</a:t>
            </a:r>
            <a:endParaRPr kumimoji="1" lang="en-US" altLang="ja-JP" sz="1400" dirty="0" smtClean="0"/>
          </a:p>
          <a:p>
            <a:endParaRPr kumimoji="1" lang="en-US" altLang="ja-JP" sz="1400" dirty="0" smtClean="0"/>
          </a:p>
        </p:txBody>
      </p:sp>
      <p:sp>
        <p:nvSpPr>
          <p:cNvPr id="4" name="スライド番号プレースホルダー 3"/>
          <p:cNvSpPr>
            <a:spLocks noGrp="1"/>
          </p:cNvSpPr>
          <p:nvPr>
            <p:ph type="sldNum" sz="quarter" idx="10"/>
          </p:nvPr>
        </p:nvSpPr>
        <p:spPr/>
        <p:txBody>
          <a:bodyPr/>
          <a:lstStyle/>
          <a:p>
            <a:fld id="{F7C75E2C-74DF-409E-8A40-8CF294024303}" type="slidenum">
              <a:rPr kumimoji="1" lang="ja-JP" altLang="en-US" smtClean="0"/>
              <a:t>2</a:t>
            </a:fld>
            <a:endParaRPr kumimoji="1" lang="ja-JP" altLang="en-US"/>
          </a:p>
        </p:txBody>
      </p:sp>
    </p:spTree>
    <p:extLst>
      <p:ext uri="{BB962C8B-B14F-4D97-AF65-F5344CB8AC3E}">
        <p14:creationId xmlns:p14="http://schemas.microsoft.com/office/powerpoint/2010/main" val="1776189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sz="1400" dirty="0" smtClean="0"/>
              <a:t>研究概要について説明します。</a:t>
            </a:r>
            <a:endParaRPr lang="en-US" altLang="ja-JP" sz="1400" dirty="0" smtClean="0"/>
          </a:p>
          <a:p>
            <a:r>
              <a:rPr lang="ja-JP" altLang="en-US" sz="1400" dirty="0" smtClean="0"/>
              <a:t>ＰＣ向け</a:t>
            </a:r>
            <a:r>
              <a:rPr lang="ja-JP" altLang="en-US" sz="1400" dirty="0"/>
              <a:t>のサイトのみを作成し、ログインページ、会員登録ページ、マイページを作成し、最近読んだ本、新刊の情報、オススメの本、本棚、読書カレンダー等のシステムの作成を目標とするものです。</a:t>
            </a:r>
            <a:endParaRPr lang="en-US" altLang="ja-JP" sz="1400" dirty="0"/>
          </a:p>
          <a:p>
            <a:r>
              <a:rPr lang="ja-JP" altLang="en-US" sz="1400" dirty="0"/>
              <a:t>また、サイト管理のための管理者機能も作成します。</a:t>
            </a:r>
          </a:p>
          <a:p>
            <a:endParaRPr kumimoji="1" lang="ja-JP" altLang="en-US" sz="1400" dirty="0"/>
          </a:p>
        </p:txBody>
      </p:sp>
      <p:sp>
        <p:nvSpPr>
          <p:cNvPr id="4" name="スライド番号プレースホルダー 3"/>
          <p:cNvSpPr>
            <a:spLocks noGrp="1"/>
          </p:cNvSpPr>
          <p:nvPr>
            <p:ph type="sldNum" sz="quarter" idx="10"/>
          </p:nvPr>
        </p:nvSpPr>
        <p:spPr/>
        <p:txBody>
          <a:bodyPr/>
          <a:lstStyle/>
          <a:p>
            <a:fld id="{F7C75E2C-74DF-409E-8A40-8CF294024303}" type="slidenum">
              <a:rPr kumimoji="1" lang="ja-JP" altLang="en-US" smtClean="0"/>
              <a:t>3</a:t>
            </a:fld>
            <a:endParaRPr kumimoji="1" lang="ja-JP" altLang="en-US"/>
          </a:p>
        </p:txBody>
      </p:sp>
    </p:spTree>
    <p:extLst>
      <p:ext uri="{BB962C8B-B14F-4D97-AF65-F5344CB8AC3E}">
        <p14:creationId xmlns:p14="http://schemas.microsoft.com/office/powerpoint/2010/main" val="16822729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400" dirty="0" smtClean="0"/>
              <a:t>開発環境は見ての通りです。</a:t>
            </a:r>
            <a:endParaRPr kumimoji="1" lang="ja-JP" altLang="en-US" sz="1400" dirty="0"/>
          </a:p>
        </p:txBody>
      </p:sp>
      <p:sp>
        <p:nvSpPr>
          <p:cNvPr id="4" name="スライド番号プレースホルダー 3"/>
          <p:cNvSpPr>
            <a:spLocks noGrp="1"/>
          </p:cNvSpPr>
          <p:nvPr>
            <p:ph type="sldNum" sz="quarter" idx="10"/>
          </p:nvPr>
        </p:nvSpPr>
        <p:spPr/>
        <p:txBody>
          <a:bodyPr/>
          <a:lstStyle/>
          <a:p>
            <a:fld id="{F7C75E2C-74DF-409E-8A40-8CF294024303}" type="slidenum">
              <a:rPr kumimoji="1" lang="ja-JP" altLang="en-US" smtClean="0"/>
              <a:t>4</a:t>
            </a:fld>
            <a:endParaRPr kumimoji="1" lang="ja-JP" altLang="en-US"/>
          </a:p>
        </p:txBody>
      </p:sp>
    </p:spTree>
    <p:extLst>
      <p:ext uri="{BB962C8B-B14F-4D97-AF65-F5344CB8AC3E}">
        <p14:creationId xmlns:p14="http://schemas.microsoft.com/office/powerpoint/2010/main" val="22362420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sz="1400" dirty="0" smtClean="0"/>
              <a:t>システム構成は見ての通りです。</a:t>
            </a:r>
            <a:endParaRPr lang="en-US" altLang="ja-JP" sz="1400" dirty="0" smtClean="0"/>
          </a:p>
          <a:p>
            <a:r>
              <a:rPr kumimoji="1" lang="ja-JP" altLang="en-US" sz="1400" dirty="0"/>
              <a:t>また</a:t>
            </a:r>
            <a:r>
              <a:rPr kumimoji="1" lang="ja-JP" altLang="en-US" sz="1400" dirty="0" smtClean="0"/>
              <a:t>、サイト管理機能についてはまだ未完成です。</a:t>
            </a:r>
            <a:endParaRPr kumimoji="1" lang="ja-JP" altLang="en-US" sz="1400" dirty="0"/>
          </a:p>
        </p:txBody>
      </p:sp>
      <p:sp>
        <p:nvSpPr>
          <p:cNvPr id="4" name="スライド番号プレースホルダー 3"/>
          <p:cNvSpPr>
            <a:spLocks noGrp="1"/>
          </p:cNvSpPr>
          <p:nvPr>
            <p:ph type="sldNum" sz="quarter" idx="10"/>
          </p:nvPr>
        </p:nvSpPr>
        <p:spPr/>
        <p:txBody>
          <a:bodyPr/>
          <a:lstStyle/>
          <a:p>
            <a:fld id="{F7C75E2C-74DF-409E-8A40-8CF294024303}" type="slidenum">
              <a:rPr kumimoji="1" lang="ja-JP" altLang="en-US" smtClean="0"/>
              <a:t>5</a:t>
            </a:fld>
            <a:endParaRPr kumimoji="1" lang="ja-JP" altLang="en-US"/>
          </a:p>
        </p:txBody>
      </p:sp>
    </p:spTree>
    <p:extLst>
      <p:ext uri="{BB962C8B-B14F-4D97-AF65-F5344CB8AC3E}">
        <p14:creationId xmlns:p14="http://schemas.microsoft.com/office/powerpoint/2010/main" val="3124329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sz="1400" dirty="0" smtClean="0"/>
              <a:t>しんちょく状況についてシステムごとに説明します。</a:t>
            </a:r>
            <a:endParaRPr kumimoji="1" lang="ja-JP" altLang="en-US" sz="1400" dirty="0"/>
          </a:p>
        </p:txBody>
      </p:sp>
      <p:sp>
        <p:nvSpPr>
          <p:cNvPr id="4" name="スライド番号プレースホルダー 3"/>
          <p:cNvSpPr>
            <a:spLocks noGrp="1"/>
          </p:cNvSpPr>
          <p:nvPr>
            <p:ph type="sldNum" sz="quarter" idx="10"/>
          </p:nvPr>
        </p:nvSpPr>
        <p:spPr/>
        <p:txBody>
          <a:bodyPr/>
          <a:lstStyle/>
          <a:p>
            <a:fld id="{F7C75E2C-74DF-409E-8A40-8CF294024303}" type="slidenum">
              <a:rPr kumimoji="1" lang="ja-JP" altLang="en-US" smtClean="0"/>
              <a:t>6</a:t>
            </a:fld>
            <a:endParaRPr kumimoji="1" lang="ja-JP" altLang="en-US"/>
          </a:p>
        </p:txBody>
      </p:sp>
    </p:spTree>
    <p:extLst>
      <p:ext uri="{BB962C8B-B14F-4D97-AF65-F5344CB8AC3E}">
        <p14:creationId xmlns:p14="http://schemas.microsoft.com/office/powerpoint/2010/main" val="13311303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400" dirty="0" smtClean="0"/>
              <a:t>ログイン画面についてです</a:t>
            </a:r>
            <a:endParaRPr kumimoji="1" lang="en-US" altLang="ja-JP" sz="1400" dirty="0" smtClean="0"/>
          </a:p>
          <a:p>
            <a:r>
              <a:rPr kumimoji="1" lang="ja-JP" altLang="en-US" sz="1400" dirty="0" smtClean="0"/>
              <a:t>システムを起動すると、画像のような画面が表示され、ログインＩＤとパスワードを入力することで、サイトにアクセスできるようになります。</a:t>
            </a:r>
            <a:endParaRPr kumimoji="1" lang="en-US" altLang="ja-JP" sz="1400" dirty="0" smtClean="0"/>
          </a:p>
          <a:p>
            <a:r>
              <a:rPr lang="ja-JP" altLang="en-US" sz="1400" dirty="0"/>
              <a:t>また</a:t>
            </a:r>
            <a:r>
              <a:rPr lang="ja-JP" altLang="en-US" sz="1400" dirty="0" smtClean="0"/>
              <a:t>、ログインボックスの下の新規登録ボタンで会員になるとこができます。</a:t>
            </a:r>
            <a:endParaRPr kumimoji="1" lang="ja-JP" altLang="en-US" sz="1400" dirty="0"/>
          </a:p>
        </p:txBody>
      </p:sp>
      <p:sp>
        <p:nvSpPr>
          <p:cNvPr id="4" name="スライド番号プレースホルダー 3"/>
          <p:cNvSpPr>
            <a:spLocks noGrp="1"/>
          </p:cNvSpPr>
          <p:nvPr>
            <p:ph type="sldNum" sz="quarter" idx="10"/>
          </p:nvPr>
        </p:nvSpPr>
        <p:spPr/>
        <p:txBody>
          <a:bodyPr/>
          <a:lstStyle/>
          <a:p>
            <a:fld id="{F7C75E2C-74DF-409E-8A40-8CF294024303}" type="slidenum">
              <a:rPr kumimoji="1" lang="ja-JP" altLang="en-US" smtClean="0"/>
              <a:t>7</a:t>
            </a:fld>
            <a:endParaRPr kumimoji="1" lang="ja-JP" altLang="en-US"/>
          </a:p>
        </p:txBody>
      </p:sp>
    </p:spTree>
    <p:extLst>
      <p:ext uri="{BB962C8B-B14F-4D97-AF65-F5344CB8AC3E}">
        <p14:creationId xmlns:p14="http://schemas.microsoft.com/office/powerpoint/2010/main" val="22138864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400" dirty="0" smtClean="0"/>
              <a:t>会員登録画面についてです</a:t>
            </a:r>
            <a:endParaRPr kumimoji="1" lang="en-US" altLang="ja-JP" sz="1400" dirty="0" smtClean="0"/>
          </a:p>
          <a:p>
            <a:r>
              <a:rPr kumimoji="1" lang="ja-JP" altLang="en-US" sz="1400" dirty="0" smtClean="0"/>
              <a:t>さきほどのログインページ上の新規登録ボタンを押すことで、会員登録ページに</a:t>
            </a:r>
            <a:r>
              <a:rPr lang="ja-JP" altLang="en-US" sz="1400" dirty="0" smtClean="0"/>
              <a:t>移動できます。</a:t>
            </a:r>
            <a:endParaRPr lang="en-US" altLang="ja-JP" sz="1400" dirty="0" smtClean="0"/>
          </a:p>
          <a:p>
            <a:r>
              <a:rPr kumimoji="1" lang="ja-JP" altLang="en-US" sz="1400" dirty="0" smtClean="0"/>
              <a:t>登録には、メールアドレス、サイトで使うＩＤ、ユーザー名、パスワードを入力することで登録完了となります。</a:t>
            </a:r>
            <a:endParaRPr kumimoji="1" lang="en-US" altLang="ja-JP" sz="1400" dirty="0" smtClean="0"/>
          </a:p>
          <a:p>
            <a:r>
              <a:rPr lang="ja-JP" altLang="en-US" sz="1400" dirty="0" smtClean="0"/>
              <a:t>会員の情報は、ユーザ管理テーブルに保管されます。</a:t>
            </a:r>
            <a:endParaRPr lang="en-US" altLang="ja-JP" sz="1400" dirty="0" smtClean="0"/>
          </a:p>
          <a:p>
            <a:endParaRPr kumimoji="1" lang="ja-JP" altLang="en-US" sz="1400" dirty="0"/>
          </a:p>
        </p:txBody>
      </p:sp>
      <p:sp>
        <p:nvSpPr>
          <p:cNvPr id="4" name="スライド番号プレースホルダー 3"/>
          <p:cNvSpPr>
            <a:spLocks noGrp="1"/>
          </p:cNvSpPr>
          <p:nvPr>
            <p:ph type="sldNum" sz="quarter" idx="10"/>
          </p:nvPr>
        </p:nvSpPr>
        <p:spPr/>
        <p:txBody>
          <a:bodyPr/>
          <a:lstStyle/>
          <a:p>
            <a:fld id="{F7C75E2C-74DF-409E-8A40-8CF294024303}" type="slidenum">
              <a:rPr kumimoji="1" lang="ja-JP" altLang="en-US" smtClean="0"/>
              <a:t>8</a:t>
            </a:fld>
            <a:endParaRPr kumimoji="1" lang="ja-JP" altLang="en-US"/>
          </a:p>
        </p:txBody>
      </p:sp>
    </p:spTree>
    <p:extLst>
      <p:ext uri="{BB962C8B-B14F-4D97-AF65-F5344CB8AC3E}">
        <p14:creationId xmlns:p14="http://schemas.microsoft.com/office/powerpoint/2010/main" val="29653956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400" dirty="0" smtClean="0"/>
              <a:t>トップ画面についてです</a:t>
            </a:r>
            <a:endParaRPr kumimoji="1" lang="en-US" altLang="ja-JP" sz="1400" dirty="0" smtClean="0"/>
          </a:p>
          <a:p>
            <a:r>
              <a:rPr kumimoji="1" lang="ja-JP" altLang="en-US" sz="1400" dirty="0" smtClean="0"/>
              <a:t>ログインすると。トップ画面に移動されます。背景、ヘッダーはログイン画面と同じデザインで、サイドメニュー、最近読んだ本、検索ボックス、オススメの本の機能があります。</a:t>
            </a:r>
            <a:endParaRPr kumimoji="1" lang="en-US" altLang="ja-JP" sz="1400" dirty="0" smtClean="0"/>
          </a:p>
          <a:p>
            <a:r>
              <a:rPr kumimoji="1" lang="ja-JP" altLang="en-US" sz="1400" dirty="0" smtClean="0"/>
              <a:t>画像のような、タブパネルで切り替えるフィーチャーリストを使い、最近読んだ本を表示させる予定です。</a:t>
            </a:r>
            <a:endParaRPr kumimoji="1" lang="en-US" altLang="ja-JP" sz="1400" dirty="0" smtClean="0"/>
          </a:p>
          <a:p>
            <a:r>
              <a:rPr kumimoji="1" lang="ja-JP" altLang="en-US" sz="1400" dirty="0" smtClean="0"/>
              <a:t>切り替えると、スクリーン上にあるように、次の画像にいきます。</a:t>
            </a:r>
            <a:endParaRPr kumimoji="1" lang="en-US" altLang="ja-JP" sz="1400" dirty="0" smtClean="0"/>
          </a:p>
          <a:p>
            <a:endParaRPr kumimoji="1" lang="ja-JP" altLang="en-US" sz="1400" dirty="0"/>
          </a:p>
        </p:txBody>
      </p:sp>
      <p:sp>
        <p:nvSpPr>
          <p:cNvPr id="4" name="スライド番号プレースホルダー 3"/>
          <p:cNvSpPr>
            <a:spLocks noGrp="1"/>
          </p:cNvSpPr>
          <p:nvPr>
            <p:ph type="sldNum" sz="quarter" idx="10"/>
          </p:nvPr>
        </p:nvSpPr>
        <p:spPr/>
        <p:txBody>
          <a:bodyPr/>
          <a:lstStyle/>
          <a:p>
            <a:fld id="{F7C75E2C-74DF-409E-8A40-8CF294024303}" type="slidenum">
              <a:rPr kumimoji="1" lang="ja-JP" altLang="en-US" smtClean="0"/>
              <a:t>9</a:t>
            </a:fld>
            <a:endParaRPr kumimoji="1" lang="ja-JP" altLang="en-US"/>
          </a:p>
        </p:txBody>
      </p:sp>
    </p:spTree>
    <p:extLst>
      <p:ext uri="{BB962C8B-B14F-4D97-AF65-F5344CB8AC3E}">
        <p14:creationId xmlns:p14="http://schemas.microsoft.com/office/powerpoint/2010/main" val="7027963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400" dirty="0" smtClean="0"/>
              <a:t>最近読んだ本についてです。</a:t>
            </a:r>
            <a:endParaRPr kumimoji="1" lang="en-US" altLang="ja-JP" sz="1400" dirty="0" smtClean="0"/>
          </a:p>
          <a:p>
            <a:r>
              <a:rPr lang="ja-JP" altLang="en-US" sz="1400" dirty="0"/>
              <a:t>自分</a:t>
            </a:r>
            <a:r>
              <a:rPr lang="ja-JP" altLang="en-US" sz="1400" dirty="0" smtClean="0"/>
              <a:t>の読んだ本を検索ボックスで検索し、それを登録することで、マイページ上に最近読んだ本が表示されます。</a:t>
            </a:r>
            <a:endParaRPr lang="en-US" altLang="ja-JP" sz="1400" dirty="0" smtClean="0"/>
          </a:p>
          <a:p>
            <a:r>
              <a:rPr kumimoji="1" lang="ja-JP" altLang="en-US" sz="1400" dirty="0" smtClean="0"/>
              <a:t>検索し、表示された画面を登録す</a:t>
            </a:r>
            <a:r>
              <a:rPr lang="ja-JP" altLang="en-US" sz="1400" dirty="0" smtClean="0"/>
              <a:t>る画面はこのようなイメージになります。</a:t>
            </a:r>
            <a:endParaRPr lang="en-US" altLang="ja-JP" sz="1400" dirty="0" smtClean="0"/>
          </a:p>
          <a:p>
            <a:endParaRPr kumimoji="1" lang="ja-JP" altLang="en-US" sz="1400" dirty="0"/>
          </a:p>
        </p:txBody>
      </p:sp>
      <p:sp>
        <p:nvSpPr>
          <p:cNvPr id="4" name="スライド番号プレースホルダー 3"/>
          <p:cNvSpPr>
            <a:spLocks noGrp="1"/>
          </p:cNvSpPr>
          <p:nvPr>
            <p:ph type="sldNum" sz="quarter" idx="10"/>
          </p:nvPr>
        </p:nvSpPr>
        <p:spPr/>
        <p:txBody>
          <a:bodyPr/>
          <a:lstStyle/>
          <a:p>
            <a:fld id="{F7C75E2C-74DF-409E-8A40-8CF294024303}" type="slidenum">
              <a:rPr kumimoji="1" lang="ja-JP" altLang="en-US" smtClean="0"/>
              <a:t>10</a:t>
            </a:fld>
            <a:endParaRPr kumimoji="1" lang="ja-JP" altLang="en-US"/>
          </a:p>
        </p:txBody>
      </p:sp>
    </p:spTree>
    <p:extLst>
      <p:ext uri="{BB962C8B-B14F-4D97-AF65-F5344CB8AC3E}">
        <p14:creationId xmlns:p14="http://schemas.microsoft.com/office/powerpoint/2010/main" val="27960151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sz="1400"/>
          </a:p>
        </p:txBody>
      </p:sp>
      <p:sp>
        <p:nvSpPr>
          <p:cNvPr id="4" name="スライド番号プレースホルダー 3"/>
          <p:cNvSpPr>
            <a:spLocks noGrp="1"/>
          </p:cNvSpPr>
          <p:nvPr>
            <p:ph type="sldNum" sz="quarter" idx="10"/>
          </p:nvPr>
        </p:nvSpPr>
        <p:spPr/>
        <p:txBody>
          <a:bodyPr/>
          <a:lstStyle/>
          <a:p>
            <a:fld id="{F7C75E2C-74DF-409E-8A40-8CF294024303}" type="slidenum">
              <a:rPr kumimoji="1" lang="ja-JP" altLang="en-US" smtClean="0"/>
              <a:t>11</a:t>
            </a:fld>
            <a:endParaRPr kumimoji="1" lang="ja-JP" altLang="en-US"/>
          </a:p>
        </p:txBody>
      </p:sp>
    </p:spTree>
    <p:extLst>
      <p:ext uri="{BB962C8B-B14F-4D97-AF65-F5344CB8AC3E}">
        <p14:creationId xmlns:p14="http://schemas.microsoft.com/office/powerpoint/2010/main" val="20302747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F7C75E2C-74DF-409E-8A40-8CF294024303}" type="slidenum">
              <a:rPr kumimoji="1" lang="ja-JP" altLang="en-US" smtClean="0"/>
              <a:t>12</a:t>
            </a:fld>
            <a:endParaRPr kumimoji="1" lang="ja-JP" altLang="en-US"/>
          </a:p>
        </p:txBody>
      </p:sp>
    </p:spTree>
    <p:extLst>
      <p:ext uri="{BB962C8B-B14F-4D97-AF65-F5344CB8AC3E}">
        <p14:creationId xmlns:p14="http://schemas.microsoft.com/office/powerpoint/2010/main" val="17223641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F7C75E2C-74DF-409E-8A40-8CF294024303}" type="slidenum">
              <a:rPr kumimoji="1" lang="ja-JP" altLang="en-US" smtClean="0"/>
              <a:t>13</a:t>
            </a:fld>
            <a:endParaRPr kumimoji="1" lang="ja-JP" altLang="en-US"/>
          </a:p>
        </p:txBody>
      </p:sp>
    </p:spTree>
    <p:extLst>
      <p:ext uri="{BB962C8B-B14F-4D97-AF65-F5344CB8AC3E}">
        <p14:creationId xmlns:p14="http://schemas.microsoft.com/office/powerpoint/2010/main" val="34735705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F7C75E2C-74DF-409E-8A40-8CF294024303}" type="slidenum">
              <a:rPr kumimoji="1" lang="ja-JP" altLang="en-US" smtClean="0"/>
              <a:t>14</a:t>
            </a:fld>
            <a:endParaRPr kumimoji="1" lang="ja-JP" altLang="en-US"/>
          </a:p>
        </p:txBody>
      </p:sp>
    </p:spTree>
    <p:extLst>
      <p:ext uri="{BB962C8B-B14F-4D97-AF65-F5344CB8AC3E}">
        <p14:creationId xmlns:p14="http://schemas.microsoft.com/office/powerpoint/2010/main" val="22044861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F7C75E2C-74DF-409E-8A40-8CF294024303}" type="slidenum">
              <a:rPr kumimoji="1" lang="ja-JP" altLang="en-US" smtClean="0"/>
              <a:t>15</a:t>
            </a:fld>
            <a:endParaRPr kumimoji="1" lang="ja-JP" altLang="en-US"/>
          </a:p>
        </p:txBody>
      </p:sp>
    </p:spTree>
    <p:extLst>
      <p:ext uri="{BB962C8B-B14F-4D97-AF65-F5344CB8AC3E}">
        <p14:creationId xmlns:p14="http://schemas.microsoft.com/office/powerpoint/2010/main" val="33705356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F7C75E2C-74DF-409E-8A40-8CF294024303}" type="slidenum">
              <a:rPr kumimoji="1" lang="ja-JP" altLang="en-US" smtClean="0"/>
              <a:t>16</a:t>
            </a:fld>
            <a:endParaRPr kumimoji="1" lang="ja-JP" altLang="en-US"/>
          </a:p>
        </p:txBody>
      </p:sp>
    </p:spTree>
    <p:extLst>
      <p:ext uri="{BB962C8B-B14F-4D97-AF65-F5344CB8AC3E}">
        <p14:creationId xmlns:p14="http://schemas.microsoft.com/office/powerpoint/2010/main" val="35240398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F7C75E2C-74DF-409E-8A40-8CF294024303}" type="slidenum">
              <a:rPr kumimoji="1" lang="ja-JP" altLang="en-US" smtClean="0"/>
              <a:t>17</a:t>
            </a:fld>
            <a:endParaRPr kumimoji="1" lang="ja-JP" altLang="en-US"/>
          </a:p>
        </p:txBody>
      </p:sp>
    </p:spTree>
    <p:extLst>
      <p:ext uri="{BB962C8B-B14F-4D97-AF65-F5344CB8AC3E}">
        <p14:creationId xmlns:p14="http://schemas.microsoft.com/office/powerpoint/2010/main" val="33040232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F7C75E2C-74DF-409E-8A40-8CF294024303}" type="slidenum">
              <a:rPr kumimoji="1" lang="ja-JP" altLang="en-US" smtClean="0"/>
              <a:t>18</a:t>
            </a:fld>
            <a:endParaRPr kumimoji="1" lang="ja-JP" altLang="en-US"/>
          </a:p>
        </p:txBody>
      </p:sp>
    </p:spTree>
    <p:extLst>
      <p:ext uri="{BB962C8B-B14F-4D97-AF65-F5344CB8AC3E}">
        <p14:creationId xmlns:p14="http://schemas.microsoft.com/office/powerpoint/2010/main" val="29654385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F7C75E2C-74DF-409E-8A40-8CF294024303}" type="slidenum">
              <a:rPr kumimoji="1" lang="ja-JP" altLang="en-US" smtClean="0"/>
              <a:t>19</a:t>
            </a:fld>
            <a:endParaRPr kumimoji="1" lang="ja-JP" altLang="en-US"/>
          </a:p>
        </p:txBody>
      </p:sp>
    </p:spTree>
    <p:extLst>
      <p:ext uri="{BB962C8B-B14F-4D97-AF65-F5344CB8AC3E}">
        <p14:creationId xmlns:p14="http://schemas.microsoft.com/office/powerpoint/2010/main" val="42342055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F7C75E2C-74DF-409E-8A40-8CF294024303}" type="slidenum">
              <a:rPr kumimoji="1" lang="ja-JP" altLang="en-US" smtClean="0"/>
              <a:t>20</a:t>
            </a:fld>
            <a:endParaRPr kumimoji="1" lang="ja-JP" altLang="en-US"/>
          </a:p>
        </p:txBody>
      </p:sp>
    </p:spTree>
    <p:extLst>
      <p:ext uri="{BB962C8B-B14F-4D97-AF65-F5344CB8AC3E}">
        <p14:creationId xmlns:p14="http://schemas.microsoft.com/office/powerpoint/2010/main" val="3628819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ja-JP" altLang="en-US" smtClean="0"/>
              <a:t>マスター タイトルの書式設定</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smtClean="0"/>
              <a:t>マスター サブタイトルの書式設定</a:t>
            </a:r>
            <a:endParaRPr lang="en-US" dirty="0"/>
          </a:p>
        </p:txBody>
      </p:sp>
      <p:sp>
        <p:nvSpPr>
          <p:cNvPr id="4" name="Date Placeholder 3"/>
          <p:cNvSpPr>
            <a:spLocks noGrp="1"/>
          </p:cNvSpPr>
          <p:nvPr>
            <p:ph type="dt" sz="half" idx="10"/>
          </p:nvPr>
        </p:nvSpPr>
        <p:spPr/>
        <p:txBody>
          <a:bodyPr/>
          <a:lstStyle/>
          <a:p>
            <a:fld id="{E9ABFEC0-A994-4479-A0AB-73B21C221839}" type="datetimeFigureOut">
              <a:rPr kumimoji="1" lang="ja-JP" altLang="en-US" smtClean="0"/>
              <a:t>2016/12/21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3931D98-1373-410E-80F8-B401D1F4E3C0}" type="slidenum">
              <a:rPr kumimoji="1" lang="ja-JP" altLang="en-US" smtClean="0"/>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a:p>
        </p:txBody>
      </p:sp>
      <p:sp>
        <p:nvSpPr>
          <p:cNvPr id="4" name="Date Placeholder 3"/>
          <p:cNvSpPr>
            <a:spLocks noGrp="1"/>
          </p:cNvSpPr>
          <p:nvPr>
            <p:ph type="dt" sz="half" idx="10"/>
          </p:nvPr>
        </p:nvSpPr>
        <p:spPr/>
        <p:txBody>
          <a:bodyPr/>
          <a:lstStyle/>
          <a:p>
            <a:fld id="{E9ABFEC0-A994-4479-A0AB-73B21C221839}" type="datetimeFigureOut">
              <a:rPr kumimoji="1" lang="ja-JP" altLang="en-US" smtClean="0"/>
              <a:t>2016/12/21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3931D98-1373-410E-80F8-B401D1F4E3C0}" type="slidenum">
              <a:rPr kumimoji="1" lang="ja-JP" altLang="en-US" smtClean="0"/>
              <a:t>‹#›</a:t>
            </a:fld>
            <a:endParaRPr kumimoji="1" lang="ja-JP" altLang="en-US"/>
          </a:p>
        </p:txBody>
      </p:sp>
      <p:sp>
        <p:nvSpPr>
          <p:cNvPr id="7" name="Title 6"/>
          <p:cNvSpPr>
            <a:spLocks noGrp="1"/>
          </p:cNvSpPr>
          <p:nvPr>
            <p:ph type="title"/>
          </p:nvPr>
        </p:nvSpPr>
        <p:spPr/>
        <p:txBody>
          <a:bodyPr/>
          <a:lstStyle/>
          <a:p>
            <a:r>
              <a:rPr lang="ja-JP" altLang="en-US" smtClean="0"/>
              <a:t>マスター タイトルの書式設定</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セクション見出し">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E9ABFEC0-A994-4479-A0AB-73B21C221839}" type="datetimeFigureOut">
              <a:rPr kumimoji="1" lang="ja-JP" altLang="en-US" smtClean="0"/>
              <a:t>2016/12/21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3931D98-1373-410E-80F8-B401D1F4E3C0}" type="slidenum">
              <a:rPr kumimoji="1" lang="ja-JP" altLang="en-US" smtClean="0"/>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a:p>
        </p:txBody>
      </p:sp>
      <p:sp>
        <p:nvSpPr>
          <p:cNvPr id="5" name="Date Placeholder 4"/>
          <p:cNvSpPr>
            <a:spLocks noGrp="1"/>
          </p:cNvSpPr>
          <p:nvPr>
            <p:ph type="dt" sz="half" idx="10"/>
          </p:nvPr>
        </p:nvSpPr>
        <p:spPr/>
        <p:txBody>
          <a:bodyPr/>
          <a:lstStyle/>
          <a:p>
            <a:fld id="{E9ABFEC0-A994-4479-A0AB-73B21C221839}" type="datetimeFigureOut">
              <a:rPr kumimoji="1" lang="ja-JP" altLang="en-US" smtClean="0"/>
              <a:t>2016/12/21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F3931D98-1373-410E-80F8-B401D1F4E3C0}" type="slidenum">
              <a:rPr kumimoji="1" lang="ja-JP" altLang="en-US" smtClean="0"/>
              <a:t>‹#›</a:t>
            </a:fld>
            <a:endParaRPr kumimoji="1" lang="ja-JP" altLang="en-US"/>
          </a:p>
        </p:txBody>
      </p:sp>
      <p:sp>
        <p:nvSpPr>
          <p:cNvPr id="9" name="Content Placeholder 8"/>
          <p:cNvSpPr>
            <a:spLocks noGrp="1"/>
          </p:cNvSpPr>
          <p:nvPr>
            <p:ph sz="quarter" idx="13"/>
          </p:nvPr>
        </p:nvSpPr>
        <p:spPr>
          <a:xfrm>
            <a:off x="676655" y="2679192"/>
            <a:ext cx="3822192" cy="3447288"/>
          </a:xfr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ja-JP" altLang="en-US" smtClean="0"/>
              <a:t>マスター タイトルの書式設定</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7" name="Date Placeholder 6"/>
          <p:cNvSpPr>
            <a:spLocks noGrp="1"/>
          </p:cNvSpPr>
          <p:nvPr>
            <p:ph type="dt" sz="half" idx="10"/>
          </p:nvPr>
        </p:nvSpPr>
        <p:spPr/>
        <p:txBody>
          <a:bodyPr/>
          <a:lstStyle/>
          <a:p>
            <a:fld id="{E9ABFEC0-A994-4479-A0AB-73B21C221839}" type="datetimeFigureOut">
              <a:rPr kumimoji="1" lang="ja-JP" altLang="en-US" smtClean="0"/>
              <a:t>2016/12/21</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F3931D98-1373-410E-80F8-B401D1F4E3C0}" type="slidenum">
              <a:rPr kumimoji="1" lang="ja-JP" altLang="en-US" smtClean="0"/>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a:p>
        </p:txBody>
      </p:sp>
      <p:sp>
        <p:nvSpPr>
          <p:cNvPr id="3" name="Date Placeholder 2"/>
          <p:cNvSpPr>
            <a:spLocks noGrp="1"/>
          </p:cNvSpPr>
          <p:nvPr>
            <p:ph type="dt" sz="half" idx="10"/>
          </p:nvPr>
        </p:nvSpPr>
        <p:spPr/>
        <p:txBody>
          <a:bodyPr/>
          <a:lstStyle/>
          <a:p>
            <a:fld id="{E9ABFEC0-A994-4479-A0AB-73B21C221839}" type="datetimeFigureOut">
              <a:rPr kumimoji="1" lang="ja-JP" altLang="en-US" smtClean="0"/>
              <a:t>2016/12/21</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F3931D98-1373-410E-80F8-B401D1F4E3C0}" type="slidenum">
              <a:rPr kumimoji="1" lang="ja-JP" altLang="en-US" smtClean="0"/>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白紙">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E9ABFEC0-A994-4479-A0AB-73B21C221839}" type="datetimeFigureOut">
              <a:rPr kumimoji="1" lang="ja-JP" altLang="en-US" smtClean="0"/>
              <a:t>2016/12/21</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F3931D98-1373-410E-80F8-B401D1F4E3C0}" type="slidenum">
              <a:rPr kumimoji="1" lang="ja-JP" altLang="en-US" smtClean="0"/>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タイトル付きの&#10;コンテンツ">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E9ABFEC0-A994-4479-A0AB-73B21C221839}" type="datetimeFigureOut">
              <a:rPr kumimoji="1" lang="ja-JP" altLang="en-US" smtClean="0"/>
              <a:t>2016/12/21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F3931D98-1373-410E-80F8-B401D1F4E3C0}" type="slidenum">
              <a:rPr kumimoji="1" lang="ja-JP" altLang="en-US" smtClean="0"/>
              <a:t>‹#›</a:t>
            </a:fld>
            <a:endParaRPr kumimoji="1" lang="ja-JP" alt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ja-JP" altLang="en-US" smtClean="0"/>
              <a:t>マスター タイトルの書式設定</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タイトル付きの図">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ja-JP" altLang="en-US" smtClean="0"/>
              <a:t>マスター タイトルの書式設定</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Date Placeholder 4"/>
          <p:cNvSpPr>
            <a:spLocks noGrp="1"/>
          </p:cNvSpPr>
          <p:nvPr>
            <p:ph type="dt" sz="half" idx="10"/>
          </p:nvPr>
        </p:nvSpPr>
        <p:spPr/>
        <p:txBody>
          <a:bodyPr/>
          <a:lstStyle/>
          <a:p>
            <a:fld id="{E9ABFEC0-A994-4479-A0AB-73B21C221839}" type="datetimeFigureOut">
              <a:rPr kumimoji="1" lang="ja-JP" altLang="en-US" smtClean="0"/>
              <a:t>2016/12/21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F3931D98-1373-410E-80F8-B401D1F4E3C0}" type="slidenum">
              <a:rPr kumimoji="1" lang="ja-JP" altLang="en-US" smtClean="0"/>
              <a:t>‹#›</a:t>
            </a:fld>
            <a:endParaRPr kumimoji="1" lang="ja-JP" alt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smtClean="0"/>
              <a:t>アイコンをクリックして図を追加</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a:p>
        </p:txBody>
      </p:sp>
      <p:sp>
        <p:nvSpPr>
          <p:cNvPr id="4" name="Date Placeholder 3"/>
          <p:cNvSpPr>
            <a:spLocks noGrp="1"/>
          </p:cNvSpPr>
          <p:nvPr>
            <p:ph type="dt" sz="half" idx="10"/>
          </p:nvPr>
        </p:nvSpPr>
        <p:spPr/>
        <p:txBody>
          <a:bodyPr/>
          <a:lstStyle/>
          <a:p>
            <a:fld id="{E9ABFEC0-A994-4479-A0AB-73B21C221839}" type="datetimeFigureOut">
              <a:rPr kumimoji="1" lang="ja-JP" altLang="en-US" smtClean="0"/>
              <a:t>2016/12/21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3931D98-1373-410E-80F8-B401D1F4E3C0}" type="slidenum">
              <a:rPr kumimoji="1" lang="ja-JP" altLang="en-US" smtClean="0"/>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縦書きタイトルと&#10;縦書きテキスト">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E9ABFEC0-A994-4479-A0AB-73B21C221839}" type="datetimeFigureOut">
              <a:rPr kumimoji="1" lang="ja-JP" altLang="en-US" smtClean="0"/>
              <a:t>2016/12/21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3931D98-1373-410E-80F8-B401D1F4E3C0}" type="slidenum">
              <a:rPr kumimoji="1" lang="ja-JP" altLang="en-US" smtClean="0"/>
              <a:t>‹#›</a:t>
            </a:fld>
            <a:endParaRPr kumimoji="1" lang="ja-JP" alt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ja-JP" altLang="en-US" smtClean="0"/>
              <a:t>マスター タイトルの書式設定</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ja-JP" altLang="en-US" smtClean="0"/>
              <a:t>マスター タイトルの書式設定</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E9ABFEC0-A994-4479-A0AB-73B21C221839}" type="datetimeFigureOut">
              <a:rPr kumimoji="1" lang="ja-JP" altLang="en-US" smtClean="0"/>
              <a:t>2016/12/21</a:t>
            </a:fld>
            <a:endParaRPr kumimoji="1" lang="ja-JP" alt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kumimoji="1" lang="ja-JP" alt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F3931D98-1373-410E-80F8-B401D1F4E3C0}" type="slidenum">
              <a:rPr kumimoji="1" lang="ja-JP" altLang="en-US" smtClean="0"/>
              <a:t>‹#›</a:t>
            </a:fld>
            <a:endParaRPr kumimoji="1" lang="ja-JP" alt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kumimoji="1" sz="4400" kern="1200">
          <a:solidFill>
            <a:srgbClr val="FFFFFF"/>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kumimoji="1"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kumimoji="1"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kumimoji="1"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kumimoji="1"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kumimoji="1"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kumimoji="1"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kumimoji="1"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kumimoji="1"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kumimoji="1" sz="1400" kern="1200">
          <a:solidFill>
            <a:schemeClr val="tx2"/>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tmp"/></Relationships>
</file>

<file path=ppt/slides/_rels/slide8.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tmp"/></Relationships>
</file>

<file path=ppt/slides/_rels/slide10.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tmp"/></Relationships>
</file>

<file path=ppt/slides/_rels/slide11.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1.tmp"/></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5.emf"/><Relationship Id="rId4" Type="http://schemas.openxmlformats.org/officeDocument/2006/relationships/oleObject" Target="../embeddings/oleObject1.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smtClean="0"/>
              <a:t>読書記録サイトの構築</a:t>
            </a:r>
            <a:endParaRPr kumimoji="1" lang="ja-JP" altLang="en-US" dirty="0"/>
          </a:p>
        </p:txBody>
      </p:sp>
      <p:sp>
        <p:nvSpPr>
          <p:cNvPr id="3" name="サブタイトル 2"/>
          <p:cNvSpPr>
            <a:spLocks noGrp="1"/>
          </p:cNvSpPr>
          <p:nvPr>
            <p:ph type="subTitle" idx="1"/>
          </p:nvPr>
        </p:nvSpPr>
        <p:spPr/>
        <p:txBody>
          <a:bodyPr/>
          <a:lstStyle/>
          <a:p>
            <a:r>
              <a:rPr kumimoji="1" lang="en-US" altLang="ja-JP" dirty="0" smtClean="0"/>
              <a:t>15</a:t>
            </a:r>
            <a:r>
              <a:rPr kumimoji="1" lang="ja-JP" altLang="en-US" dirty="0" smtClean="0"/>
              <a:t>番　菅野　里穂</a:t>
            </a:r>
            <a:endParaRPr kumimoji="1" lang="en-US" altLang="ja-JP" dirty="0" smtClean="0"/>
          </a:p>
          <a:p>
            <a:r>
              <a:rPr lang="ja-JP" altLang="en-US" dirty="0"/>
              <a:t>担当</a:t>
            </a:r>
            <a:r>
              <a:rPr lang="ja-JP" altLang="en-US" dirty="0" smtClean="0"/>
              <a:t>教員　小野　陽子</a:t>
            </a:r>
            <a:endParaRPr kumimoji="1" lang="ja-JP" altLang="en-US" dirty="0"/>
          </a:p>
        </p:txBody>
      </p:sp>
    </p:spTree>
    <p:extLst>
      <p:ext uri="{BB962C8B-B14F-4D97-AF65-F5344CB8AC3E}">
        <p14:creationId xmlns:p14="http://schemas.microsoft.com/office/powerpoint/2010/main" val="21686118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p:cNvSpPr>
            <a:spLocks noGrp="1"/>
          </p:cNvSpPr>
          <p:nvPr>
            <p:ph idx="1"/>
          </p:nvPr>
        </p:nvSpPr>
        <p:spPr>
          <a:xfrm>
            <a:off x="872067" y="2060848"/>
            <a:ext cx="7408333" cy="4065315"/>
          </a:xfrm>
        </p:spPr>
        <p:txBody>
          <a:bodyPr/>
          <a:lstStyle/>
          <a:p>
            <a:endParaRPr kumimoji="1" lang="en-US" altLang="ja-JP" dirty="0" smtClean="0"/>
          </a:p>
          <a:p>
            <a:r>
              <a:rPr lang="ja-JP" altLang="en-US" sz="3600" dirty="0" smtClean="0"/>
              <a:t>マンガや本の新刊情報や、興味があるマンガを簡単に探せるサイトの作成</a:t>
            </a:r>
            <a:endParaRPr lang="en-US" altLang="ja-JP" sz="3600" dirty="0" smtClean="0"/>
          </a:p>
          <a:p>
            <a:endParaRPr kumimoji="1" lang="en-US" altLang="ja-JP" sz="3600" dirty="0"/>
          </a:p>
          <a:p>
            <a:r>
              <a:rPr kumimoji="1" lang="en-US" altLang="ja-JP" sz="3600" dirty="0" smtClean="0">
                <a:latin typeface="+mn-ea"/>
              </a:rPr>
              <a:t>PHP,HTML</a:t>
            </a:r>
            <a:r>
              <a:rPr kumimoji="1" lang="ja-JP" altLang="en-US" sz="3600" dirty="0" smtClean="0"/>
              <a:t>の知識を深める</a:t>
            </a:r>
            <a:endParaRPr kumimoji="1" lang="ja-JP" altLang="en-US" sz="3600" dirty="0"/>
          </a:p>
        </p:txBody>
      </p:sp>
      <p:sp>
        <p:nvSpPr>
          <p:cNvPr id="3" name="タイトル 2"/>
          <p:cNvSpPr>
            <a:spLocks noGrp="1"/>
          </p:cNvSpPr>
          <p:nvPr>
            <p:ph type="title"/>
          </p:nvPr>
        </p:nvSpPr>
        <p:spPr/>
        <p:txBody>
          <a:bodyPr>
            <a:normAutofit/>
          </a:bodyPr>
          <a:lstStyle/>
          <a:p>
            <a:r>
              <a:rPr lang="ja-JP" altLang="en-US" dirty="0" smtClean="0"/>
              <a:t>テーマ選定理由</a:t>
            </a:r>
            <a:endParaRPr kumimoji="1" lang="ja-JP" altLang="en-US" dirty="0"/>
          </a:p>
        </p:txBody>
      </p:sp>
    </p:spTree>
    <p:extLst>
      <p:ext uri="{BB962C8B-B14F-4D97-AF65-F5344CB8AC3E}">
        <p14:creationId xmlns:p14="http://schemas.microsoft.com/office/powerpoint/2010/main" val="2299103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1000"/>
                                        <p:tgtEl>
                                          <p:spTgt spid="2">
                                            <p:txEl>
                                              <p:pRg st="1" end="1"/>
                                            </p:txEl>
                                          </p:spTgt>
                                        </p:tgtEl>
                                      </p:cBhvr>
                                    </p:animEffect>
                                    <p:anim calcmode="lin" valueType="num">
                                      <p:cBhvr>
                                        <p:cTn id="13"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fade">
                                      <p:cBhvr>
                                        <p:cTn id="19" dur="1000"/>
                                        <p:tgtEl>
                                          <p:spTgt spid="2">
                                            <p:txEl>
                                              <p:pRg st="3" end="3"/>
                                            </p:txEl>
                                          </p:spTgt>
                                        </p:tgtEl>
                                      </p:cBhvr>
                                    </p:animEffect>
                                    <p:anim calcmode="lin" valueType="num">
                                      <p:cBhvr>
                                        <p:cTn id="20"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p:cNvSpPr>
            <a:spLocks noGrp="1"/>
          </p:cNvSpPr>
          <p:nvPr>
            <p:ph idx="1"/>
          </p:nvPr>
        </p:nvSpPr>
        <p:spPr/>
        <p:txBody>
          <a:bodyPr>
            <a:normAutofit lnSpcReduction="10000"/>
          </a:bodyPr>
          <a:lstStyle/>
          <a:p>
            <a:pPr marL="0" indent="0">
              <a:buNone/>
            </a:pPr>
            <a:r>
              <a:rPr lang="ja-JP" altLang="en-US" sz="2800" dirty="0"/>
              <a:t>⦿</a:t>
            </a:r>
            <a:r>
              <a:rPr lang="en-US" altLang="ja-JP" sz="2800" dirty="0" smtClean="0"/>
              <a:t>PC</a:t>
            </a:r>
            <a:r>
              <a:rPr lang="ja-JP" altLang="en-US" sz="2800" dirty="0" smtClean="0"/>
              <a:t>向けサイト</a:t>
            </a:r>
            <a:r>
              <a:rPr lang="ja-JP" altLang="en-US" sz="2800" dirty="0"/>
              <a:t>　</a:t>
            </a:r>
            <a:r>
              <a:rPr lang="ja-JP" altLang="en-US" sz="2800" dirty="0" smtClean="0"/>
              <a:t>　　　　　　　　　　　</a:t>
            </a:r>
            <a:endParaRPr lang="en-US" altLang="ja-JP" sz="2800" dirty="0" smtClean="0"/>
          </a:p>
          <a:p>
            <a:pPr marL="0" indent="0">
              <a:buNone/>
            </a:pPr>
            <a:r>
              <a:rPr lang="en-US" altLang="ja-JP" sz="2800" dirty="0" smtClean="0"/>
              <a:t>&lt;</a:t>
            </a:r>
            <a:r>
              <a:rPr lang="ja-JP" altLang="en-US" sz="2800" dirty="0" smtClean="0"/>
              <a:t>各ページ</a:t>
            </a:r>
            <a:r>
              <a:rPr lang="en-US" altLang="ja-JP" sz="2800" dirty="0" smtClean="0"/>
              <a:t>&gt;</a:t>
            </a:r>
          </a:p>
          <a:p>
            <a:pPr marL="0" indent="0">
              <a:buNone/>
            </a:pPr>
            <a:r>
              <a:rPr lang="ja-JP" altLang="en-US" sz="2800" dirty="0"/>
              <a:t>　</a:t>
            </a:r>
            <a:r>
              <a:rPr lang="ja-JP" altLang="en-US" sz="2800" dirty="0" smtClean="0"/>
              <a:t>ログインページ、会員登録ページ、マイページ</a:t>
            </a:r>
            <a:endParaRPr lang="en-US" altLang="ja-JP" sz="2800" dirty="0" smtClean="0"/>
          </a:p>
          <a:p>
            <a:pPr marL="0" indent="0">
              <a:buNone/>
            </a:pPr>
            <a:r>
              <a:rPr kumimoji="1" lang="en-US" altLang="ja-JP" sz="2800" dirty="0" smtClean="0"/>
              <a:t>&lt;</a:t>
            </a:r>
            <a:r>
              <a:rPr kumimoji="1" lang="ja-JP" altLang="en-US" sz="2800" dirty="0" smtClean="0"/>
              <a:t>各機能</a:t>
            </a:r>
            <a:r>
              <a:rPr kumimoji="1" lang="en-US" altLang="ja-JP" sz="2800" dirty="0" smtClean="0"/>
              <a:t>&gt;</a:t>
            </a:r>
          </a:p>
          <a:p>
            <a:pPr marL="0" indent="0">
              <a:buNone/>
            </a:pPr>
            <a:r>
              <a:rPr lang="ja-JP" altLang="en-US" sz="2800" dirty="0"/>
              <a:t>　</a:t>
            </a:r>
            <a:r>
              <a:rPr lang="ja-JP" altLang="en-US" sz="2800" dirty="0" smtClean="0"/>
              <a:t>最近読んだ本、新刊情報、オススメの本、本棚、読書カレンダー</a:t>
            </a:r>
            <a:endParaRPr lang="en-US" altLang="ja-JP" sz="2800" dirty="0" smtClean="0"/>
          </a:p>
          <a:p>
            <a:pPr marL="0" indent="0">
              <a:buNone/>
            </a:pPr>
            <a:r>
              <a:rPr kumimoji="1" lang="ja-JP" altLang="en-US" sz="2800" dirty="0" smtClean="0"/>
              <a:t>　管理者機能</a:t>
            </a:r>
            <a:endParaRPr kumimoji="1" lang="en-US" altLang="ja-JP" sz="2800" dirty="0" smtClean="0"/>
          </a:p>
          <a:p>
            <a:endParaRPr kumimoji="1" lang="ja-JP" altLang="en-US" dirty="0"/>
          </a:p>
        </p:txBody>
      </p:sp>
      <p:sp>
        <p:nvSpPr>
          <p:cNvPr id="3" name="タイトル 2"/>
          <p:cNvSpPr>
            <a:spLocks noGrp="1"/>
          </p:cNvSpPr>
          <p:nvPr>
            <p:ph type="title"/>
          </p:nvPr>
        </p:nvSpPr>
        <p:spPr/>
        <p:txBody>
          <a:bodyPr>
            <a:normAutofit/>
          </a:bodyPr>
          <a:lstStyle/>
          <a:p>
            <a:r>
              <a:rPr kumimoji="1" lang="ja-JP" altLang="en-US" dirty="0" smtClean="0"/>
              <a:t>研究概要</a:t>
            </a:r>
            <a:endParaRPr kumimoji="1" lang="ja-JP" altLang="en-US" dirty="0"/>
          </a:p>
        </p:txBody>
      </p:sp>
    </p:spTree>
    <p:extLst>
      <p:ext uri="{BB962C8B-B14F-4D97-AF65-F5344CB8AC3E}">
        <p14:creationId xmlns:p14="http://schemas.microsoft.com/office/powerpoint/2010/main" val="3252346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fade">
                                      <p:cBhvr>
                                        <p:cTn id="12" dur="1000"/>
                                        <p:tgtEl>
                                          <p:spTgt spid="2">
                                            <p:txEl>
                                              <p:pRg st="0" end="0"/>
                                            </p:txEl>
                                          </p:spTgt>
                                        </p:tgtEl>
                                      </p:cBhvr>
                                    </p:animEffect>
                                    <p:anim calcmode="lin" valueType="num">
                                      <p:cBhvr>
                                        <p:cTn id="13"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Effect transition="in" filter="fade">
                                      <p:cBhvr>
                                        <p:cTn id="19" dur="1000"/>
                                        <p:tgtEl>
                                          <p:spTgt spid="2">
                                            <p:txEl>
                                              <p:pRg st="1" end="1"/>
                                            </p:txEl>
                                          </p:spTgt>
                                        </p:tgtEl>
                                      </p:cBhvr>
                                    </p:animEffect>
                                    <p:anim calcmode="lin" valueType="num">
                                      <p:cBhvr>
                                        <p:cTn id="20"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2">
                                            <p:txEl>
                                              <p:pRg st="2" end="2"/>
                                            </p:txEl>
                                          </p:spTgt>
                                        </p:tgtEl>
                                        <p:attrNameLst>
                                          <p:attrName>style.visibility</p:attrName>
                                        </p:attrNameLst>
                                      </p:cBhvr>
                                      <p:to>
                                        <p:strVal val="visible"/>
                                      </p:to>
                                    </p:set>
                                    <p:animEffect transition="in" filter="fade">
                                      <p:cBhvr>
                                        <p:cTn id="26" dur="1000"/>
                                        <p:tgtEl>
                                          <p:spTgt spid="2">
                                            <p:txEl>
                                              <p:pRg st="2" end="2"/>
                                            </p:txEl>
                                          </p:spTgt>
                                        </p:tgtEl>
                                      </p:cBhvr>
                                    </p:animEffect>
                                    <p:anim calcmode="lin" valueType="num">
                                      <p:cBhvr>
                                        <p:cTn id="27"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2">
                                            <p:txEl>
                                              <p:pRg st="3" end="3"/>
                                            </p:txEl>
                                          </p:spTgt>
                                        </p:tgtEl>
                                        <p:attrNameLst>
                                          <p:attrName>style.visibility</p:attrName>
                                        </p:attrNameLst>
                                      </p:cBhvr>
                                      <p:to>
                                        <p:strVal val="visible"/>
                                      </p:to>
                                    </p:set>
                                    <p:animEffect transition="in" filter="fade">
                                      <p:cBhvr>
                                        <p:cTn id="33" dur="1000"/>
                                        <p:tgtEl>
                                          <p:spTgt spid="2">
                                            <p:txEl>
                                              <p:pRg st="3" end="3"/>
                                            </p:txEl>
                                          </p:spTgt>
                                        </p:tgtEl>
                                      </p:cBhvr>
                                    </p:animEffect>
                                    <p:anim calcmode="lin" valueType="num">
                                      <p:cBhvr>
                                        <p:cTn id="34"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2">
                                            <p:txEl>
                                              <p:pRg st="4" end="4"/>
                                            </p:txEl>
                                          </p:spTgt>
                                        </p:tgtEl>
                                        <p:attrNameLst>
                                          <p:attrName>style.visibility</p:attrName>
                                        </p:attrNameLst>
                                      </p:cBhvr>
                                      <p:to>
                                        <p:strVal val="visible"/>
                                      </p:to>
                                    </p:set>
                                    <p:animEffect transition="in" filter="fade">
                                      <p:cBhvr>
                                        <p:cTn id="40" dur="1000"/>
                                        <p:tgtEl>
                                          <p:spTgt spid="2">
                                            <p:txEl>
                                              <p:pRg st="4" end="4"/>
                                            </p:txEl>
                                          </p:spTgt>
                                        </p:tgtEl>
                                      </p:cBhvr>
                                    </p:animEffect>
                                    <p:anim calcmode="lin" valueType="num">
                                      <p:cBhvr>
                                        <p:cTn id="41"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2">
                                            <p:txEl>
                                              <p:pRg st="5" end="5"/>
                                            </p:txEl>
                                          </p:spTgt>
                                        </p:tgtEl>
                                        <p:attrNameLst>
                                          <p:attrName>style.visibility</p:attrName>
                                        </p:attrNameLst>
                                      </p:cBhvr>
                                      <p:to>
                                        <p:strVal val="visible"/>
                                      </p:to>
                                    </p:set>
                                    <p:animEffect transition="in" filter="fade">
                                      <p:cBhvr>
                                        <p:cTn id="47" dur="1000"/>
                                        <p:tgtEl>
                                          <p:spTgt spid="2">
                                            <p:txEl>
                                              <p:pRg st="5" end="5"/>
                                            </p:txEl>
                                          </p:spTgt>
                                        </p:tgtEl>
                                      </p:cBhvr>
                                    </p:animEffect>
                                    <p:anim calcmode="lin" valueType="num">
                                      <p:cBhvr>
                                        <p:cTn id="48"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9"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コンテンツ プレースホルダー 3"/>
          <p:cNvGraphicFramePr>
            <a:graphicFrameLocks noGrp="1"/>
          </p:cNvGraphicFramePr>
          <p:nvPr>
            <p:ph idx="1"/>
            <p:extLst>
              <p:ext uri="{D42A27DB-BD31-4B8C-83A1-F6EECF244321}">
                <p14:modId xmlns:p14="http://schemas.microsoft.com/office/powerpoint/2010/main" val="1959685623"/>
              </p:ext>
            </p:extLst>
          </p:nvPr>
        </p:nvGraphicFramePr>
        <p:xfrm>
          <a:off x="827584" y="3212976"/>
          <a:ext cx="7408862" cy="2194221"/>
        </p:xfrm>
        <a:graphic>
          <a:graphicData uri="http://schemas.openxmlformats.org/drawingml/2006/table">
            <a:tbl>
              <a:tblPr firstRow="1" bandRow="1">
                <a:tableStyleId>{5C22544A-7EE6-4342-B048-85BDC9FD1C3A}</a:tableStyleId>
              </a:tblPr>
              <a:tblGrid>
                <a:gridCol w="2592288"/>
                <a:gridCol w="4816574"/>
              </a:tblGrid>
              <a:tr h="731407">
                <a:tc>
                  <a:txBody>
                    <a:bodyPr/>
                    <a:lstStyle/>
                    <a:p>
                      <a:pPr algn="ctr"/>
                      <a:r>
                        <a:rPr kumimoji="1" lang="en-US" altLang="ja-JP" sz="3200" b="0" dirty="0" smtClean="0">
                          <a:solidFill>
                            <a:schemeClr val="tx1"/>
                          </a:solidFill>
                          <a:latin typeface="Courier New" pitchFamily="49" charset="0"/>
                          <a:cs typeface="Courier New" pitchFamily="49" charset="0"/>
                        </a:rPr>
                        <a:t>OS</a:t>
                      </a:r>
                      <a:endParaRPr kumimoji="1" lang="ja-JP" altLang="en-US" sz="3200" b="0" dirty="0">
                        <a:solidFill>
                          <a:schemeClr val="tx1"/>
                        </a:solidFill>
                        <a:latin typeface="Courier New" pitchFamily="49" charset="0"/>
                        <a:cs typeface="Courier New" pitchFamily="49" charset="0"/>
                      </a:endParaRPr>
                    </a:p>
                  </a:txBody>
                  <a:tcPr/>
                </a:tc>
                <a:tc>
                  <a:txBody>
                    <a:bodyPr/>
                    <a:lstStyle/>
                    <a:p>
                      <a:r>
                        <a:rPr kumimoji="1" lang="en-US" altLang="ja-JP" sz="3200" b="0" dirty="0" smtClean="0">
                          <a:solidFill>
                            <a:schemeClr val="tx1"/>
                          </a:solidFill>
                          <a:latin typeface="Courier New" pitchFamily="49" charset="0"/>
                          <a:cs typeface="Courier New" pitchFamily="49" charset="0"/>
                        </a:rPr>
                        <a:t>Windows7</a:t>
                      </a:r>
                      <a:endParaRPr kumimoji="1" lang="ja-JP" altLang="en-US" sz="3200" b="0" dirty="0">
                        <a:solidFill>
                          <a:schemeClr val="tx1"/>
                        </a:solidFill>
                        <a:latin typeface="Courier New" pitchFamily="49" charset="0"/>
                        <a:cs typeface="Courier New" pitchFamily="49" charset="0"/>
                      </a:endParaRPr>
                    </a:p>
                  </a:txBody>
                  <a:tcPr/>
                </a:tc>
              </a:tr>
              <a:tr h="731407">
                <a:tc>
                  <a:txBody>
                    <a:bodyPr/>
                    <a:lstStyle/>
                    <a:p>
                      <a:pPr algn="ctr"/>
                      <a:r>
                        <a:rPr kumimoji="1" lang="ja-JP" altLang="en-US" sz="3200" b="0" dirty="0" smtClean="0">
                          <a:effectLst/>
                        </a:rPr>
                        <a:t>開発ソフト</a:t>
                      </a:r>
                      <a:endParaRPr kumimoji="1" lang="ja-JP" altLang="en-US" sz="3200" b="0" dirty="0">
                        <a:effectLst/>
                      </a:endParaRPr>
                    </a:p>
                  </a:txBody>
                  <a:tcPr/>
                </a:tc>
                <a:tc>
                  <a:txBody>
                    <a:bodyPr/>
                    <a:lstStyle/>
                    <a:p>
                      <a:r>
                        <a:rPr kumimoji="1" lang="en-US" altLang="ja-JP" sz="3200" dirty="0" err="1" smtClean="0">
                          <a:latin typeface="Courier New" pitchFamily="49" charset="0"/>
                          <a:cs typeface="Courier New" pitchFamily="49" charset="0"/>
                        </a:rPr>
                        <a:t>Xampp</a:t>
                      </a:r>
                      <a:endParaRPr kumimoji="1" lang="ja-JP" altLang="en-US" sz="3200" dirty="0">
                        <a:latin typeface="Courier New" pitchFamily="49" charset="0"/>
                        <a:cs typeface="Courier New" pitchFamily="49" charset="0"/>
                      </a:endParaRPr>
                    </a:p>
                  </a:txBody>
                  <a:tcPr/>
                </a:tc>
              </a:tr>
              <a:tr h="731407">
                <a:tc>
                  <a:txBody>
                    <a:bodyPr/>
                    <a:lstStyle/>
                    <a:p>
                      <a:pPr algn="ctr"/>
                      <a:r>
                        <a:rPr kumimoji="1" lang="ja-JP" altLang="en-US" sz="3200" dirty="0" smtClean="0"/>
                        <a:t>言語</a:t>
                      </a:r>
                      <a:endParaRPr kumimoji="1" lang="ja-JP" altLang="en-US" sz="3200" dirty="0"/>
                    </a:p>
                  </a:txBody>
                  <a:tcPr/>
                </a:tc>
                <a:tc>
                  <a:txBody>
                    <a:bodyPr/>
                    <a:lstStyle/>
                    <a:p>
                      <a:r>
                        <a:rPr kumimoji="1" lang="en-US" altLang="ja-JP" sz="3200" dirty="0" smtClean="0">
                          <a:latin typeface="Courier New" pitchFamily="49" charset="0"/>
                          <a:cs typeface="Courier New" pitchFamily="49" charset="0"/>
                        </a:rPr>
                        <a:t>PHP5,HTML5</a:t>
                      </a:r>
                      <a:endParaRPr kumimoji="1" lang="ja-JP" altLang="en-US" sz="3200" dirty="0">
                        <a:latin typeface="Courier New" pitchFamily="49" charset="0"/>
                        <a:cs typeface="Courier New" pitchFamily="49" charset="0"/>
                      </a:endParaRPr>
                    </a:p>
                  </a:txBody>
                  <a:tcPr/>
                </a:tc>
              </a:tr>
            </a:tbl>
          </a:graphicData>
        </a:graphic>
      </p:graphicFrame>
      <p:sp>
        <p:nvSpPr>
          <p:cNvPr id="3" name="タイトル 2"/>
          <p:cNvSpPr>
            <a:spLocks noGrp="1"/>
          </p:cNvSpPr>
          <p:nvPr>
            <p:ph type="title"/>
          </p:nvPr>
        </p:nvSpPr>
        <p:spPr/>
        <p:txBody>
          <a:bodyPr/>
          <a:lstStyle/>
          <a:p>
            <a:r>
              <a:rPr lang="ja-JP" altLang="en-US" dirty="0" smtClean="0"/>
              <a:t>開発環境</a:t>
            </a:r>
            <a:endParaRPr kumimoji="1" lang="ja-JP" altLang="en-US" dirty="0"/>
          </a:p>
        </p:txBody>
      </p:sp>
    </p:spTree>
    <p:extLst>
      <p:ext uri="{BB962C8B-B14F-4D97-AF65-F5344CB8AC3E}">
        <p14:creationId xmlns:p14="http://schemas.microsoft.com/office/powerpoint/2010/main" val="846005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a:lstStyle/>
          <a:p>
            <a:r>
              <a:rPr kumimoji="1" lang="ja-JP" altLang="en-US" dirty="0" smtClean="0"/>
              <a:t>システム概要</a:t>
            </a:r>
            <a:endParaRPr kumimoji="1" lang="ja-JP" altLang="en-US" dirty="0"/>
          </a:p>
        </p:txBody>
      </p:sp>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411760" y="2708920"/>
            <a:ext cx="4248472" cy="36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30277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Effect transition="in" filter="fade">
                                      <p:cBhvr>
                                        <p:cTn id="12"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951968" y="3307050"/>
            <a:ext cx="7272808" cy="1107996"/>
          </a:xfrm>
          <a:prstGeom prst="rect">
            <a:avLst/>
          </a:prstGeom>
          <a:noFill/>
        </p:spPr>
        <p:txBody>
          <a:bodyPr wrap="square" rtlCol="0">
            <a:spAutoFit/>
          </a:bodyPr>
          <a:lstStyle/>
          <a:p>
            <a:pPr algn="ctr"/>
            <a:r>
              <a:rPr kumimoji="1" lang="ja-JP" altLang="en-US" sz="6600" dirty="0" smtClean="0"/>
              <a:t>進捗状況</a:t>
            </a:r>
            <a:endParaRPr kumimoji="1" lang="ja-JP" altLang="en-US" sz="6600" dirty="0"/>
          </a:p>
        </p:txBody>
      </p:sp>
    </p:spTree>
    <p:extLst>
      <p:ext uri="{BB962C8B-B14F-4D97-AF65-F5344CB8AC3E}">
        <p14:creationId xmlns:p14="http://schemas.microsoft.com/office/powerpoint/2010/main" val="302638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a:lstStyle/>
          <a:p>
            <a:r>
              <a:rPr kumimoji="1" lang="ja-JP" altLang="en-US" dirty="0" smtClean="0"/>
              <a:t>ログイン画面</a:t>
            </a:r>
            <a:endParaRPr kumimoji="1" lang="ja-JP" altLang="en-US" dirty="0"/>
          </a:p>
        </p:txBody>
      </p:sp>
      <p:pic>
        <p:nvPicPr>
          <p:cNvPr id="4" name="コンテンツ プレースホルダー 3"/>
          <p:cNvPicPr>
            <a:picLocks noGrp="1"/>
          </p:cNvPicPr>
          <p:nvPr>
            <p:ph idx="1"/>
          </p:nvPr>
        </p:nvPicPr>
        <p:blipFill>
          <a:blip r:embed="rId3" cstate="print">
            <a:extLst>
              <a:ext uri="{28A0092B-C50C-407E-A947-70E740481C1C}">
                <a14:useLocalDpi xmlns:a14="http://schemas.microsoft.com/office/drawing/2010/main" val="0"/>
              </a:ext>
            </a:extLst>
          </a:blip>
          <a:stretch>
            <a:fillRect/>
          </a:stretch>
        </p:blipFill>
        <p:spPr>
          <a:xfrm>
            <a:off x="3923928" y="1988840"/>
            <a:ext cx="4412173" cy="3921448"/>
          </a:xfrm>
          <a:prstGeom prst="rect">
            <a:avLst/>
          </a:prstGeom>
        </p:spPr>
      </p:pic>
      <p:sp>
        <p:nvSpPr>
          <p:cNvPr id="5" name="テキスト ボックス 4"/>
          <p:cNvSpPr txBox="1"/>
          <p:nvPr/>
        </p:nvSpPr>
        <p:spPr>
          <a:xfrm>
            <a:off x="4139952" y="6021288"/>
            <a:ext cx="4104456" cy="461665"/>
          </a:xfrm>
          <a:prstGeom prst="rect">
            <a:avLst/>
          </a:prstGeom>
          <a:noFill/>
        </p:spPr>
        <p:txBody>
          <a:bodyPr wrap="square" rtlCol="0">
            <a:spAutoFit/>
          </a:bodyPr>
          <a:lstStyle/>
          <a:p>
            <a:pPr algn="ctr"/>
            <a:r>
              <a:rPr kumimoji="1" lang="ja-JP" altLang="en-US" sz="2400" dirty="0" smtClean="0"/>
              <a:t>ログイン画面</a:t>
            </a:r>
            <a:endParaRPr kumimoji="1" lang="ja-JP" altLang="en-US" sz="2400" dirty="0"/>
          </a:p>
        </p:txBody>
      </p:sp>
      <p:sp>
        <p:nvSpPr>
          <p:cNvPr id="6" name="テキスト ボックス 5"/>
          <p:cNvSpPr txBox="1"/>
          <p:nvPr/>
        </p:nvSpPr>
        <p:spPr>
          <a:xfrm>
            <a:off x="481067" y="2636912"/>
            <a:ext cx="3312368" cy="2677656"/>
          </a:xfrm>
          <a:prstGeom prst="rect">
            <a:avLst/>
          </a:prstGeom>
          <a:noFill/>
        </p:spPr>
        <p:txBody>
          <a:bodyPr wrap="square" rtlCol="0">
            <a:spAutoFit/>
          </a:bodyPr>
          <a:lstStyle/>
          <a:p>
            <a:r>
              <a:rPr kumimoji="1" lang="ja-JP" altLang="en-US" sz="2800" dirty="0" smtClean="0"/>
              <a:t>システム起動で表示されるログイン画面</a:t>
            </a:r>
            <a:endParaRPr kumimoji="1" lang="en-US" altLang="ja-JP" sz="2800" dirty="0" smtClean="0"/>
          </a:p>
          <a:p>
            <a:r>
              <a:rPr lang="ja-JP" altLang="en-US" sz="2800" dirty="0"/>
              <a:t>　</a:t>
            </a:r>
            <a:r>
              <a:rPr lang="ja-JP" altLang="en-US" sz="2800" dirty="0" smtClean="0"/>
              <a:t>　</a:t>
            </a:r>
            <a:endParaRPr lang="en-US" altLang="ja-JP" sz="2800" dirty="0" smtClean="0"/>
          </a:p>
          <a:p>
            <a:r>
              <a:rPr kumimoji="1" lang="ja-JP" altLang="en-US" sz="2800" dirty="0" smtClean="0"/>
              <a:t>ログイン</a:t>
            </a:r>
            <a:r>
              <a:rPr kumimoji="1" lang="en-US" altLang="ja-JP" sz="2800" dirty="0" smtClean="0"/>
              <a:t>ID</a:t>
            </a:r>
            <a:r>
              <a:rPr kumimoji="1" lang="ja-JP" altLang="en-US" sz="2800" dirty="0" err="1" smtClean="0"/>
              <a:t>、</a:t>
            </a:r>
            <a:r>
              <a:rPr kumimoji="1" lang="ja-JP" altLang="en-US" sz="2800" dirty="0" smtClean="0"/>
              <a:t>パスワード入力でアクセス可能</a:t>
            </a:r>
            <a:endParaRPr kumimoji="1" lang="ja-JP" altLang="en-US" sz="2800" dirty="0"/>
          </a:p>
        </p:txBody>
      </p:sp>
      <p:sp>
        <p:nvSpPr>
          <p:cNvPr id="7" name="角丸四角形吹き出し 6"/>
          <p:cNvSpPr/>
          <p:nvPr/>
        </p:nvSpPr>
        <p:spPr>
          <a:xfrm>
            <a:off x="486783" y="1772816"/>
            <a:ext cx="4176464" cy="2808312"/>
          </a:xfrm>
          <a:prstGeom prst="wedgeRoundRectCallout">
            <a:avLst>
              <a:gd name="adj1" fmla="val 70664"/>
              <a:gd name="adj2" fmla="val 32445"/>
              <a:gd name="adj3" fmla="val 16667"/>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pic>
        <p:nvPicPr>
          <p:cNvPr id="2" name="図 1" descr="画面の領域"/>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53175" y="2636912"/>
            <a:ext cx="2686777" cy="1440160"/>
          </a:xfrm>
          <a:prstGeom prst="rect">
            <a:avLst/>
          </a:prstGeom>
        </p:spPr>
      </p:pic>
    </p:spTree>
    <p:extLst>
      <p:ext uri="{BB962C8B-B14F-4D97-AF65-F5344CB8AC3E}">
        <p14:creationId xmlns:p14="http://schemas.microsoft.com/office/powerpoint/2010/main" val="2623984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
                                        </p:tgtEl>
                                      </p:cBhvr>
                                    </p:animEffect>
                                    <p:animScale>
                                      <p:cBhvr>
                                        <p:cTn id="7" dur="250" autoRev="1" fill="hold"/>
                                        <p:tgtEl>
                                          <p:spTgt spid="3"/>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anim calcmode="lin" valueType="num">
                                      <p:cBhvr>
                                        <p:cTn id="13"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Effect transition="in" filter="fade">
                                      <p:cBhvr>
                                        <p:cTn id="19" dur="1000"/>
                                        <p:tgtEl>
                                          <p:spTgt spid="6">
                                            <p:txEl>
                                              <p:pRg st="2" end="2"/>
                                            </p:txEl>
                                          </p:spTgt>
                                        </p:tgtEl>
                                      </p:cBhvr>
                                    </p:animEffect>
                                    <p:anim calcmode="lin" valueType="num">
                                      <p:cBhvr>
                                        <p:cTn id="20"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1000"/>
                                        <p:tgtEl>
                                          <p:spTgt spid="4"/>
                                        </p:tgtEl>
                                      </p:cBhvr>
                                    </p:animEffect>
                                    <p:anim calcmode="lin" valueType="num">
                                      <p:cBhvr>
                                        <p:cTn id="27" dur="1000" fill="hold"/>
                                        <p:tgtEl>
                                          <p:spTgt spid="4"/>
                                        </p:tgtEl>
                                        <p:attrNameLst>
                                          <p:attrName>ppt_x</p:attrName>
                                        </p:attrNameLst>
                                      </p:cBhvr>
                                      <p:tavLst>
                                        <p:tav tm="0">
                                          <p:val>
                                            <p:strVal val="#ppt_x"/>
                                          </p:val>
                                        </p:tav>
                                        <p:tav tm="100000">
                                          <p:val>
                                            <p:strVal val="#ppt_x"/>
                                          </p:val>
                                        </p:tav>
                                      </p:tavLst>
                                    </p:anim>
                                    <p:anim calcmode="lin" valueType="num">
                                      <p:cBhvr>
                                        <p:cTn id="2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5">
                                            <p:txEl>
                                              <p:pRg st="0" end="0"/>
                                            </p:txEl>
                                          </p:spTgt>
                                        </p:tgtEl>
                                        <p:attrNameLst>
                                          <p:attrName>style.visibility</p:attrName>
                                        </p:attrNameLst>
                                      </p:cBhvr>
                                      <p:to>
                                        <p:strVal val="visible"/>
                                      </p:to>
                                    </p:set>
                                    <p:animEffect transition="in" filter="fade">
                                      <p:cBhvr>
                                        <p:cTn id="33" dur="1000"/>
                                        <p:tgtEl>
                                          <p:spTgt spid="5">
                                            <p:txEl>
                                              <p:pRg st="0" end="0"/>
                                            </p:txEl>
                                          </p:spTgt>
                                        </p:tgtEl>
                                      </p:cBhvr>
                                    </p:animEffect>
                                    <p:anim calcmode="lin" valueType="num">
                                      <p:cBhvr>
                                        <p:cTn id="34"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35"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fade">
                                      <p:cBhvr>
                                        <p:cTn id="40" dur="1000"/>
                                        <p:tgtEl>
                                          <p:spTgt spid="7"/>
                                        </p:tgtEl>
                                      </p:cBhvr>
                                    </p:animEffect>
                                    <p:anim calcmode="lin" valueType="num">
                                      <p:cBhvr>
                                        <p:cTn id="41" dur="1000" fill="hold"/>
                                        <p:tgtEl>
                                          <p:spTgt spid="7"/>
                                        </p:tgtEl>
                                        <p:attrNameLst>
                                          <p:attrName>ppt_x</p:attrName>
                                        </p:attrNameLst>
                                      </p:cBhvr>
                                      <p:tavLst>
                                        <p:tav tm="0">
                                          <p:val>
                                            <p:strVal val="#ppt_x"/>
                                          </p:val>
                                        </p:tav>
                                        <p:tav tm="100000">
                                          <p:val>
                                            <p:strVal val="#ppt_x"/>
                                          </p:val>
                                        </p:tav>
                                      </p:tavLst>
                                    </p:anim>
                                    <p:anim calcmode="lin" valueType="num">
                                      <p:cBhvr>
                                        <p:cTn id="42"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barn(inVertical)">
                                      <p:cBhvr>
                                        <p:cTn id="4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a:lstStyle/>
          <a:p>
            <a:r>
              <a:rPr kumimoji="1" lang="ja-JP" altLang="en-US" dirty="0" smtClean="0"/>
              <a:t>会員登録</a:t>
            </a:r>
            <a:endParaRPr kumimoji="1" lang="ja-JP" altLang="en-US" dirty="0"/>
          </a:p>
        </p:txBody>
      </p:sp>
      <p:pic>
        <p:nvPicPr>
          <p:cNvPr id="4" name="図 3"/>
          <p:cNvPicPr/>
          <p:nvPr/>
        </p:nvPicPr>
        <p:blipFill>
          <a:blip r:embed="rId3" cstate="print">
            <a:extLst>
              <a:ext uri="{28A0092B-C50C-407E-A947-70E740481C1C}">
                <a14:useLocalDpi xmlns:a14="http://schemas.microsoft.com/office/drawing/2010/main" val="0"/>
              </a:ext>
            </a:extLst>
          </a:blip>
          <a:stretch>
            <a:fillRect/>
          </a:stretch>
        </p:blipFill>
        <p:spPr>
          <a:xfrm>
            <a:off x="3995936" y="1700808"/>
            <a:ext cx="4464496" cy="3960440"/>
          </a:xfrm>
          <a:prstGeom prst="rect">
            <a:avLst/>
          </a:prstGeom>
        </p:spPr>
      </p:pic>
      <p:sp>
        <p:nvSpPr>
          <p:cNvPr id="5" name="テキスト ボックス 4"/>
          <p:cNvSpPr txBox="1"/>
          <p:nvPr/>
        </p:nvSpPr>
        <p:spPr>
          <a:xfrm>
            <a:off x="3995936" y="5949280"/>
            <a:ext cx="4464496" cy="461665"/>
          </a:xfrm>
          <a:prstGeom prst="rect">
            <a:avLst/>
          </a:prstGeom>
          <a:noFill/>
        </p:spPr>
        <p:txBody>
          <a:bodyPr wrap="square" rtlCol="0">
            <a:spAutoFit/>
          </a:bodyPr>
          <a:lstStyle/>
          <a:p>
            <a:pPr algn="ctr"/>
            <a:r>
              <a:rPr kumimoji="1" lang="ja-JP" altLang="en-US" sz="2400" dirty="0" smtClean="0"/>
              <a:t>会員登録画面</a:t>
            </a:r>
            <a:endParaRPr kumimoji="1" lang="ja-JP" altLang="en-US" sz="2400" dirty="0"/>
          </a:p>
        </p:txBody>
      </p:sp>
      <p:sp>
        <p:nvSpPr>
          <p:cNvPr id="6" name="テキスト ボックス 5"/>
          <p:cNvSpPr txBox="1"/>
          <p:nvPr/>
        </p:nvSpPr>
        <p:spPr>
          <a:xfrm>
            <a:off x="251520" y="2126756"/>
            <a:ext cx="3672408" cy="3108543"/>
          </a:xfrm>
          <a:prstGeom prst="rect">
            <a:avLst/>
          </a:prstGeom>
          <a:noFill/>
        </p:spPr>
        <p:txBody>
          <a:bodyPr wrap="square" rtlCol="0">
            <a:spAutoFit/>
          </a:bodyPr>
          <a:lstStyle/>
          <a:p>
            <a:r>
              <a:rPr kumimoji="1" lang="ja-JP" altLang="en-US" sz="2800" dirty="0" smtClean="0"/>
              <a:t>ログイン画面の新規登録画面からアクセス可能</a:t>
            </a:r>
            <a:endParaRPr kumimoji="1" lang="en-US" altLang="ja-JP" sz="2800" dirty="0" smtClean="0"/>
          </a:p>
          <a:p>
            <a:endParaRPr lang="en-US" altLang="ja-JP" sz="2800" dirty="0"/>
          </a:p>
          <a:p>
            <a:r>
              <a:rPr lang="ja-JP" altLang="en-US" sz="2800" dirty="0" smtClean="0"/>
              <a:t>会員の情報はユーザ管理テーブルに保管される</a:t>
            </a:r>
            <a:endParaRPr kumimoji="1" lang="ja-JP" altLang="en-US" sz="2800" dirty="0"/>
          </a:p>
        </p:txBody>
      </p:sp>
    </p:spTree>
    <p:extLst>
      <p:ext uri="{BB962C8B-B14F-4D97-AF65-F5344CB8AC3E}">
        <p14:creationId xmlns:p14="http://schemas.microsoft.com/office/powerpoint/2010/main" val="2335114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
                                        </p:tgtEl>
                                      </p:cBhvr>
                                    </p:animEffect>
                                    <p:animScale>
                                      <p:cBhvr>
                                        <p:cTn id="7" dur="250" autoRev="1" fill="hold"/>
                                        <p:tgtEl>
                                          <p:spTgt spid="3"/>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anim calcmode="lin" valueType="num">
                                      <p:cBhvr>
                                        <p:cTn id="13"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Effect transition="in" filter="fade">
                                      <p:cBhvr>
                                        <p:cTn id="19" dur="1000"/>
                                        <p:tgtEl>
                                          <p:spTgt spid="6">
                                            <p:txEl>
                                              <p:pRg st="2" end="2"/>
                                            </p:txEl>
                                          </p:spTgt>
                                        </p:tgtEl>
                                      </p:cBhvr>
                                    </p:animEffect>
                                    <p:anim calcmode="lin" valueType="num">
                                      <p:cBhvr>
                                        <p:cTn id="20"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1000"/>
                                        <p:tgtEl>
                                          <p:spTgt spid="4"/>
                                        </p:tgtEl>
                                      </p:cBhvr>
                                    </p:animEffect>
                                    <p:anim calcmode="lin" valueType="num">
                                      <p:cBhvr>
                                        <p:cTn id="27" dur="1000" fill="hold"/>
                                        <p:tgtEl>
                                          <p:spTgt spid="4"/>
                                        </p:tgtEl>
                                        <p:attrNameLst>
                                          <p:attrName>ppt_x</p:attrName>
                                        </p:attrNameLst>
                                      </p:cBhvr>
                                      <p:tavLst>
                                        <p:tav tm="0">
                                          <p:val>
                                            <p:strVal val="#ppt_x"/>
                                          </p:val>
                                        </p:tav>
                                        <p:tav tm="100000">
                                          <p:val>
                                            <p:strVal val="#ppt_x"/>
                                          </p:val>
                                        </p:tav>
                                      </p:tavLst>
                                    </p:anim>
                                    <p:anim calcmode="lin" valueType="num">
                                      <p:cBhvr>
                                        <p:cTn id="2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1000"/>
                                        <p:tgtEl>
                                          <p:spTgt spid="5"/>
                                        </p:tgtEl>
                                      </p:cBhvr>
                                    </p:animEffect>
                                    <p:anim calcmode="lin" valueType="num">
                                      <p:cBhvr>
                                        <p:cTn id="34" dur="1000" fill="hold"/>
                                        <p:tgtEl>
                                          <p:spTgt spid="5"/>
                                        </p:tgtEl>
                                        <p:attrNameLst>
                                          <p:attrName>ppt_x</p:attrName>
                                        </p:attrNameLst>
                                      </p:cBhvr>
                                      <p:tavLst>
                                        <p:tav tm="0">
                                          <p:val>
                                            <p:strVal val="#ppt_x"/>
                                          </p:val>
                                        </p:tav>
                                        <p:tav tm="100000">
                                          <p:val>
                                            <p:strVal val="#ppt_x"/>
                                          </p:val>
                                        </p:tav>
                                      </p:tavLst>
                                    </p:anim>
                                    <p:anim calcmode="lin" valueType="num">
                                      <p:cBhvr>
                                        <p:cTn id="3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a:lstStyle/>
          <a:p>
            <a:r>
              <a:rPr kumimoji="1" lang="ja-JP" altLang="en-US" dirty="0" smtClean="0"/>
              <a:t>トップ画面</a:t>
            </a:r>
            <a:r>
              <a:rPr kumimoji="1" lang="en-US" altLang="ja-JP" dirty="0" smtClean="0"/>
              <a:t>(</a:t>
            </a:r>
            <a:r>
              <a:rPr kumimoji="1" lang="ja-JP" altLang="en-US" dirty="0" smtClean="0"/>
              <a:t>マイページ</a:t>
            </a:r>
            <a:r>
              <a:rPr kumimoji="1" lang="en-US" altLang="ja-JP" dirty="0" smtClean="0"/>
              <a:t>)</a:t>
            </a:r>
            <a:endParaRPr kumimoji="1" lang="ja-JP" altLang="en-US" dirty="0"/>
          </a:p>
        </p:txBody>
      </p:sp>
      <p:pic>
        <p:nvPicPr>
          <p:cNvPr id="4" name="図 3"/>
          <p:cNvPicPr/>
          <p:nvPr/>
        </p:nvPicPr>
        <p:blipFill>
          <a:blip r:embed="rId3" cstate="print">
            <a:extLst>
              <a:ext uri="{28A0092B-C50C-407E-A947-70E740481C1C}">
                <a14:useLocalDpi xmlns:a14="http://schemas.microsoft.com/office/drawing/2010/main" val="0"/>
              </a:ext>
            </a:extLst>
          </a:blip>
          <a:stretch>
            <a:fillRect/>
          </a:stretch>
        </p:blipFill>
        <p:spPr>
          <a:xfrm>
            <a:off x="4139952" y="1700808"/>
            <a:ext cx="4752528" cy="2952328"/>
          </a:xfrm>
          <a:prstGeom prst="rect">
            <a:avLst/>
          </a:prstGeom>
        </p:spPr>
      </p:pic>
      <p:sp>
        <p:nvSpPr>
          <p:cNvPr id="5" name="テキスト ボックス 4"/>
          <p:cNvSpPr txBox="1"/>
          <p:nvPr/>
        </p:nvSpPr>
        <p:spPr>
          <a:xfrm>
            <a:off x="395536" y="1988840"/>
            <a:ext cx="3600400" cy="2246769"/>
          </a:xfrm>
          <a:prstGeom prst="rect">
            <a:avLst/>
          </a:prstGeom>
          <a:noFill/>
        </p:spPr>
        <p:txBody>
          <a:bodyPr wrap="square" rtlCol="0">
            <a:spAutoFit/>
          </a:bodyPr>
          <a:lstStyle/>
          <a:p>
            <a:r>
              <a:rPr kumimoji="1" lang="ja-JP" altLang="en-US" sz="2800" dirty="0" smtClean="0"/>
              <a:t>ログインでアクセス可能</a:t>
            </a:r>
            <a:endParaRPr kumimoji="1" lang="en-US" altLang="ja-JP" sz="2800" dirty="0" smtClean="0"/>
          </a:p>
          <a:p>
            <a:endParaRPr lang="en-US" altLang="ja-JP" sz="2800" dirty="0"/>
          </a:p>
          <a:p>
            <a:r>
              <a:rPr kumimoji="1" lang="ja-JP" altLang="en-US" sz="2800" dirty="0" smtClean="0"/>
              <a:t>右図のようなフィーチャーリスト作成予定</a:t>
            </a:r>
            <a:endParaRPr kumimoji="1" lang="ja-JP" altLang="en-US" sz="2800" dirty="0"/>
          </a:p>
        </p:txBody>
      </p:sp>
      <p:sp>
        <p:nvSpPr>
          <p:cNvPr id="6" name="テキスト ボックス 5"/>
          <p:cNvSpPr txBox="1"/>
          <p:nvPr/>
        </p:nvSpPr>
        <p:spPr>
          <a:xfrm>
            <a:off x="4139952" y="4941168"/>
            <a:ext cx="4536504" cy="461665"/>
          </a:xfrm>
          <a:prstGeom prst="rect">
            <a:avLst/>
          </a:prstGeom>
          <a:noFill/>
        </p:spPr>
        <p:txBody>
          <a:bodyPr wrap="square" rtlCol="0">
            <a:spAutoFit/>
          </a:bodyPr>
          <a:lstStyle/>
          <a:p>
            <a:pPr algn="ctr"/>
            <a:r>
              <a:rPr kumimoji="1" lang="ja-JP" altLang="en-US" sz="2400" dirty="0" smtClean="0"/>
              <a:t>フィーチャーリストイメージ</a:t>
            </a:r>
            <a:endParaRPr kumimoji="1" lang="ja-JP" altLang="en-US" sz="2400" dirty="0"/>
          </a:p>
        </p:txBody>
      </p:sp>
      <p:sp>
        <p:nvSpPr>
          <p:cNvPr id="7" name="角丸四角形吹き出し 6"/>
          <p:cNvSpPr/>
          <p:nvPr/>
        </p:nvSpPr>
        <p:spPr>
          <a:xfrm>
            <a:off x="143508" y="1667420"/>
            <a:ext cx="4392488" cy="3528392"/>
          </a:xfrm>
          <a:prstGeom prst="wedgeRoundRectCallout">
            <a:avLst>
              <a:gd name="adj1" fmla="val 59951"/>
              <a:gd name="adj2" fmla="val 24848"/>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pic>
        <p:nvPicPr>
          <p:cNvPr id="8" name="図 7" descr="画面の領域"/>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5536" y="2603999"/>
            <a:ext cx="4002225" cy="2275512"/>
          </a:xfrm>
          <a:prstGeom prst="rect">
            <a:avLst/>
          </a:prstGeom>
        </p:spPr>
      </p:pic>
      <p:sp>
        <p:nvSpPr>
          <p:cNvPr id="2" name="テキスト ボックス 1"/>
          <p:cNvSpPr txBox="1"/>
          <p:nvPr/>
        </p:nvSpPr>
        <p:spPr>
          <a:xfrm>
            <a:off x="539552" y="1988840"/>
            <a:ext cx="3600400" cy="461665"/>
          </a:xfrm>
          <a:prstGeom prst="rect">
            <a:avLst/>
          </a:prstGeom>
          <a:noFill/>
        </p:spPr>
        <p:txBody>
          <a:bodyPr wrap="square" rtlCol="0">
            <a:spAutoFit/>
          </a:bodyPr>
          <a:lstStyle/>
          <a:p>
            <a:r>
              <a:rPr kumimoji="1" lang="ja-JP" altLang="en-US" sz="2400" dirty="0" smtClean="0"/>
              <a:t>切り替えると</a:t>
            </a:r>
            <a:r>
              <a:rPr kumimoji="1" lang="en-US" altLang="ja-JP" sz="2400" dirty="0" smtClean="0"/>
              <a:t>….</a:t>
            </a:r>
            <a:endParaRPr kumimoji="1" lang="ja-JP" altLang="en-US" sz="2400" dirty="0"/>
          </a:p>
        </p:txBody>
      </p:sp>
    </p:spTree>
    <p:extLst>
      <p:ext uri="{BB962C8B-B14F-4D97-AF65-F5344CB8AC3E}">
        <p14:creationId xmlns:p14="http://schemas.microsoft.com/office/powerpoint/2010/main" val="273807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
                                        </p:tgtEl>
                                      </p:cBhvr>
                                    </p:animEffect>
                                    <p:animScale>
                                      <p:cBhvr>
                                        <p:cTn id="7" dur="250" autoRev="1" fill="hold"/>
                                        <p:tgtEl>
                                          <p:spTgt spid="3"/>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1000"/>
                                        <p:tgtEl>
                                          <p:spTgt spid="5">
                                            <p:txEl>
                                              <p:pRg st="0" end="0"/>
                                            </p:txEl>
                                          </p:spTgt>
                                        </p:tgtEl>
                                      </p:cBhvr>
                                    </p:animEffect>
                                    <p:anim calcmode="lin" valueType="num">
                                      <p:cBhvr>
                                        <p:cTn id="13"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Effect transition="in" filter="fade">
                                      <p:cBhvr>
                                        <p:cTn id="19" dur="1000"/>
                                        <p:tgtEl>
                                          <p:spTgt spid="5">
                                            <p:txEl>
                                              <p:pRg st="2" end="2"/>
                                            </p:txEl>
                                          </p:spTgt>
                                        </p:tgtEl>
                                      </p:cBhvr>
                                    </p:animEffect>
                                    <p:anim calcmode="lin" valueType="num">
                                      <p:cBhvr>
                                        <p:cTn id="20"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1000"/>
                                        <p:tgtEl>
                                          <p:spTgt spid="4"/>
                                        </p:tgtEl>
                                      </p:cBhvr>
                                    </p:animEffect>
                                    <p:anim calcmode="lin" valueType="num">
                                      <p:cBhvr>
                                        <p:cTn id="27" dur="1000" fill="hold"/>
                                        <p:tgtEl>
                                          <p:spTgt spid="4"/>
                                        </p:tgtEl>
                                        <p:attrNameLst>
                                          <p:attrName>ppt_x</p:attrName>
                                        </p:attrNameLst>
                                      </p:cBhvr>
                                      <p:tavLst>
                                        <p:tav tm="0">
                                          <p:val>
                                            <p:strVal val="#ppt_x"/>
                                          </p:val>
                                        </p:tav>
                                        <p:tav tm="100000">
                                          <p:val>
                                            <p:strVal val="#ppt_x"/>
                                          </p:val>
                                        </p:tav>
                                      </p:tavLst>
                                    </p:anim>
                                    <p:anim calcmode="lin" valueType="num">
                                      <p:cBhvr>
                                        <p:cTn id="2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1000"/>
                                        <p:tgtEl>
                                          <p:spTgt spid="6"/>
                                        </p:tgtEl>
                                      </p:cBhvr>
                                    </p:animEffect>
                                    <p:anim calcmode="lin" valueType="num">
                                      <p:cBhvr>
                                        <p:cTn id="34" dur="1000" fill="hold"/>
                                        <p:tgtEl>
                                          <p:spTgt spid="6"/>
                                        </p:tgtEl>
                                        <p:attrNameLst>
                                          <p:attrName>ppt_x</p:attrName>
                                        </p:attrNameLst>
                                      </p:cBhvr>
                                      <p:tavLst>
                                        <p:tav tm="0">
                                          <p:val>
                                            <p:strVal val="#ppt_x"/>
                                          </p:val>
                                        </p:tav>
                                        <p:tav tm="100000">
                                          <p:val>
                                            <p:strVal val="#ppt_x"/>
                                          </p:val>
                                        </p:tav>
                                      </p:tavLst>
                                    </p:anim>
                                    <p:anim calcmode="lin" valueType="num">
                                      <p:cBhvr>
                                        <p:cTn id="3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fade">
                                      <p:cBhvr>
                                        <p:cTn id="40" dur="1000"/>
                                        <p:tgtEl>
                                          <p:spTgt spid="7"/>
                                        </p:tgtEl>
                                      </p:cBhvr>
                                    </p:animEffect>
                                    <p:anim calcmode="lin" valueType="num">
                                      <p:cBhvr>
                                        <p:cTn id="41" dur="1000" fill="hold"/>
                                        <p:tgtEl>
                                          <p:spTgt spid="7"/>
                                        </p:tgtEl>
                                        <p:attrNameLst>
                                          <p:attrName>ppt_x</p:attrName>
                                        </p:attrNameLst>
                                      </p:cBhvr>
                                      <p:tavLst>
                                        <p:tav tm="0">
                                          <p:val>
                                            <p:strVal val="#ppt_x"/>
                                          </p:val>
                                        </p:tav>
                                        <p:tav tm="100000">
                                          <p:val>
                                            <p:strVal val="#ppt_x"/>
                                          </p:val>
                                        </p:tav>
                                      </p:tavLst>
                                    </p:anim>
                                    <p:anim calcmode="lin" valueType="num">
                                      <p:cBhvr>
                                        <p:cTn id="42"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2">
                                            <p:txEl>
                                              <p:pRg st="0" end="0"/>
                                            </p:txEl>
                                          </p:spTgt>
                                        </p:tgtEl>
                                        <p:attrNameLst>
                                          <p:attrName>style.visibility</p:attrName>
                                        </p:attrNameLst>
                                      </p:cBhvr>
                                      <p:to>
                                        <p:strVal val="visible"/>
                                      </p:to>
                                    </p:set>
                                    <p:animEffect transition="in" filter="barn(inVertical)">
                                      <p:cBhvr>
                                        <p:cTn id="47" dur="1000"/>
                                        <p:tgtEl>
                                          <p:spTgt spid="2">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nodeType="click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barn(inVertical)">
                                      <p:cBhvr>
                                        <p:cTn id="5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a:lstStyle/>
          <a:p>
            <a:r>
              <a:rPr kumimoji="1" lang="ja-JP" altLang="en-US" dirty="0" smtClean="0"/>
              <a:t>最近読んだ本</a:t>
            </a:r>
            <a:endParaRPr kumimoji="1" lang="ja-JP" altLang="en-US" dirty="0"/>
          </a:p>
        </p:txBody>
      </p:sp>
      <p:pic>
        <p:nvPicPr>
          <p:cNvPr id="4" name="図 3"/>
          <p:cNvPicPr/>
          <p:nvPr/>
        </p:nvPicPr>
        <p:blipFill>
          <a:blip r:embed="rId3" cstate="print">
            <a:extLst>
              <a:ext uri="{28A0092B-C50C-407E-A947-70E740481C1C}">
                <a14:useLocalDpi xmlns:a14="http://schemas.microsoft.com/office/drawing/2010/main" val="0"/>
              </a:ext>
            </a:extLst>
          </a:blip>
          <a:stretch>
            <a:fillRect/>
          </a:stretch>
        </p:blipFill>
        <p:spPr>
          <a:xfrm>
            <a:off x="4365461" y="2348880"/>
            <a:ext cx="4558750" cy="1877611"/>
          </a:xfrm>
          <a:prstGeom prst="rect">
            <a:avLst/>
          </a:prstGeom>
        </p:spPr>
      </p:pic>
      <p:sp>
        <p:nvSpPr>
          <p:cNvPr id="5" name="テキスト ボックス 4"/>
          <p:cNvSpPr txBox="1"/>
          <p:nvPr/>
        </p:nvSpPr>
        <p:spPr>
          <a:xfrm>
            <a:off x="310274" y="2410609"/>
            <a:ext cx="3888432" cy="1815882"/>
          </a:xfrm>
          <a:prstGeom prst="rect">
            <a:avLst/>
          </a:prstGeom>
          <a:noFill/>
        </p:spPr>
        <p:txBody>
          <a:bodyPr wrap="square" rtlCol="0">
            <a:spAutoFit/>
          </a:bodyPr>
          <a:lstStyle/>
          <a:p>
            <a:r>
              <a:rPr kumimoji="1" lang="ja-JP" altLang="en-US" sz="2800" dirty="0" smtClean="0"/>
              <a:t>右図のような検索画面で検索し、登録した本が表示される</a:t>
            </a:r>
            <a:endParaRPr kumimoji="1" lang="en-US" altLang="ja-JP" sz="2800" dirty="0" smtClean="0"/>
          </a:p>
          <a:p>
            <a:endParaRPr kumimoji="1" lang="ja-JP" altLang="en-US" sz="2800" dirty="0"/>
          </a:p>
        </p:txBody>
      </p:sp>
      <p:sp>
        <p:nvSpPr>
          <p:cNvPr id="2" name="テキスト ボックス 1"/>
          <p:cNvSpPr txBox="1"/>
          <p:nvPr/>
        </p:nvSpPr>
        <p:spPr>
          <a:xfrm>
            <a:off x="4499992" y="4437112"/>
            <a:ext cx="4248472" cy="461665"/>
          </a:xfrm>
          <a:prstGeom prst="rect">
            <a:avLst/>
          </a:prstGeom>
          <a:noFill/>
        </p:spPr>
        <p:txBody>
          <a:bodyPr wrap="square" rtlCol="0">
            <a:spAutoFit/>
          </a:bodyPr>
          <a:lstStyle/>
          <a:p>
            <a:pPr algn="ctr"/>
            <a:r>
              <a:rPr kumimoji="1" lang="ja-JP" altLang="en-US" sz="2400" dirty="0" smtClean="0"/>
              <a:t>検索ボックス画面</a:t>
            </a:r>
            <a:endParaRPr kumimoji="1" lang="ja-JP" altLang="en-US" sz="2400" dirty="0"/>
          </a:p>
        </p:txBody>
      </p:sp>
      <p:sp>
        <p:nvSpPr>
          <p:cNvPr id="6" name="角丸四角形吹き出し 5"/>
          <p:cNvSpPr/>
          <p:nvPr/>
        </p:nvSpPr>
        <p:spPr>
          <a:xfrm>
            <a:off x="0" y="1628800"/>
            <a:ext cx="5220072" cy="4920695"/>
          </a:xfrm>
          <a:prstGeom prst="wedgeRoundRectCallout">
            <a:avLst>
              <a:gd name="adj1" fmla="val 60035"/>
              <a:gd name="adj2" fmla="val 3486"/>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8" name="テキスト ボックス 7"/>
          <p:cNvSpPr txBox="1"/>
          <p:nvPr/>
        </p:nvSpPr>
        <p:spPr>
          <a:xfrm>
            <a:off x="467544" y="5445224"/>
            <a:ext cx="4176464" cy="461665"/>
          </a:xfrm>
          <a:prstGeom prst="rect">
            <a:avLst/>
          </a:prstGeom>
          <a:noFill/>
        </p:spPr>
        <p:txBody>
          <a:bodyPr wrap="square" rtlCol="0">
            <a:spAutoFit/>
          </a:bodyPr>
          <a:lstStyle/>
          <a:p>
            <a:r>
              <a:rPr kumimoji="1" lang="ja-JP" altLang="en-US" sz="2400" dirty="0" smtClean="0"/>
              <a:t>登録ボタンで登録完了</a:t>
            </a:r>
            <a:endParaRPr kumimoji="1" lang="ja-JP" altLang="en-US" sz="2400" dirty="0"/>
          </a:p>
        </p:txBody>
      </p:sp>
      <p:pic>
        <p:nvPicPr>
          <p:cNvPr id="9" name="図 8" descr="画面の領域"/>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8481" y="2357556"/>
            <a:ext cx="4810797" cy="2541221"/>
          </a:xfrm>
          <a:prstGeom prst="rect">
            <a:avLst/>
          </a:prstGeom>
        </p:spPr>
      </p:pic>
    </p:spTree>
    <p:extLst>
      <p:ext uri="{BB962C8B-B14F-4D97-AF65-F5344CB8AC3E}">
        <p14:creationId xmlns:p14="http://schemas.microsoft.com/office/powerpoint/2010/main" val="3485834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
                                        </p:tgtEl>
                                      </p:cBhvr>
                                    </p:animEffect>
                                    <p:animScale>
                                      <p:cBhvr>
                                        <p:cTn id="7" dur="250" autoRev="1" fill="hold"/>
                                        <p:tgtEl>
                                          <p:spTgt spid="3"/>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1000"/>
                                        <p:tgtEl>
                                          <p:spTgt spid="5">
                                            <p:txEl>
                                              <p:pRg st="0" end="0"/>
                                            </p:txEl>
                                          </p:spTgt>
                                        </p:tgtEl>
                                      </p:cBhvr>
                                    </p:animEffect>
                                    <p:anim calcmode="lin" valueType="num">
                                      <p:cBhvr>
                                        <p:cTn id="13"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1000"/>
                                        <p:tgtEl>
                                          <p:spTgt spid="2"/>
                                        </p:tgtEl>
                                      </p:cBhvr>
                                    </p:animEffect>
                                    <p:anim calcmode="lin" valueType="num">
                                      <p:cBhvr>
                                        <p:cTn id="27" dur="1000" fill="hold"/>
                                        <p:tgtEl>
                                          <p:spTgt spid="2"/>
                                        </p:tgtEl>
                                        <p:attrNameLst>
                                          <p:attrName>ppt_x</p:attrName>
                                        </p:attrNameLst>
                                      </p:cBhvr>
                                      <p:tavLst>
                                        <p:tav tm="0">
                                          <p:val>
                                            <p:strVal val="#ppt_x"/>
                                          </p:val>
                                        </p:tav>
                                        <p:tav tm="100000">
                                          <p:val>
                                            <p:strVal val="#ppt_x"/>
                                          </p:val>
                                        </p:tav>
                                      </p:tavLst>
                                    </p:anim>
                                    <p:anim calcmode="lin" valueType="num">
                                      <p:cBhvr>
                                        <p:cTn id="28"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1000"/>
                                        <p:tgtEl>
                                          <p:spTgt spid="6"/>
                                        </p:tgtEl>
                                      </p:cBhvr>
                                    </p:animEffect>
                                    <p:anim calcmode="lin" valueType="num">
                                      <p:cBhvr>
                                        <p:cTn id="34" dur="1000" fill="hold"/>
                                        <p:tgtEl>
                                          <p:spTgt spid="6"/>
                                        </p:tgtEl>
                                        <p:attrNameLst>
                                          <p:attrName>ppt_x</p:attrName>
                                        </p:attrNameLst>
                                      </p:cBhvr>
                                      <p:tavLst>
                                        <p:tav tm="0">
                                          <p:val>
                                            <p:strVal val="#ppt_x"/>
                                          </p:val>
                                        </p:tav>
                                        <p:tav tm="100000">
                                          <p:val>
                                            <p:strVal val="#ppt_x"/>
                                          </p:val>
                                        </p:tav>
                                      </p:tavLst>
                                    </p:anim>
                                    <p:anim calcmode="lin" valueType="num">
                                      <p:cBhvr>
                                        <p:cTn id="3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barn(inVertical)">
                                      <p:cBhvr>
                                        <p:cTn id="4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16" presetClass="entr" presetSubtype="21"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barn(inVertical)">
                                      <p:cBhvr>
                                        <p:cTn id="45"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6" grpId="0" animBg="1"/>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a:lstStyle/>
          <a:p>
            <a:r>
              <a:rPr kumimoji="1" lang="ja-JP" altLang="en-US" dirty="0" smtClean="0"/>
              <a:t>オススメの本</a:t>
            </a:r>
            <a:endParaRPr kumimoji="1" lang="ja-JP" altLang="en-US" dirty="0"/>
          </a:p>
        </p:txBody>
      </p:sp>
      <p:pic>
        <p:nvPicPr>
          <p:cNvPr id="4" name="図 3"/>
          <p:cNvPicPr/>
          <p:nvPr/>
        </p:nvPicPr>
        <p:blipFill>
          <a:blip r:embed="rId3" cstate="print">
            <a:extLst>
              <a:ext uri="{28A0092B-C50C-407E-A947-70E740481C1C}">
                <a14:useLocalDpi xmlns:a14="http://schemas.microsoft.com/office/drawing/2010/main" val="0"/>
              </a:ext>
            </a:extLst>
          </a:blip>
          <a:stretch>
            <a:fillRect/>
          </a:stretch>
        </p:blipFill>
        <p:spPr>
          <a:xfrm>
            <a:off x="3923928" y="1916832"/>
            <a:ext cx="4846781" cy="3671912"/>
          </a:xfrm>
          <a:prstGeom prst="rect">
            <a:avLst/>
          </a:prstGeom>
        </p:spPr>
      </p:pic>
      <p:sp>
        <p:nvSpPr>
          <p:cNvPr id="6" name="テキスト ボックス 5"/>
          <p:cNvSpPr txBox="1"/>
          <p:nvPr/>
        </p:nvSpPr>
        <p:spPr>
          <a:xfrm>
            <a:off x="395536" y="2204864"/>
            <a:ext cx="3384376" cy="2677656"/>
          </a:xfrm>
          <a:prstGeom prst="rect">
            <a:avLst/>
          </a:prstGeom>
          <a:noFill/>
        </p:spPr>
        <p:txBody>
          <a:bodyPr wrap="square" rtlCol="0">
            <a:spAutoFit/>
          </a:bodyPr>
          <a:lstStyle/>
          <a:p>
            <a:r>
              <a:rPr kumimoji="1" lang="ja-JP" altLang="en-US" sz="2800" dirty="0" smtClean="0"/>
              <a:t>右図のようなタブパネルで切り替えられるものにする</a:t>
            </a:r>
            <a:endParaRPr kumimoji="1" lang="en-US" altLang="ja-JP" sz="2800" dirty="0" smtClean="0"/>
          </a:p>
          <a:p>
            <a:endParaRPr lang="en-US" altLang="ja-JP" sz="2800" dirty="0"/>
          </a:p>
          <a:p>
            <a:r>
              <a:rPr kumimoji="1" lang="ja-JP" altLang="en-US" sz="2800" dirty="0" smtClean="0"/>
              <a:t>オススメの本は</a:t>
            </a:r>
            <a:r>
              <a:rPr kumimoji="1" lang="en-US" altLang="ja-JP" sz="2800" dirty="0" smtClean="0"/>
              <a:t>5</a:t>
            </a:r>
            <a:r>
              <a:rPr kumimoji="1" lang="ja-JP" altLang="en-US" sz="2800" dirty="0" smtClean="0"/>
              <a:t>冊表示</a:t>
            </a:r>
            <a:endParaRPr kumimoji="1" lang="ja-JP" altLang="en-US" sz="2800" dirty="0"/>
          </a:p>
        </p:txBody>
      </p:sp>
      <p:sp>
        <p:nvSpPr>
          <p:cNvPr id="2" name="テキスト ボックス 1"/>
          <p:cNvSpPr txBox="1"/>
          <p:nvPr/>
        </p:nvSpPr>
        <p:spPr>
          <a:xfrm>
            <a:off x="5283565" y="5757654"/>
            <a:ext cx="2127505" cy="369332"/>
          </a:xfrm>
          <a:prstGeom prst="rect">
            <a:avLst/>
          </a:prstGeom>
          <a:noFill/>
        </p:spPr>
        <p:txBody>
          <a:bodyPr wrap="none" rtlCol="0">
            <a:spAutoFit/>
          </a:bodyPr>
          <a:lstStyle/>
          <a:p>
            <a:r>
              <a:rPr kumimoji="1" lang="ja-JP" altLang="en-US" dirty="0" smtClean="0"/>
              <a:t>オススメの本イメージ</a:t>
            </a:r>
            <a:endParaRPr kumimoji="1" lang="ja-JP" altLang="en-US" dirty="0"/>
          </a:p>
        </p:txBody>
      </p:sp>
      <p:sp>
        <p:nvSpPr>
          <p:cNvPr id="5" name="角丸四角形吹き出し 4"/>
          <p:cNvSpPr/>
          <p:nvPr/>
        </p:nvSpPr>
        <p:spPr>
          <a:xfrm>
            <a:off x="542679" y="1844824"/>
            <a:ext cx="4392488" cy="3912830"/>
          </a:xfrm>
          <a:prstGeom prst="wedgeRoundRectCallout">
            <a:avLst>
              <a:gd name="adj1" fmla="val 41930"/>
              <a:gd name="adj2" fmla="val 6894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pic>
        <p:nvPicPr>
          <p:cNvPr id="8" name="図 7" descr="画面の領域"/>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9407" y="2780928"/>
            <a:ext cx="3539031" cy="2841381"/>
          </a:xfrm>
          <a:prstGeom prst="rect">
            <a:avLst/>
          </a:prstGeom>
        </p:spPr>
      </p:pic>
      <p:sp>
        <p:nvSpPr>
          <p:cNvPr id="9" name="テキスト ボックス 8"/>
          <p:cNvSpPr txBox="1"/>
          <p:nvPr/>
        </p:nvSpPr>
        <p:spPr>
          <a:xfrm>
            <a:off x="1262902" y="1974031"/>
            <a:ext cx="3242553" cy="461665"/>
          </a:xfrm>
          <a:prstGeom prst="rect">
            <a:avLst/>
          </a:prstGeom>
          <a:noFill/>
        </p:spPr>
        <p:txBody>
          <a:bodyPr wrap="square" rtlCol="0">
            <a:spAutoFit/>
          </a:bodyPr>
          <a:lstStyle/>
          <a:p>
            <a:r>
              <a:rPr kumimoji="1" lang="ja-JP" altLang="en-US" sz="2400" dirty="0" smtClean="0"/>
              <a:t>切り替えると</a:t>
            </a:r>
            <a:r>
              <a:rPr lang="en-US" altLang="ja-JP" sz="2400" dirty="0" smtClean="0"/>
              <a:t>….</a:t>
            </a:r>
            <a:endParaRPr kumimoji="1" lang="ja-JP" altLang="en-US" sz="2400" dirty="0"/>
          </a:p>
        </p:txBody>
      </p:sp>
    </p:spTree>
    <p:extLst>
      <p:ext uri="{BB962C8B-B14F-4D97-AF65-F5344CB8AC3E}">
        <p14:creationId xmlns:p14="http://schemas.microsoft.com/office/powerpoint/2010/main" val="3791430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2" end="2"/>
                                            </p:txEl>
                                          </p:spTgt>
                                        </p:tgtEl>
                                        <p:attrNameLst>
                                          <p:attrName>style.visibility</p:attrName>
                                        </p:attrNameLst>
                                      </p:cBhvr>
                                      <p:to>
                                        <p:strVal val="visible"/>
                                      </p:to>
                                    </p:set>
                                    <p:animEffect transition="in" filter="fade">
                                      <p:cBhvr>
                                        <p:cTn id="14" dur="1000"/>
                                        <p:tgtEl>
                                          <p:spTgt spid="6">
                                            <p:txEl>
                                              <p:pRg st="2" end="2"/>
                                            </p:txEl>
                                          </p:spTgt>
                                        </p:tgtEl>
                                      </p:cBhvr>
                                    </p:animEffect>
                                    <p:anim calcmode="lin" valueType="num">
                                      <p:cBhvr>
                                        <p:cTn id="15"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1000"/>
                                        <p:tgtEl>
                                          <p:spTgt spid="2"/>
                                        </p:tgtEl>
                                      </p:cBhvr>
                                    </p:animEffect>
                                    <p:anim calcmode="lin" valueType="num">
                                      <p:cBhvr>
                                        <p:cTn id="29" dur="1000" fill="hold"/>
                                        <p:tgtEl>
                                          <p:spTgt spid="2"/>
                                        </p:tgtEl>
                                        <p:attrNameLst>
                                          <p:attrName>ppt_x</p:attrName>
                                        </p:attrNameLst>
                                      </p:cBhvr>
                                      <p:tavLst>
                                        <p:tav tm="0">
                                          <p:val>
                                            <p:strVal val="#ppt_x"/>
                                          </p:val>
                                        </p:tav>
                                        <p:tav tm="100000">
                                          <p:val>
                                            <p:strVal val="#ppt_x"/>
                                          </p:val>
                                        </p:tav>
                                      </p:tavLst>
                                    </p:anim>
                                    <p:anim calcmode="lin" valueType="num">
                                      <p:cBhvr>
                                        <p:cTn id="3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1000"/>
                                        <p:tgtEl>
                                          <p:spTgt spid="5"/>
                                        </p:tgtEl>
                                      </p:cBhvr>
                                    </p:animEffect>
                                    <p:anim calcmode="lin" valueType="num">
                                      <p:cBhvr>
                                        <p:cTn id="36" dur="1000" fill="hold"/>
                                        <p:tgtEl>
                                          <p:spTgt spid="5"/>
                                        </p:tgtEl>
                                        <p:attrNameLst>
                                          <p:attrName>ppt_x</p:attrName>
                                        </p:attrNameLst>
                                      </p:cBhvr>
                                      <p:tavLst>
                                        <p:tav tm="0">
                                          <p:val>
                                            <p:strVal val="#ppt_x"/>
                                          </p:val>
                                        </p:tav>
                                        <p:tav tm="100000">
                                          <p:val>
                                            <p:strVal val="#ppt_x"/>
                                          </p:val>
                                        </p:tav>
                                      </p:tavLst>
                                    </p:anim>
                                    <p:anim calcmode="lin" valueType="num">
                                      <p:cBhvr>
                                        <p:cTn id="3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barn(inVertical)">
                                      <p:cBhvr>
                                        <p:cTn id="42" dur="10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barn(inVertical)">
                                      <p:cBhvr>
                                        <p:cTn id="4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a:lstStyle/>
          <a:p>
            <a:r>
              <a:rPr kumimoji="1" lang="ja-JP" altLang="en-US" dirty="0" smtClean="0"/>
              <a:t>新刊情報</a:t>
            </a:r>
            <a:endParaRPr kumimoji="1" lang="ja-JP" altLang="en-US" dirty="0"/>
          </a:p>
        </p:txBody>
      </p:sp>
      <p:sp>
        <p:nvSpPr>
          <p:cNvPr id="6" name="テキスト ボックス 5"/>
          <p:cNvSpPr txBox="1"/>
          <p:nvPr/>
        </p:nvSpPr>
        <p:spPr>
          <a:xfrm>
            <a:off x="611560" y="1916832"/>
            <a:ext cx="7632848" cy="3477875"/>
          </a:xfrm>
          <a:prstGeom prst="rect">
            <a:avLst/>
          </a:prstGeom>
          <a:noFill/>
        </p:spPr>
        <p:txBody>
          <a:bodyPr wrap="square" rtlCol="0">
            <a:spAutoFit/>
          </a:bodyPr>
          <a:lstStyle/>
          <a:p>
            <a:r>
              <a:rPr kumimoji="1" lang="ja-JP" altLang="en-US" sz="2800" dirty="0" smtClean="0"/>
              <a:t>●本棚の今まで読んだ本の新刊情報を提示</a:t>
            </a:r>
            <a:endParaRPr kumimoji="1" lang="en-US" altLang="ja-JP" sz="2800" dirty="0" smtClean="0"/>
          </a:p>
          <a:p>
            <a:endParaRPr kumimoji="1" lang="en-US" altLang="ja-JP" sz="2800" dirty="0" smtClean="0"/>
          </a:p>
          <a:p>
            <a:r>
              <a:rPr lang="ja-JP" altLang="en-US" sz="2800" dirty="0" smtClean="0"/>
              <a:t>●全て・もうすぐ発売・発売済みの３つの項目で</a:t>
            </a:r>
            <a:endParaRPr lang="en-US" altLang="ja-JP" sz="2800" dirty="0" smtClean="0"/>
          </a:p>
          <a:p>
            <a:r>
              <a:rPr kumimoji="1" lang="ja-JP" altLang="en-US" sz="2800" dirty="0"/>
              <a:t>　</a:t>
            </a:r>
            <a:r>
              <a:rPr kumimoji="1" lang="ja-JP" altLang="en-US" sz="2800" dirty="0" smtClean="0"/>
              <a:t>　分ける</a:t>
            </a:r>
            <a:endParaRPr kumimoji="1" lang="en-US" altLang="ja-JP" sz="2800" dirty="0" smtClean="0"/>
          </a:p>
          <a:p>
            <a:endParaRPr lang="en-US" altLang="ja-JP" sz="2800" dirty="0"/>
          </a:p>
          <a:p>
            <a:r>
              <a:rPr kumimoji="1" lang="ja-JP" altLang="en-US" sz="2800" dirty="0" smtClean="0"/>
              <a:t>●読書カレンダーのページに作成</a:t>
            </a:r>
            <a:endParaRPr kumimoji="1" lang="en-US" altLang="ja-JP" sz="2800" dirty="0" smtClean="0"/>
          </a:p>
          <a:p>
            <a:endParaRPr kumimoji="1" lang="en-US" altLang="ja-JP" sz="2800" dirty="0" smtClean="0"/>
          </a:p>
          <a:p>
            <a:endParaRPr lang="en-US" altLang="ja-JP" sz="2400" dirty="0"/>
          </a:p>
        </p:txBody>
      </p:sp>
    </p:spTree>
    <p:extLst>
      <p:ext uri="{BB962C8B-B14F-4D97-AF65-F5344CB8AC3E}">
        <p14:creationId xmlns:p14="http://schemas.microsoft.com/office/powerpoint/2010/main" val="3761452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2" end="2"/>
                                            </p:txEl>
                                          </p:spTgt>
                                        </p:tgtEl>
                                        <p:attrNameLst>
                                          <p:attrName>style.visibility</p:attrName>
                                        </p:attrNameLst>
                                      </p:cBhvr>
                                      <p:to>
                                        <p:strVal val="visible"/>
                                      </p:to>
                                    </p:set>
                                    <p:animEffect transition="in" filter="fade">
                                      <p:cBhvr>
                                        <p:cTn id="14" dur="1000"/>
                                        <p:tgtEl>
                                          <p:spTgt spid="6">
                                            <p:txEl>
                                              <p:pRg st="2" end="2"/>
                                            </p:txEl>
                                          </p:spTgt>
                                        </p:tgtEl>
                                      </p:cBhvr>
                                    </p:animEffect>
                                    <p:anim calcmode="lin" valueType="num">
                                      <p:cBhvr>
                                        <p:cTn id="15"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fade">
                                      <p:cBhvr>
                                        <p:cTn id="19" dur="1000"/>
                                        <p:tgtEl>
                                          <p:spTgt spid="6">
                                            <p:txEl>
                                              <p:pRg st="3" end="3"/>
                                            </p:txEl>
                                          </p:spTgt>
                                        </p:tgtEl>
                                      </p:cBhvr>
                                    </p:animEffect>
                                    <p:anim calcmode="lin" valueType="num">
                                      <p:cBhvr>
                                        <p:cTn id="20"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6">
                                            <p:txEl>
                                              <p:pRg st="5" end="5"/>
                                            </p:txEl>
                                          </p:spTgt>
                                        </p:tgtEl>
                                        <p:attrNameLst>
                                          <p:attrName>style.visibility</p:attrName>
                                        </p:attrNameLst>
                                      </p:cBhvr>
                                      <p:to>
                                        <p:strVal val="visible"/>
                                      </p:to>
                                    </p:set>
                                    <p:animEffect transition="in" filter="fade">
                                      <p:cBhvr>
                                        <p:cTn id="26" dur="1000"/>
                                        <p:tgtEl>
                                          <p:spTgt spid="6">
                                            <p:txEl>
                                              <p:pRg st="5" end="5"/>
                                            </p:txEl>
                                          </p:spTgt>
                                        </p:tgtEl>
                                      </p:cBhvr>
                                    </p:animEffect>
                                    <p:anim calcmode="lin" valueType="num">
                                      <p:cBhvr>
                                        <p:cTn id="27"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a:lstStyle/>
          <a:p>
            <a:r>
              <a:rPr kumimoji="1" lang="ja-JP" altLang="en-US" dirty="0" smtClean="0"/>
              <a:t>読書カレンダー</a:t>
            </a:r>
            <a:endParaRPr kumimoji="1" lang="ja-JP" altLang="en-US" dirty="0"/>
          </a:p>
        </p:txBody>
      </p:sp>
      <p:pic>
        <p:nvPicPr>
          <p:cNvPr id="4" name="図 3"/>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3707904" y="1972495"/>
            <a:ext cx="5062805" cy="3715916"/>
          </a:xfrm>
          <a:prstGeom prst="rect">
            <a:avLst/>
          </a:prstGeom>
        </p:spPr>
      </p:pic>
      <p:sp>
        <p:nvSpPr>
          <p:cNvPr id="5" name="テキスト ボックス 4"/>
          <p:cNvSpPr txBox="1"/>
          <p:nvPr/>
        </p:nvSpPr>
        <p:spPr>
          <a:xfrm>
            <a:off x="323528" y="2707068"/>
            <a:ext cx="3240360" cy="2246769"/>
          </a:xfrm>
          <a:prstGeom prst="rect">
            <a:avLst/>
          </a:prstGeom>
          <a:noFill/>
        </p:spPr>
        <p:txBody>
          <a:bodyPr wrap="square" rtlCol="0">
            <a:spAutoFit/>
          </a:bodyPr>
          <a:lstStyle/>
          <a:p>
            <a:r>
              <a:rPr kumimoji="1" lang="ja-JP" altLang="en-US" sz="2800" dirty="0" smtClean="0"/>
              <a:t>新刊の情報、本を読んだ日にちを記録するカレンダー</a:t>
            </a:r>
            <a:endParaRPr kumimoji="1" lang="en-US" altLang="ja-JP" sz="2800" dirty="0" smtClean="0"/>
          </a:p>
          <a:p>
            <a:endParaRPr lang="en-US" altLang="ja-JP" sz="2800" dirty="0"/>
          </a:p>
          <a:p>
            <a:endParaRPr kumimoji="1" lang="ja-JP" altLang="en-US" sz="2800" dirty="0"/>
          </a:p>
        </p:txBody>
      </p:sp>
      <p:sp>
        <p:nvSpPr>
          <p:cNvPr id="6" name="テキスト ボックス 5"/>
          <p:cNvSpPr txBox="1"/>
          <p:nvPr/>
        </p:nvSpPr>
        <p:spPr>
          <a:xfrm>
            <a:off x="4716016" y="6021288"/>
            <a:ext cx="3096344" cy="461665"/>
          </a:xfrm>
          <a:prstGeom prst="rect">
            <a:avLst/>
          </a:prstGeom>
          <a:noFill/>
        </p:spPr>
        <p:txBody>
          <a:bodyPr wrap="square" rtlCol="0">
            <a:spAutoFit/>
          </a:bodyPr>
          <a:lstStyle/>
          <a:p>
            <a:pPr algn="ctr"/>
            <a:r>
              <a:rPr kumimoji="1" lang="ja-JP" altLang="en-US" sz="2400" dirty="0" smtClean="0"/>
              <a:t>カレンダーイメージ</a:t>
            </a:r>
            <a:endParaRPr kumimoji="1" lang="ja-JP" altLang="en-US" sz="2400" dirty="0"/>
          </a:p>
        </p:txBody>
      </p:sp>
    </p:spTree>
    <p:extLst>
      <p:ext uri="{BB962C8B-B14F-4D97-AF65-F5344CB8AC3E}">
        <p14:creationId xmlns:p14="http://schemas.microsoft.com/office/powerpoint/2010/main" val="1201655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
                                        </p:tgtEl>
                                      </p:cBhvr>
                                    </p:animEffect>
                                    <p:animScale>
                                      <p:cBhvr>
                                        <p:cTn id="7" dur="250" autoRev="1" fill="hold"/>
                                        <p:tgtEl>
                                          <p:spTgt spid="3"/>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anim calcmode="lin" valueType="num">
                                      <p:cBhvr>
                                        <p:cTn id="27" dur="1000" fill="hold"/>
                                        <p:tgtEl>
                                          <p:spTgt spid="6"/>
                                        </p:tgtEl>
                                        <p:attrNameLst>
                                          <p:attrName>ppt_x</p:attrName>
                                        </p:attrNameLst>
                                      </p:cBhvr>
                                      <p:tavLst>
                                        <p:tav tm="0">
                                          <p:val>
                                            <p:strVal val="#ppt_x"/>
                                          </p:val>
                                        </p:tav>
                                        <p:tav tm="100000">
                                          <p:val>
                                            <p:strVal val="#ppt_x"/>
                                          </p:val>
                                        </p:tav>
                                      </p:tavLst>
                                    </p:anim>
                                    <p:anim calcmode="lin" valueType="num">
                                      <p:cBhvr>
                                        <p:cTn id="2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a:lstStyle/>
          <a:p>
            <a:r>
              <a:rPr kumimoji="1" lang="ja-JP" altLang="en-US" dirty="0" smtClean="0"/>
              <a:t>本棚</a:t>
            </a:r>
            <a:endParaRPr kumimoji="1" lang="ja-JP" altLang="en-US" dirty="0"/>
          </a:p>
        </p:txBody>
      </p:sp>
      <p:pic>
        <p:nvPicPr>
          <p:cNvPr id="4" name="図 3"/>
          <p:cNvPicPr/>
          <p:nvPr/>
        </p:nvPicPr>
        <p:blipFill>
          <a:blip r:embed="rId3">
            <a:extLst>
              <a:ext uri="{28A0092B-C50C-407E-A947-70E740481C1C}">
                <a14:useLocalDpi xmlns:a14="http://schemas.microsoft.com/office/drawing/2010/main" val="0"/>
              </a:ext>
            </a:extLst>
          </a:blip>
          <a:stretch>
            <a:fillRect/>
          </a:stretch>
        </p:blipFill>
        <p:spPr>
          <a:xfrm>
            <a:off x="3419872" y="1988840"/>
            <a:ext cx="5472608" cy="3768244"/>
          </a:xfrm>
          <a:prstGeom prst="rect">
            <a:avLst/>
          </a:prstGeom>
        </p:spPr>
      </p:pic>
      <p:sp>
        <p:nvSpPr>
          <p:cNvPr id="5" name="テキスト ボックス 4"/>
          <p:cNvSpPr txBox="1"/>
          <p:nvPr/>
        </p:nvSpPr>
        <p:spPr>
          <a:xfrm>
            <a:off x="5463518" y="5777126"/>
            <a:ext cx="1786066" cy="461665"/>
          </a:xfrm>
          <a:prstGeom prst="rect">
            <a:avLst/>
          </a:prstGeom>
          <a:noFill/>
        </p:spPr>
        <p:txBody>
          <a:bodyPr wrap="none" rtlCol="0">
            <a:spAutoFit/>
          </a:bodyPr>
          <a:lstStyle/>
          <a:p>
            <a:r>
              <a:rPr kumimoji="1" lang="ja-JP" altLang="en-US" sz="2400" dirty="0" smtClean="0"/>
              <a:t>本棚イメージ</a:t>
            </a:r>
            <a:endParaRPr kumimoji="1" lang="ja-JP" altLang="en-US" sz="2400" dirty="0"/>
          </a:p>
        </p:txBody>
      </p:sp>
      <p:sp>
        <p:nvSpPr>
          <p:cNvPr id="6" name="テキスト ボックス 5"/>
          <p:cNvSpPr txBox="1"/>
          <p:nvPr/>
        </p:nvSpPr>
        <p:spPr>
          <a:xfrm>
            <a:off x="323528" y="2132856"/>
            <a:ext cx="3384376" cy="2246769"/>
          </a:xfrm>
          <a:prstGeom prst="rect">
            <a:avLst/>
          </a:prstGeom>
          <a:noFill/>
        </p:spPr>
        <p:txBody>
          <a:bodyPr wrap="square" rtlCol="0">
            <a:spAutoFit/>
          </a:bodyPr>
          <a:lstStyle/>
          <a:p>
            <a:r>
              <a:rPr kumimoji="1" lang="ja-JP" altLang="en-US" sz="2800" dirty="0" smtClean="0"/>
              <a:t>今まで読んだ本を登録し保存しておく機能</a:t>
            </a:r>
            <a:endParaRPr kumimoji="1" lang="en-US" altLang="ja-JP" sz="2800" dirty="0" smtClean="0"/>
          </a:p>
          <a:p>
            <a:endParaRPr lang="en-US" altLang="ja-JP" sz="2800" dirty="0"/>
          </a:p>
          <a:p>
            <a:r>
              <a:rPr kumimoji="1" lang="en-US" altLang="ja-JP" sz="2800" dirty="0" smtClean="0"/>
              <a:t>10</a:t>
            </a:r>
            <a:r>
              <a:rPr kumimoji="1" lang="ja-JP" altLang="en-US" sz="2800" dirty="0" smtClean="0"/>
              <a:t>件ずつ表示</a:t>
            </a:r>
            <a:endParaRPr kumimoji="1" lang="ja-JP" altLang="en-US" sz="2800" dirty="0"/>
          </a:p>
        </p:txBody>
      </p:sp>
    </p:spTree>
    <p:extLst>
      <p:ext uri="{BB962C8B-B14F-4D97-AF65-F5344CB8AC3E}">
        <p14:creationId xmlns:p14="http://schemas.microsoft.com/office/powerpoint/2010/main" val="4092813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
                                        </p:tgtEl>
                                      </p:cBhvr>
                                    </p:animEffect>
                                    <p:animScale>
                                      <p:cBhvr>
                                        <p:cTn id="7" dur="250" autoRev="1" fill="hold"/>
                                        <p:tgtEl>
                                          <p:spTgt spid="3"/>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anim calcmode="lin" valueType="num">
                                      <p:cBhvr>
                                        <p:cTn id="13"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Effect transition="in" filter="fade">
                                      <p:cBhvr>
                                        <p:cTn id="19" dur="1000"/>
                                        <p:tgtEl>
                                          <p:spTgt spid="6">
                                            <p:txEl>
                                              <p:pRg st="2" end="2"/>
                                            </p:txEl>
                                          </p:spTgt>
                                        </p:tgtEl>
                                      </p:cBhvr>
                                    </p:animEffect>
                                    <p:anim calcmode="lin" valueType="num">
                                      <p:cBhvr>
                                        <p:cTn id="20"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1000"/>
                                        <p:tgtEl>
                                          <p:spTgt spid="4"/>
                                        </p:tgtEl>
                                      </p:cBhvr>
                                    </p:animEffect>
                                    <p:anim calcmode="lin" valueType="num">
                                      <p:cBhvr>
                                        <p:cTn id="27" dur="1000" fill="hold"/>
                                        <p:tgtEl>
                                          <p:spTgt spid="4"/>
                                        </p:tgtEl>
                                        <p:attrNameLst>
                                          <p:attrName>ppt_x</p:attrName>
                                        </p:attrNameLst>
                                      </p:cBhvr>
                                      <p:tavLst>
                                        <p:tav tm="0">
                                          <p:val>
                                            <p:strVal val="#ppt_x"/>
                                          </p:val>
                                        </p:tav>
                                        <p:tav tm="100000">
                                          <p:val>
                                            <p:strVal val="#ppt_x"/>
                                          </p:val>
                                        </p:tav>
                                      </p:tavLst>
                                    </p:anim>
                                    <p:anim calcmode="lin" valueType="num">
                                      <p:cBhvr>
                                        <p:cTn id="2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1000"/>
                                        <p:tgtEl>
                                          <p:spTgt spid="5"/>
                                        </p:tgtEl>
                                      </p:cBhvr>
                                    </p:animEffect>
                                    <p:anim calcmode="lin" valueType="num">
                                      <p:cBhvr>
                                        <p:cTn id="34" dur="1000" fill="hold"/>
                                        <p:tgtEl>
                                          <p:spTgt spid="5"/>
                                        </p:tgtEl>
                                        <p:attrNameLst>
                                          <p:attrName>ppt_x</p:attrName>
                                        </p:attrNameLst>
                                      </p:cBhvr>
                                      <p:tavLst>
                                        <p:tav tm="0">
                                          <p:val>
                                            <p:strVal val="#ppt_x"/>
                                          </p:val>
                                        </p:tav>
                                        <p:tav tm="100000">
                                          <p:val>
                                            <p:strVal val="#ppt_x"/>
                                          </p:val>
                                        </p:tav>
                                      </p:tavLst>
                                    </p:anim>
                                    <p:anim calcmode="lin" valueType="num">
                                      <p:cBhvr>
                                        <p:cTn id="3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p:cNvSpPr>
            <a:spLocks noGrp="1"/>
          </p:cNvSpPr>
          <p:nvPr>
            <p:ph idx="1"/>
          </p:nvPr>
        </p:nvSpPr>
        <p:spPr/>
        <p:txBody>
          <a:bodyPr/>
          <a:lstStyle/>
          <a:p>
            <a:r>
              <a:rPr kumimoji="1" lang="ja-JP" altLang="en-US" sz="2800" dirty="0" smtClean="0"/>
              <a:t>管理者機能</a:t>
            </a:r>
            <a:endParaRPr kumimoji="1" lang="en-US" altLang="ja-JP" sz="2800" dirty="0" smtClean="0"/>
          </a:p>
          <a:p>
            <a:pPr marL="0" indent="0">
              <a:buNone/>
            </a:pPr>
            <a:r>
              <a:rPr lang="ja-JP" altLang="en-US" sz="2800" dirty="0"/>
              <a:t>　</a:t>
            </a:r>
            <a:r>
              <a:rPr lang="ja-JP" altLang="en-US" dirty="0" smtClean="0"/>
              <a:t>ユーザ管理、ユーザが検索したい本の情報を提供</a:t>
            </a:r>
            <a:endParaRPr kumimoji="1" lang="en-US" altLang="ja-JP" sz="2800" dirty="0" smtClean="0"/>
          </a:p>
          <a:p>
            <a:r>
              <a:rPr kumimoji="1" lang="ja-JP" altLang="en-US" sz="2800" dirty="0" smtClean="0"/>
              <a:t>その他</a:t>
            </a:r>
            <a:endParaRPr kumimoji="1" lang="en-US" altLang="ja-JP" sz="2800" dirty="0" smtClean="0"/>
          </a:p>
          <a:p>
            <a:pPr marL="0" indent="0">
              <a:buNone/>
            </a:pPr>
            <a:r>
              <a:rPr lang="ja-JP" altLang="en-US" sz="2800" dirty="0" smtClean="0"/>
              <a:t>　ロゴ画像</a:t>
            </a:r>
            <a:endParaRPr lang="en-US" altLang="ja-JP" sz="2800" dirty="0" smtClean="0"/>
          </a:p>
          <a:p>
            <a:pPr marL="0" indent="0">
              <a:buNone/>
            </a:pPr>
            <a:endParaRPr kumimoji="1" lang="ja-JP" altLang="en-US" sz="2800" dirty="0"/>
          </a:p>
        </p:txBody>
      </p:sp>
      <p:sp>
        <p:nvSpPr>
          <p:cNvPr id="3" name="タイトル 2"/>
          <p:cNvSpPr>
            <a:spLocks noGrp="1"/>
          </p:cNvSpPr>
          <p:nvPr>
            <p:ph type="title"/>
          </p:nvPr>
        </p:nvSpPr>
        <p:spPr/>
        <p:txBody>
          <a:bodyPr/>
          <a:lstStyle/>
          <a:p>
            <a:r>
              <a:rPr kumimoji="1" lang="ja-JP" altLang="en-US" dirty="0" smtClean="0"/>
              <a:t>管理者機能・その他</a:t>
            </a:r>
            <a:endParaRPr kumimoji="1" lang="ja-JP" altLang="en-US" dirty="0"/>
          </a:p>
        </p:txBody>
      </p:sp>
      <p:pic>
        <p:nvPicPr>
          <p:cNvPr id="4" name="図 3"/>
          <p:cNvPicPr/>
          <p:nvPr/>
        </p:nvPicPr>
        <p:blipFill>
          <a:blip r:embed="rId3" cstate="print">
            <a:extLst>
              <a:ext uri="{28A0092B-C50C-407E-A947-70E740481C1C}">
                <a14:useLocalDpi xmlns:a14="http://schemas.microsoft.com/office/drawing/2010/main" val="0"/>
              </a:ext>
            </a:extLst>
          </a:blip>
          <a:stretch>
            <a:fillRect/>
          </a:stretch>
        </p:blipFill>
        <p:spPr>
          <a:xfrm>
            <a:off x="1187624" y="4797152"/>
            <a:ext cx="5112568" cy="1158875"/>
          </a:xfrm>
          <a:prstGeom prst="rect">
            <a:avLst/>
          </a:prstGeom>
        </p:spPr>
      </p:pic>
    </p:spTree>
    <p:extLst>
      <p:ext uri="{BB962C8B-B14F-4D97-AF65-F5344CB8AC3E}">
        <p14:creationId xmlns:p14="http://schemas.microsoft.com/office/powerpoint/2010/main" val="1432049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
                                        </p:tgtEl>
                                      </p:cBhvr>
                                    </p:animEffect>
                                    <p:animScale>
                                      <p:cBhvr>
                                        <p:cTn id="7" dur="250" autoRev="1" fill="hold"/>
                                        <p:tgtEl>
                                          <p:spTgt spid="3"/>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fade">
                                      <p:cBhvr>
                                        <p:cTn id="12" dur="1000"/>
                                        <p:tgtEl>
                                          <p:spTgt spid="2">
                                            <p:txEl>
                                              <p:pRg st="0" end="0"/>
                                            </p:txEl>
                                          </p:spTgt>
                                        </p:tgtEl>
                                      </p:cBhvr>
                                    </p:animEffect>
                                    <p:anim calcmode="lin" valueType="num">
                                      <p:cBhvr>
                                        <p:cTn id="13"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Effect transition="in" filter="fade">
                                      <p:cBhvr>
                                        <p:cTn id="19" dur="1000"/>
                                        <p:tgtEl>
                                          <p:spTgt spid="2">
                                            <p:txEl>
                                              <p:pRg st="1" end="1"/>
                                            </p:txEl>
                                          </p:spTgt>
                                        </p:tgtEl>
                                      </p:cBhvr>
                                    </p:animEffect>
                                    <p:anim calcmode="lin" valueType="num">
                                      <p:cBhvr>
                                        <p:cTn id="20"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2">
                                            <p:txEl>
                                              <p:pRg st="2" end="2"/>
                                            </p:txEl>
                                          </p:spTgt>
                                        </p:tgtEl>
                                        <p:attrNameLst>
                                          <p:attrName>style.visibility</p:attrName>
                                        </p:attrNameLst>
                                      </p:cBhvr>
                                      <p:to>
                                        <p:strVal val="visible"/>
                                      </p:to>
                                    </p:set>
                                    <p:animEffect transition="in" filter="fade">
                                      <p:cBhvr>
                                        <p:cTn id="26" dur="1000"/>
                                        <p:tgtEl>
                                          <p:spTgt spid="2">
                                            <p:txEl>
                                              <p:pRg st="2" end="2"/>
                                            </p:txEl>
                                          </p:spTgt>
                                        </p:tgtEl>
                                      </p:cBhvr>
                                    </p:animEffect>
                                    <p:anim calcmode="lin" valueType="num">
                                      <p:cBhvr>
                                        <p:cTn id="27"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2">
                                            <p:txEl>
                                              <p:pRg st="3" end="3"/>
                                            </p:txEl>
                                          </p:spTgt>
                                        </p:tgtEl>
                                        <p:attrNameLst>
                                          <p:attrName>style.visibility</p:attrName>
                                        </p:attrNameLst>
                                      </p:cBhvr>
                                      <p:to>
                                        <p:strVal val="visible"/>
                                      </p:to>
                                    </p:set>
                                    <p:animEffect transition="in" filter="fade">
                                      <p:cBhvr>
                                        <p:cTn id="33" dur="1000"/>
                                        <p:tgtEl>
                                          <p:spTgt spid="2">
                                            <p:txEl>
                                              <p:pRg st="3" end="3"/>
                                            </p:txEl>
                                          </p:spTgt>
                                        </p:tgtEl>
                                      </p:cBhvr>
                                    </p:animEffect>
                                    <p:anim calcmode="lin" valueType="num">
                                      <p:cBhvr>
                                        <p:cTn id="34"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nodeType="click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barn(inVertical)">
                                      <p:cBhvr>
                                        <p:cTn id="4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a:lstStyle/>
          <a:p>
            <a:r>
              <a:rPr kumimoji="1" lang="ja-JP" altLang="en-US" dirty="0" smtClean="0"/>
              <a:t>データベース</a:t>
            </a:r>
            <a:endParaRPr kumimoji="1" lang="ja-JP" altLang="en-US" dirty="0"/>
          </a:p>
        </p:txBody>
      </p:sp>
      <p:graphicFrame>
        <p:nvGraphicFramePr>
          <p:cNvPr id="4" name="表 3"/>
          <p:cNvGraphicFramePr>
            <a:graphicFrameLocks noGrp="1"/>
          </p:cNvGraphicFramePr>
          <p:nvPr>
            <p:extLst>
              <p:ext uri="{D42A27DB-BD31-4B8C-83A1-F6EECF244321}">
                <p14:modId xmlns:p14="http://schemas.microsoft.com/office/powerpoint/2010/main" val="3496273316"/>
              </p:ext>
            </p:extLst>
          </p:nvPr>
        </p:nvGraphicFramePr>
        <p:xfrm>
          <a:off x="827584" y="2492896"/>
          <a:ext cx="3456384" cy="1584174"/>
        </p:xfrm>
        <a:graphic>
          <a:graphicData uri="http://schemas.openxmlformats.org/drawingml/2006/table">
            <a:tbl>
              <a:tblPr firstRow="1" firstCol="1" bandRow="1">
                <a:tableStyleId>{5C22544A-7EE6-4342-B048-85BDC9FD1C3A}</a:tableStyleId>
              </a:tblPr>
              <a:tblGrid>
                <a:gridCol w="1728192"/>
                <a:gridCol w="1728192"/>
              </a:tblGrid>
              <a:tr h="264029">
                <a:tc>
                  <a:txBody>
                    <a:bodyPr/>
                    <a:lstStyle/>
                    <a:p>
                      <a:pPr algn="l">
                        <a:spcAft>
                          <a:spcPts val="0"/>
                        </a:spcAft>
                      </a:pPr>
                      <a:r>
                        <a:rPr lang="ja-JP" sz="1050" kern="100" dirty="0">
                          <a:effectLst/>
                        </a:rPr>
                        <a:t>フィールド名</a:t>
                      </a:r>
                      <a:endParaRPr lang="ja-JP" sz="1050" kern="100" dirty="0">
                        <a:effectLst/>
                        <a:latin typeface="Courier New"/>
                        <a:ea typeface="ＭＳ 明朝"/>
                        <a:cs typeface="Times New Roman"/>
                      </a:endParaRPr>
                    </a:p>
                  </a:txBody>
                  <a:tcPr marL="68580" marR="68580" marT="0" marB="0"/>
                </a:tc>
                <a:tc>
                  <a:txBody>
                    <a:bodyPr/>
                    <a:lstStyle/>
                    <a:p>
                      <a:pPr algn="l">
                        <a:spcAft>
                          <a:spcPts val="0"/>
                        </a:spcAft>
                      </a:pPr>
                      <a:r>
                        <a:rPr lang="ja-JP" sz="1050" kern="100">
                          <a:effectLst/>
                        </a:rPr>
                        <a:t>内容</a:t>
                      </a:r>
                      <a:endParaRPr lang="ja-JP" sz="1050" kern="100">
                        <a:effectLst/>
                        <a:latin typeface="Courier New"/>
                        <a:ea typeface="ＭＳ 明朝"/>
                        <a:cs typeface="Times New Roman"/>
                      </a:endParaRPr>
                    </a:p>
                  </a:txBody>
                  <a:tcPr marL="68580" marR="68580" marT="0" marB="0"/>
                </a:tc>
              </a:tr>
              <a:tr h="264029">
                <a:tc>
                  <a:txBody>
                    <a:bodyPr/>
                    <a:lstStyle/>
                    <a:p>
                      <a:pPr algn="l">
                        <a:spcAft>
                          <a:spcPts val="0"/>
                        </a:spcAft>
                      </a:pPr>
                      <a:r>
                        <a:rPr lang="en-US" sz="1050" kern="100" dirty="0" err="1">
                          <a:effectLst/>
                        </a:rPr>
                        <a:t>u_no</a:t>
                      </a:r>
                      <a:endParaRPr lang="ja-JP" sz="1050" kern="100" dirty="0">
                        <a:effectLst/>
                        <a:latin typeface="Courier New"/>
                        <a:ea typeface="ＭＳ 明朝"/>
                        <a:cs typeface="Times New Roman"/>
                      </a:endParaRPr>
                    </a:p>
                  </a:txBody>
                  <a:tcPr marL="68580" marR="68580" marT="0" marB="0"/>
                </a:tc>
                <a:tc>
                  <a:txBody>
                    <a:bodyPr/>
                    <a:lstStyle/>
                    <a:p>
                      <a:pPr algn="l">
                        <a:spcAft>
                          <a:spcPts val="0"/>
                        </a:spcAft>
                      </a:pPr>
                      <a:r>
                        <a:rPr lang="ja-JP" sz="1050" kern="100">
                          <a:effectLst/>
                        </a:rPr>
                        <a:t>ユーザ番号</a:t>
                      </a:r>
                      <a:endParaRPr lang="ja-JP" sz="1050" kern="100">
                        <a:effectLst/>
                        <a:latin typeface="Courier New"/>
                        <a:ea typeface="ＭＳ 明朝"/>
                        <a:cs typeface="Times New Roman"/>
                      </a:endParaRPr>
                    </a:p>
                  </a:txBody>
                  <a:tcPr marL="68580" marR="68580" marT="0" marB="0"/>
                </a:tc>
              </a:tr>
              <a:tr h="264029">
                <a:tc>
                  <a:txBody>
                    <a:bodyPr/>
                    <a:lstStyle/>
                    <a:p>
                      <a:pPr algn="l">
                        <a:spcAft>
                          <a:spcPts val="0"/>
                        </a:spcAft>
                      </a:pPr>
                      <a:r>
                        <a:rPr lang="en-US" sz="1050" kern="100">
                          <a:effectLst/>
                        </a:rPr>
                        <a:t>uloginID</a:t>
                      </a:r>
                      <a:endParaRPr lang="ja-JP" sz="1050" kern="100">
                        <a:effectLst/>
                        <a:latin typeface="Courier New"/>
                        <a:ea typeface="ＭＳ 明朝"/>
                        <a:cs typeface="Times New Roman"/>
                      </a:endParaRPr>
                    </a:p>
                  </a:txBody>
                  <a:tcPr marL="68580" marR="68580" marT="0" marB="0"/>
                </a:tc>
                <a:tc>
                  <a:txBody>
                    <a:bodyPr/>
                    <a:lstStyle/>
                    <a:p>
                      <a:pPr algn="l">
                        <a:spcAft>
                          <a:spcPts val="0"/>
                        </a:spcAft>
                      </a:pPr>
                      <a:r>
                        <a:rPr lang="ja-JP" sz="1050" kern="100" dirty="0">
                          <a:effectLst/>
                        </a:rPr>
                        <a:t>ユーザ</a:t>
                      </a:r>
                      <a:r>
                        <a:rPr lang="en-US" sz="1050" kern="100" dirty="0">
                          <a:effectLst/>
                        </a:rPr>
                        <a:t>ID</a:t>
                      </a:r>
                      <a:endParaRPr lang="ja-JP" sz="1050" kern="100" dirty="0">
                        <a:effectLst/>
                        <a:latin typeface="Courier New"/>
                        <a:ea typeface="ＭＳ 明朝"/>
                        <a:cs typeface="Times New Roman"/>
                      </a:endParaRPr>
                    </a:p>
                  </a:txBody>
                  <a:tcPr marL="68580" marR="68580" marT="0" marB="0"/>
                </a:tc>
              </a:tr>
              <a:tr h="264029">
                <a:tc>
                  <a:txBody>
                    <a:bodyPr/>
                    <a:lstStyle/>
                    <a:p>
                      <a:pPr algn="l">
                        <a:spcAft>
                          <a:spcPts val="0"/>
                        </a:spcAft>
                      </a:pPr>
                      <a:r>
                        <a:rPr lang="en-US" sz="1050" kern="100">
                          <a:effectLst/>
                        </a:rPr>
                        <a:t>u_password</a:t>
                      </a:r>
                      <a:endParaRPr lang="ja-JP" sz="1050" kern="100">
                        <a:effectLst/>
                        <a:latin typeface="Courier New"/>
                        <a:ea typeface="ＭＳ 明朝"/>
                        <a:cs typeface="Times New Roman"/>
                      </a:endParaRPr>
                    </a:p>
                  </a:txBody>
                  <a:tcPr marL="68580" marR="68580" marT="0" marB="0"/>
                </a:tc>
                <a:tc>
                  <a:txBody>
                    <a:bodyPr/>
                    <a:lstStyle/>
                    <a:p>
                      <a:pPr algn="l">
                        <a:spcAft>
                          <a:spcPts val="0"/>
                        </a:spcAft>
                      </a:pPr>
                      <a:r>
                        <a:rPr lang="ja-JP" sz="1050" kern="100">
                          <a:effectLst/>
                        </a:rPr>
                        <a:t>ユーザパスワード</a:t>
                      </a:r>
                      <a:endParaRPr lang="ja-JP" sz="1050" kern="100">
                        <a:effectLst/>
                        <a:latin typeface="Courier New"/>
                        <a:ea typeface="ＭＳ 明朝"/>
                        <a:cs typeface="Times New Roman"/>
                      </a:endParaRPr>
                    </a:p>
                  </a:txBody>
                  <a:tcPr marL="68580" marR="68580" marT="0" marB="0"/>
                </a:tc>
              </a:tr>
              <a:tr h="264029">
                <a:tc>
                  <a:txBody>
                    <a:bodyPr/>
                    <a:lstStyle/>
                    <a:p>
                      <a:pPr algn="l">
                        <a:spcAft>
                          <a:spcPts val="0"/>
                        </a:spcAft>
                      </a:pPr>
                      <a:r>
                        <a:rPr lang="en-US" sz="1050" kern="100">
                          <a:effectLst/>
                        </a:rPr>
                        <a:t>u_name</a:t>
                      </a:r>
                      <a:endParaRPr lang="ja-JP" sz="1050" kern="100">
                        <a:effectLst/>
                        <a:latin typeface="Courier New"/>
                        <a:ea typeface="ＭＳ 明朝"/>
                        <a:cs typeface="Times New Roman"/>
                      </a:endParaRPr>
                    </a:p>
                  </a:txBody>
                  <a:tcPr marL="68580" marR="68580" marT="0" marB="0"/>
                </a:tc>
                <a:tc>
                  <a:txBody>
                    <a:bodyPr/>
                    <a:lstStyle/>
                    <a:p>
                      <a:pPr algn="l">
                        <a:spcAft>
                          <a:spcPts val="0"/>
                        </a:spcAft>
                      </a:pPr>
                      <a:r>
                        <a:rPr lang="ja-JP" sz="1050" kern="100" dirty="0">
                          <a:effectLst/>
                        </a:rPr>
                        <a:t>ユーザ名</a:t>
                      </a:r>
                      <a:endParaRPr lang="ja-JP" sz="1050" kern="100" dirty="0">
                        <a:effectLst/>
                        <a:latin typeface="Courier New"/>
                        <a:ea typeface="ＭＳ 明朝"/>
                        <a:cs typeface="Times New Roman"/>
                      </a:endParaRPr>
                    </a:p>
                  </a:txBody>
                  <a:tcPr marL="68580" marR="68580" marT="0" marB="0"/>
                </a:tc>
              </a:tr>
              <a:tr h="264029">
                <a:tc>
                  <a:txBody>
                    <a:bodyPr/>
                    <a:lstStyle/>
                    <a:p>
                      <a:pPr algn="l">
                        <a:spcAft>
                          <a:spcPts val="0"/>
                        </a:spcAft>
                      </a:pPr>
                      <a:r>
                        <a:rPr lang="en-US" sz="1050" kern="100">
                          <a:effectLst/>
                        </a:rPr>
                        <a:t>umail</a:t>
                      </a:r>
                      <a:endParaRPr lang="ja-JP" sz="1050" kern="100">
                        <a:effectLst/>
                        <a:latin typeface="Courier New"/>
                        <a:ea typeface="ＭＳ 明朝"/>
                        <a:cs typeface="Times New Roman"/>
                      </a:endParaRPr>
                    </a:p>
                  </a:txBody>
                  <a:tcPr marL="68580" marR="68580" marT="0" marB="0"/>
                </a:tc>
                <a:tc>
                  <a:txBody>
                    <a:bodyPr/>
                    <a:lstStyle/>
                    <a:p>
                      <a:pPr algn="l">
                        <a:spcAft>
                          <a:spcPts val="0"/>
                        </a:spcAft>
                      </a:pPr>
                      <a:r>
                        <a:rPr lang="ja-JP" sz="1050" kern="100" dirty="0">
                          <a:effectLst/>
                        </a:rPr>
                        <a:t>ユーザメール</a:t>
                      </a:r>
                      <a:endParaRPr lang="ja-JP" sz="1050" kern="100" dirty="0">
                        <a:effectLst/>
                        <a:latin typeface="Courier New"/>
                        <a:ea typeface="ＭＳ 明朝"/>
                        <a:cs typeface="Times New Roman"/>
                      </a:endParaRPr>
                    </a:p>
                  </a:txBody>
                  <a:tcPr marL="68580" marR="68580" marT="0" marB="0"/>
                </a:tc>
              </a:tr>
            </a:tbl>
          </a:graphicData>
        </a:graphic>
      </p:graphicFrame>
      <p:graphicFrame>
        <p:nvGraphicFramePr>
          <p:cNvPr id="5" name="表 4"/>
          <p:cNvGraphicFramePr>
            <a:graphicFrameLocks noGrp="1"/>
          </p:cNvGraphicFramePr>
          <p:nvPr>
            <p:extLst>
              <p:ext uri="{D42A27DB-BD31-4B8C-83A1-F6EECF244321}">
                <p14:modId xmlns:p14="http://schemas.microsoft.com/office/powerpoint/2010/main" val="4009947928"/>
              </p:ext>
            </p:extLst>
          </p:nvPr>
        </p:nvGraphicFramePr>
        <p:xfrm>
          <a:off x="899592" y="4581128"/>
          <a:ext cx="3384376" cy="1408162"/>
        </p:xfrm>
        <a:graphic>
          <a:graphicData uri="http://schemas.openxmlformats.org/drawingml/2006/table">
            <a:tbl>
              <a:tblPr firstRow="1" firstCol="1" bandRow="1">
                <a:tableStyleId>{5C22544A-7EE6-4342-B048-85BDC9FD1C3A}</a:tableStyleId>
              </a:tblPr>
              <a:tblGrid>
                <a:gridCol w="1692188"/>
                <a:gridCol w="1692188"/>
              </a:tblGrid>
              <a:tr h="288030">
                <a:tc>
                  <a:txBody>
                    <a:bodyPr/>
                    <a:lstStyle/>
                    <a:p>
                      <a:pPr algn="l">
                        <a:spcAft>
                          <a:spcPts val="0"/>
                        </a:spcAft>
                      </a:pPr>
                      <a:r>
                        <a:rPr lang="ja-JP" sz="1050" kern="100" dirty="0">
                          <a:effectLst/>
                        </a:rPr>
                        <a:t>フィールド名</a:t>
                      </a:r>
                      <a:endParaRPr lang="ja-JP" sz="1050" kern="100" dirty="0">
                        <a:effectLst/>
                        <a:latin typeface="Courier New"/>
                        <a:ea typeface="ＭＳ 明朝"/>
                        <a:cs typeface="Times New Roman"/>
                      </a:endParaRPr>
                    </a:p>
                  </a:txBody>
                  <a:tcPr marL="68580" marR="68580" marT="0" marB="0"/>
                </a:tc>
                <a:tc>
                  <a:txBody>
                    <a:bodyPr/>
                    <a:lstStyle/>
                    <a:p>
                      <a:pPr algn="l">
                        <a:spcAft>
                          <a:spcPts val="0"/>
                        </a:spcAft>
                      </a:pPr>
                      <a:r>
                        <a:rPr lang="ja-JP" sz="1050" kern="100">
                          <a:effectLst/>
                        </a:rPr>
                        <a:t>内容</a:t>
                      </a:r>
                      <a:endParaRPr lang="ja-JP" sz="1050" kern="100">
                        <a:effectLst/>
                        <a:latin typeface="Courier New"/>
                        <a:ea typeface="ＭＳ 明朝"/>
                        <a:cs typeface="Times New Roman"/>
                      </a:endParaRPr>
                    </a:p>
                  </a:txBody>
                  <a:tcPr marL="68580" marR="68580" marT="0" marB="0"/>
                </a:tc>
              </a:tr>
              <a:tr h="280033">
                <a:tc>
                  <a:txBody>
                    <a:bodyPr/>
                    <a:lstStyle/>
                    <a:p>
                      <a:pPr algn="l">
                        <a:spcAft>
                          <a:spcPts val="0"/>
                        </a:spcAft>
                      </a:pPr>
                      <a:r>
                        <a:rPr lang="en-US" sz="1050" kern="100">
                          <a:effectLst/>
                        </a:rPr>
                        <a:t>book_no</a:t>
                      </a:r>
                      <a:endParaRPr lang="ja-JP" sz="1050" kern="100">
                        <a:effectLst/>
                        <a:latin typeface="Courier New"/>
                        <a:ea typeface="ＭＳ 明朝"/>
                        <a:cs typeface="Times New Roman"/>
                      </a:endParaRPr>
                    </a:p>
                  </a:txBody>
                  <a:tcPr marL="68580" marR="68580" marT="0" marB="0"/>
                </a:tc>
                <a:tc>
                  <a:txBody>
                    <a:bodyPr/>
                    <a:lstStyle/>
                    <a:p>
                      <a:pPr algn="l">
                        <a:spcAft>
                          <a:spcPts val="0"/>
                        </a:spcAft>
                      </a:pPr>
                      <a:r>
                        <a:rPr lang="ja-JP" sz="1050" kern="100" dirty="0" smtClean="0">
                          <a:effectLst/>
                        </a:rPr>
                        <a:t>番号</a:t>
                      </a:r>
                      <a:r>
                        <a:rPr lang="en-US" altLang="ja-JP" sz="1050" kern="100" dirty="0" smtClean="0">
                          <a:effectLst/>
                        </a:rPr>
                        <a:t>(</a:t>
                      </a:r>
                      <a:r>
                        <a:rPr lang="ja-JP" altLang="en-US" sz="1050" kern="100" dirty="0" smtClean="0">
                          <a:effectLst/>
                        </a:rPr>
                        <a:t>ＩＳＢＮ</a:t>
                      </a:r>
                      <a:r>
                        <a:rPr lang="en-US" altLang="ja-JP" sz="1050" kern="100" dirty="0" smtClean="0">
                          <a:effectLst/>
                        </a:rPr>
                        <a:t>)</a:t>
                      </a:r>
                      <a:endParaRPr lang="ja-JP" sz="1050" kern="100" dirty="0">
                        <a:effectLst/>
                        <a:latin typeface="Courier New"/>
                        <a:ea typeface="ＭＳ 明朝"/>
                        <a:cs typeface="Times New Roman"/>
                      </a:endParaRPr>
                    </a:p>
                  </a:txBody>
                  <a:tcPr marL="68580" marR="68580" marT="0" marB="0"/>
                </a:tc>
              </a:tr>
              <a:tr h="280033">
                <a:tc>
                  <a:txBody>
                    <a:bodyPr/>
                    <a:lstStyle/>
                    <a:p>
                      <a:pPr algn="l">
                        <a:spcAft>
                          <a:spcPts val="0"/>
                        </a:spcAft>
                      </a:pPr>
                      <a:r>
                        <a:rPr lang="en-US" sz="1050" kern="100">
                          <a:effectLst/>
                        </a:rPr>
                        <a:t>book_title_t</a:t>
                      </a:r>
                      <a:endParaRPr lang="ja-JP" sz="1050" kern="100">
                        <a:effectLst/>
                        <a:latin typeface="Courier New"/>
                        <a:ea typeface="ＭＳ 明朝"/>
                        <a:cs typeface="Times New Roman"/>
                      </a:endParaRPr>
                    </a:p>
                  </a:txBody>
                  <a:tcPr marL="68580" marR="68580" marT="0" marB="0"/>
                </a:tc>
                <a:tc>
                  <a:txBody>
                    <a:bodyPr/>
                    <a:lstStyle/>
                    <a:p>
                      <a:pPr algn="l">
                        <a:spcAft>
                          <a:spcPts val="0"/>
                        </a:spcAft>
                      </a:pPr>
                      <a:r>
                        <a:rPr lang="ja-JP" sz="1050" kern="100">
                          <a:effectLst/>
                        </a:rPr>
                        <a:t>タイトル名</a:t>
                      </a:r>
                      <a:endParaRPr lang="ja-JP" sz="1050" kern="100">
                        <a:effectLst/>
                        <a:latin typeface="Courier New"/>
                        <a:ea typeface="ＭＳ 明朝"/>
                        <a:cs typeface="Times New Roman"/>
                      </a:endParaRPr>
                    </a:p>
                  </a:txBody>
                  <a:tcPr marL="68580" marR="68580" marT="0" marB="0"/>
                </a:tc>
              </a:tr>
              <a:tr h="280033">
                <a:tc>
                  <a:txBody>
                    <a:bodyPr/>
                    <a:lstStyle/>
                    <a:p>
                      <a:pPr algn="l">
                        <a:spcAft>
                          <a:spcPts val="0"/>
                        </a:spcAft>
                      </a:pPr>
                      <a:r>
                        <a:rPr lang="en-US" sz="1050" kern="100">
                          <a:effectLst/>
                        </a:rPr>
                        <a:t>tyosya_name_t</a:t>
                      </a:r>
                      <a:endParaRPr lang="ja-JP" sz="1050" kern="100">
                        <a:effectLst/>
                        <a:latin typeface="Courier New"/>
                        <a:ea typeface="ＭＳ 明朝"/>
                        <a:cs typeface="Times New Roman"/>
                      </a:endParaRPr>
                    </a:p>
                  </a:txBody>
                  <a:tcPr marL="68580" marR="68580" marT="0" marB="0"/>
                </a:tc>
                <a:tc>
                  <a:txBody>
                    <a:bodyPr/>
                    <a:lstStyle/>
                    <a:p>
                      <a:pPr algn="l">
                        <a:spcAft>
                          <a:spcPts val="0"/>
                        </a:spcAft>
                      </a:pPr>
                      <a:r>
                        <a:rPr lang="ja-JP" sz="1050" kern="100">
                          <a:effectLst/>
                        </a:rPr>
                        <a:t>著者名</a:t>
                      </a:r>
                      <a:endParaRPr lang="ja-JP" sz="1050" kern="100">
                        <a:effectLst/>
                        <a:latin typeface="Courier New"/>
                        <a:ea typeface="ＭＳ 明朝"/>
                        <a:cs typeface="Times New Roman"/>
                      </a:endParaRPr>
                    </a:p>
                  </a:txBody>
                  <a:tcPr marL="68580" marR="68580" marT="0" marB="0"/>
                </a:tc>
              </a:tr>
              <a:tr h="280033">
                <a:tc>
                  <a:txBody>
                    <a:bodyPr/>
                    <a:lstStyle/>
                    <a:p>
                      <a:pPr algn="l">
                        <a:spcAft>
                          <a:spcPts val="0"/>
                        </a:spcAft>
                      </a:pPr>
                      <a:r>
                        <a:rPr lang="en-US" sz="1050" kern="100">
                          <a:effectLst/>
                        </a:rPr>
                        <a:t>shupan_t</a:t>
                      </a:r>
                      <a:endParaRPr lang="ja-JP" sz="1050" kern="100">
                        <a:effectLst/>
                        <a:latin typeface="Courier New"/>
                        <a:ea typeface="ＭＳ 明朝"/>
                        <a:cs typeface="Times New Roman"/>
                      </a:endParaRPr>
                    </a:p>
                  </a:txBody>
                  <a:tcPr marL="68580" marR="68580" marT="0" marB="0"/>
                </a:tc>
                <a:tc>
                  <a:txBody>
                    <a:bodyPr/>
                    <a:lstStyle/>
                    <a:p>
                      <a:pPr algn="l">
                        <a:spcAft>
                          <a:spcPts val="0"/>
                        </a:spcAft>
                      </a:pPr>
                      <a:r>
                        <a:rPr lang="ja-JP" sz="1050" kern="100" dirty="0">
                          <a:effectLst/>
                        </a:rPr>
                        <a:t>出版社</a:t>
                      </a:r>
                      <a:endParaRPr lang="ja-JP" sz="1050" kern="100" dirty="0">
                        <a:effectLst/>
                        <a:latin typeface="Courier New"/>
                        <a:ea typeface="ＭＳ 明朝"/>
                        <a:cs typeface="Times New Roman"/>
                      </a:endParaRPr>
                    </a:p>
                  </a:txBody>
                  <a:tcPr marL="68580" marR="68580" marT="0" marB="0"/>
                </a:tc>
              </a:tr>
            </a:tbl>
          </a:graphicData>
        </a:graphic>
      </p:graphicFrame>
      <p:graphicFrame>
        <p:nvGraphicFramePr>
          <p:cNvPr id="6" name="表 5"/>
          <p:cNvGraphicFramePr>
            <a:graphicFrameLocks noGrp="1"/>
          </p:cNvGraphicFramePr>
          <p:nvPr>
            <p:extLst>
              <p:ext uri="{D42A27DB-BD31-4B8C-83A1-F6EECF244321}">
                <p14:modId xmlns:p14="http://schemas.microsoft.com/office/powerpoint/2010/main" val="2478996287"/>
              </p:ext>
            </p:extLst>
          </p:nvPr>
        </p:nvGraphicFramePr>
        <p:xfrm>
          <a:off x="4788024" y="2564904"/>
          <a:ext cx="3383830" cy="1200132"/>
        </p:xfrm>
        <a:graphic>
          <a:graphicData uri="http://schemas.openxmlformats.org/drawingml/2006/table">
            <a:tbl>
              <a:tblPr firstRow="1" firstCol="1" bandRow="1">
                <a:tableStyleId>{5C22544A-7EE6-4342-B048-85BDC9FD1C3A}</a:tableStyleId>
              </a:tblPr>
              <a:tblGrid>
                <a:gridCol w="1656184"/>
                <a:gridCol w="1727646"/>
              </a:tblGrid>
              <a:tr h="300033">
                <a:tc>
                  <a:txBody>
                    <a:bodyPr/>
                    <a:lstStyle/>
                    <a:p>
                      <a:pPr algn="l">
                        <a:spcAft>
                          <a:spcPts val="0"/>
                        </a:spcAft>
                      </a:pPr>
                      <a:r>
                        <a:rPr lang="ja-JP" sz="1050" kern="100" dirty="0">
                          <a:effectLst/>
                        </a:rPr>
                        <a:t>フィールド名</a:t>
                      </a:r>
                      <a:endParaRPr lang="ja-JP" sz="1050" kern="100" dirty="0">
                        <a:effectLst/>
                        <a:latin typeface="Courier New"/>
                        <a:ea typeface="ＭＳ 明朝"/>
                        <a:cs typeface="Times New Roman"/>
                      </a:endParaRPr>
                    </a:p>
                  </a:txBody>
                  <a:tcPr marL="68580" marR="68580" marT="0" marB="0"/>
                </a:tc>
                <a:tc>
                  <a:txBody>
                    <a:bodyPr/>
                    <a:lstStyle/>
                    <a:p>
                      <a:pPr algn="l">
                        <a:spcAft>
                          <a:spcPts val="0"/>
                        </a:spcAft>
                      </a:pPr>
                      <a:r>
                        <a:rPr lang="ja-JP" sz="1050" kern="100" dirty="0">
                          <a:effectLst/>
                        </a:rPr>
                        <a:t>内容</a:t>
                      </a:r>
                      <a:endParaRPr lang="ja-JP" sz="1050" kern="100" dirty="0">
                        <a:effectLst/>
                        <a:latin typeface="Courier New"/>
                        <a:ea typeface="ＭＳ 明朝"/>
                        <a:cs typeface="Times New Roman"/>
                      </a:endParaRPr>
                    </a:p>
                  </a:txBody>
                  <a:tcPr marL="68580" marR="68580" marT="0" marB="0"/>
                </a:tc>
              </a:tr>
              <a:tr h="300033">
                <a:tc>
                  <a:txBody>
                    <a:bodyPr/>
                    <a:lstStyle/>
                    <a:p>
                      <a:pPr algn="l">
                        <a:spcAft>
                          <a:spcPts val="0"/>
                        </a:spcAft>
                      </a:pPr>
                      <a:r>
                        <a:rPr lang="en-US" sz="1050" kern="100" dirty="0" err="1">
                          <a:effectLst/>
                        </a:rPr>
                        <a:t>book_no</a:t>
                      </a:r>
                      <a:endParaRPr lang="ja-JP" sz="1050" kern="100" dirty="0">
                        <a:effectLst/>
                        <a:latin typeface="Courier New"/>
                        <a:ea typeface="ＭＳ 明朝"/>
                        <a:cs typeface="Times New Roman"/>
                      </a:endParaRPr>
                    </a:p>
                  </a:txBody>
                  <a:tcPr marL="68580" marR="68580" marT="0" marB="0"/>
                </a:tc>
                <a:tc>
                  <a:txBody>
                    <a:bodyPr/>
                    <a:lstStyle/>
                    <a:p>
                      <a:pPr algn="l">
                        <a:spcAft>
                          <a:spcPts val="0"/>
                        </a:spcAft>
                      </a:pPr>
                      <a:r>
                        <a:rPr lang="ja-JP" sz="1050" kern="100" dirty="0" smtClean="0">
                          <a:effectLst/>
                        </a:rPr>
                        <a:t>番号</a:t>
                      </a:r>
                      <a:r>
                        <a:rPr lang="ja-JP" altLang="en-US" sz="1050" kern="100" dirty="0" smtClean="0">
                          <a:effectLst/>
                        </a:rPr>
                        <a:t>（ＩＳＢＮ）</a:t>
                      </a:r>
                      <a:endParaRPr lang="ja-JP" sz="1050" kern="100" dirty="0">
                        <a:effectLst/>
                        <a:latin typeface="Courier New"/>
                        <a:ea typeface="ＭＳ 明朝"/>
                        <a:cs typeface="Times New Roman"/>
                      </a:endParaRPr>
                    </a:p>
                  </a:txBody>
                  <a:tcPr marL="68580" marR="68580" marT="0" marB="0"/>
                </a:tc>
              </a:tr>
              <a:tr h="300033">
                <a:tc>
                  <a:txBody>
                    <a:bodyPr/>
                    <a:lstStyle/>
                    <a:p>
                      <a:pPr algn="l">
                        <a:spcAft>
                          <a:spcPts val="0"/>
                        </a:spcAft>
                      </a:pPr>
                      <a:r>
                        <a:rPr lang="en-US" altLang="ja-JP" sz="1050" kern="100" dirty="0" err="1" smtClean="0">
                          <a:effectLst/>
                          <a:latin typeface="+mn-lt"/>
                          <a:ea typeface="ＭＳ 明朝"/>
                          <a:cs typeface="Times New Roman"/>
                        </a:rPr>
                        <a:t>u_no</a:t>
                      </a:r>
                      <a:endParaRPr lang="ja-JP" sz="1050" kern="100" dirty="0">
                        <a:effectLst/>
                        <a:latin typeface="+mn-lt"/>
                        <a:ea typeface="ＭＳ 明朝"/>
                        <a:cs typeface="Times New Roman"/>
                      </a:endParaRPr>
                    </a:p>
                  </a:txBody>
                  <a:tcPr marL="68580" marR="68580" marT="0" marB="0"/>
                </a:tc>
                <a:tc>
                  <a:txBody>
                    <a:bodyPr/>
                    <a:lstStyle/>
                    <a:p>
                      <a:pPr algn="l">
                        <a:spcAft>
                          <a:spcPts val="0"/>
                        </a:spcAft>
                      </a:pPr>
                      <a:r>
                        <a:rPr lang="ja-JP" altLang="en-US" sz="1050" kern="100" dirty="0" smtClean="0">
                          <a:effectLst/>
                          <a:latin typeface="+mn-ea"/>
                          <a:ea typeface="+mn-ea"/>
                          <a:cs typeface="Times New Roman"/>
                        </a:rPr>
                        <a:t>ユーザ番号</a:t>
                      </a:r>
                      <a:endParaRPr lang="ja-JP" sz="1050" kern="100" dirty="0">
                        <a:effectLst/>
                        <a:latin typeface="+mn-ea"/>
                        <a:ea typeface="+mn-ea"/>
                        <a:cs typeface="Times New Roman"/>
                      </a:endParaRPr>
                    </a:p>
                  </a:txBody>
                  <a:tcPr marL="68580" marR="68580" marT="0" marB="0"/>
                </a:tc>
              </a:tr>
              <a:tr h="300033">
                <a:tc>
                  <a:txBody>
                    <a:bodyPr/>
                    <a:lstStyle/>
                    <a:p>
                      <a:pPr algn="l">
                        <a:spcAft>
                          <a:spcPts val="0"/>
                        </a:spcAft>
                      </a:pPr>
                      <a:r>
                        <a:rPr lang="en-US" sz="1050" kern="100" dirty="0" err="1">
                          <a:effectLst/>
                        </a:rPr>
                        <a:t>date_t</a:t>
                      </a:r>
                      <a:endParaRPr lang="ja-JP" sz="1050" kern="100" dirty="0">
                        <a:effectLst/>
                        <a:latin typeface="Courier New"/>
                        <a:ea typeface="ＭＳ 明朝"/>
                        <a:cs typeface="Times New Roman"/>
                      </a:endParaRPr>
                    </a:p>
                  </a:txBody>
                  <a:tcPr marL="68580" marR="68580" marT="0" marB="0"/>
                </a:tc>
                <a:tc>
                  <a:txBody>
                    <a:bodyPr/>
                    <a:lstStyle/>
                    <a:p>
                      <a:pPr algn="l">
                        <a:spcAft>
                          <a:spcPts val="0"/>
                        </a:spcAft>
                      </a:pPr>
                      <a:r>
                        <a:rPr lang="ja-JP" sz="1050" kern="100" dirty="0">
                          <a:effectLst/>
                        </a:rPr>
                        <a:t>読んだ日</a:t>
                      </a:r>
                      <a:endParaRPr lang="ja-JP" sz="1050" kern="100" dirty="0">
                        <a:effectLst/>
                        <a:latin typeface="Courier New"/>
                        <a:ea typeface="ＭＳ 明朝"/>
                        <a:cs typeface="Times New Roman"/>
                      </a:endParaRPr>
                    </a:p>
                  </a:txBody>
                  <a:tcPr marL="68580" marR="68580" marT="0" marB="0"/>
                </a:tc>
              </a:tr>
            </a:tbl>
          </a:graphicData>
        </a:graphic>
      </p:graphicFrame>
      <p:sp>
        <p:nvSpPr>
          <p:cNvPr id="7" name="テキスト ボックス 6"/>
          <p:cNvSpPr txBox="1"/>
          <p:nvPr/>
        </p:nvSpPr>
        <p:spPr>
          <a:xfrm>
            <a:off x="1926730" y="2027772"/>
            <a:ext cx="1305165" cy="369332"/>
          </a:xfrm>
          <a:prstGeom prst="rect">
            <a:avLst/>
          </a:prstGeom>
          <a:noFill/>
        </p:spPr>
        <p:txBody>
          <a:bodyPr wrap="none" rtlCol="0" anchor="ctr">
            <a:spAutoFit/>
          </a:bodyPr>
          <a:lstStyle/>
          <a:p>
            <a:pPr algn="ctr"/>
            <a:r>
              <a:rPr kumimoji="1" lang="ja-JP" altLang="en-US" dirty="0" smtClean="0"/>
              <a:t>ユーザ管理</a:t>
            </a:r>
            <a:endParaRPr kumimoji="1" lang="ja-JP" altLang="en-US" dirty="0"/>
          </a:p>
        </p:txBody>
      </p:sp>
      <p:sp>
        <p:nvSpPr>
          <p:cNvPr id="8" name="テキスト ボックス 7"/>
          <p:cNvSpPr txBox="1"/>
          <p:nvPr/>
        </p:nvSpPr>
        <p:spPr>
          <a:xfrm>
            <a:off x="1926730" y="4180438"/>
            <a:ext cx="646331" cy="369332"/>
          </a:xfrm>
          <a:prstGeom prst="rect">
            <a:avLst/>
          </a:prstGeom>
          <a:noFill/>
        </p:spPr>
        <p:txBody>
          <a:bodyPr wrap="none" rtlCol="0" anchor="ctr">
            <a:spAutoFit/>
          </a:bodyPr>
          <a:lstStyle/>
          <a:p>
            <a:pPr algn="ctr"/>
            <a:r>
              <a:rPr lang="ja-JP" altLang="en-US" dirty="0"/>
              <a:t>本棚</a:t>
            </a:r>
            <a:endParaRPr kumimoji="1" lang="ja-JP" altLang="en-US" dirty="0"/>
          </a:p>
        </p:txBody>
      </p:sp>
      <p:sp>
        <p:nvSpPr>
          <p:cNvPr id="9" name="テキスト ボックス 8"/>
          <p:cNvSpPr txBox="1"/>
          <p:nvPr/>
        </p:nvSpPr>
        <p:spPr>
          <a:xfrm>
            <a:off x="5652120" y="2050166"/>
            <a:ext cx="1534394" cy="369332"/>
          </a:xfrm>
          <a:prstGeom prst="rect">
            <a:avLst/>
          </a:prstGeom>
          <a:noFill/>
        </p:spPr>
        <p:txBody>
          <a:bodyPr wrap="none" rtlCol="0" anchor="ctr">
            <a:spAutoFit/>
          </a:bodyPr>
          <a:lstStyle/>
          <a:p>
            <a:pPr algn="ctr"/>
            <a:r>
              <a:rPr lang="ja-JP" altLang="en-US" dirty="0" smtClean="0"/>
              <a:t>最近読んだ本</a:t>
            </a:r>
            <a:endParaRPr kumimoji="1" lang="ja-JP" altLang="en-US" dirty="0"/>
          </a:p>
        </p:txBody>
      </p:sp>
    </p:spTree>
    <p:extLst>
      <p:ext uri="{BB962C8B-B14F-4D97-AF65-F5344CB8AC3E}">
        <p14:creationId xmlns:p14="http://schemas.microsoft.com/office/powerpoint/2010/main" val="1672418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
                                        </p:tgtEl>
                                      </p:cBhvr>
                                    </p:animEffect>
                                    <p:animScale>
                                      <p:cBhvr>
                                        <p:cTn id="7" dur="250"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a:lstStyle/>
          <a:p>
            <a:r>
              <a:rPr kumimoji="1" lang="ja-JP" altLang="en-US" dirty="0" smtClean="0"/>
              <a:t>システム全体の進行状況</a:t>
            </a:r>
            <a:endParaRPr kumimoji="1" lang="ja-JP" altLang="en-US" dirty="0"/>
          </a:p>
        </p:txBody>
      </p:sp>
      <p:graphicFrame>
        <p:nvGraphicFramePr>
          <p:cNvPr id="4" name="オブジェクト 3"/>
          <p:cNvGraphicFramePr>
            <a:graphicFrameLocks noChangeAspect="1"/>
          </p:cNvGraphicFramePr>
          <p:nvPr>
            <p:extLst>
              <p:ext uri="{D42A27DB-BD31-4B8C-83A1-F6EECF244321}">
                <p14:modId xmlns:p14="http://schemas.microsoft.com/office/powerpoint/2010/main" val="310726889"/>
              </p:ext>
            </p:extLst>
          </p:nvPr>
        </p:nvGraphicFramePr>
        <p:xfrm>
          <a:off x="755576" y="1881822"/>
          <a:ext cx="7128792" cy="4643521"/>
        </p:xfrm>
        <a:graphic>
          <a:graphicData uri="http://schemas.openxmlformats.org/presentationml/2006/ole">
            <mc:AlternateContent xmlns:mc="http://schemas.openxmlformats.org/markup-compatibility/2006">
              <mc:Choice xmlns:v="urn:schemas-microsoft-com:vml" Requires="v">
                <p:oleObj spid="_x0000_s2068" name="Visio" r:id="rId4" imgW="3634639" imgH="3634740" progId="Visio.Drawing.11">
                  <p:embed/>
                </p:oleObj>
              </mc:Choice>
              <mc:Fallback>
                <p:oleObj name="Visio" r:id="rId4" imgW="3634639" imgH="3634740"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576" y="1881822"/>
                        <a:ext cx="7128792" cy="4643521"/>
                      </a:xfrm>
                      <a:prstGeom prst="rect">
                        <a:avLst/>
                      </a:prstGeom>
                      <a:noFill/>
                    </p:spPr>
                  </p:pic>
                </p:oleObj>
              </mc:Fallback>
            </mc:AlternateContent>
          </a:graphicData>
        </a:graphic>
      </p:graphicFrame>
      <p:sp>
        <p:nvSpPr>
          <p:cNvPr id="5" name="テキスト ボックス 2"/>
          <p:cNvSpPr txBox="1">
            <a:spLocks noChangeArrowheads="1"/>
          </p:cNvSpPr>
          <p:nvPr/>
        </p:nvSpPr>
        <p:spPr bwMode="auto">
          <a:xfrm>
            <a:off x="3707904" y="1673225"/>
            <a:ext cx="1296144" cy="451802"/>
          </a:xfrm>
          <a:prstGeom prst="rect">
            <a:avLst/>
          </a:prstGeom>
          <a:noFill/>
          <a:ln w="9525">
            <a:noFill/>
            <a:miter lim="800000"/>
            <a:headEnd/>
            <a:tailEnd/>
          </a:ln>
        </p:spPr>
        <p:txBody>
          <a:bodyPr rot="0" vert="horz" wrap="square" lIns="91440" tIns="45720" rIns="91440" bIns="45720" anchor="t" anchorCtr="0">
            <a:noAutofit/>
          </a:bodyPr>
          <a:lstStyle/>
          <a:p>
            <a:pPr algn="just">
              <a:spcAft>
                <a:spcPts val="0"/>
              </a:spcAft>
            </a:pPr>
            <a:r>
              <a:rPr lang="en-US" sz="2400" kern="100" dirty="0">
                <a:solidFill>
                  <a:srgbClr val="FF0000"/>
                </a:solidFill>
                <a:effectLst/>
                <a:latin typeface="Courier New"/>
                <a:ea typeface="ＭＳ 明朝"/>
                <a:cs typeface="Times New Roman"/>
              </a:rPr>
              <a:t>100%</a:t>
            </a:r>
            <a:endParaRPr lang="ja-JP" sz="2400" kern="100" dirty="0">
              <a:effectLst/>
              <a:latin typeface="Courier New"/>
              <a:ea typeface="ＭＳ 明朝"/>
              <a:cs typeface="Times New Roman"/>
            </a:endParaRPr>
          </a:p>
        </p:txBody>
      </p:sp>
      <p:sp>
        <p:nvSpPr>
          <p:cNvPr id="6" name="テキスト ボックス 2"/>
          <p:cNvSpPr txBox="1">
            <a:spLocks noChangeArrowheads="1"/>
          </p:cNvSpPr>
          <p:nvPr/>
        </p:nvSpPr>
        <p:spPr bwMode="auto">
          <a:xfrm>
            <a:off x="3740916" y="2728277"/>
            <a:ext cx="1047108" cy="479743"/>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gn="just">
              <a:spcAft>
                <a:spcPts val="0"/>
              </a:spcAft>
            </a:pPr>
            <a:r>
              <a:rPr lang="en-US" sz="2400" kern="100" dirty="0">
                <a:solidFill>
                  <a:srgbClr val="FF0000"/>
                </a:solidFill>
                <a:effectLst/>
                <a:latin typeface="Courier New"/>
                <a:ea typeface="ＭＳ 明朝"/>
                <a:cs typeface="Times New Roman"/>
              </a:rPr>
              <a:t>80%</a:t>
            </a:r>
            <a:endParaRPr lang="ja-JP" sz="2400" kern="100" dirty="0">
              <a:effectLst/>
              <a:latin typeface="Courier New"/>
              <a:ea typeface="ＭＳ 明朝"/>
              <a:cs typeface="Times New Roman"/>
            </a:endParaRPr>
          </a:p>
        </p:txBody>
      </p:sp>
      <p:sp>
        <p:nvSpPr>
          <p:cNvPr id="7" name="テキスト ボックス 2"/>
          <p:cNvSpPr txBox="1">
            <a:spLocks noChangeArrowheads="1"/>
          </p:cNvSpPr>
          <p:nvPr/>
        </p:nvSpPr>
        <p:spPr bwMode="auto">
          <a:xfrm>
            <a:off x="7956376" y="1928404"/>
            <a:ext cx="1080120" cy="490946"/>
          </a:xfrm>
          <a:prstGeom prst="rect">
            <a:avLst/>
          </a:prstGeom>
          <a:noFill/>
          <a:ln w="9525">
            <a:noFill/>
            <a:miter lim="800000"/>
            <a:headEnd/>
            <a:tailEnd/>
          </a:ln>
        </p:spPr>
        <p:txBody>
          <a:bodyPr rot="0" vert="horz" wrap="square" lIns="91440" tIns="45720" rIns="91440" bIns="45720" anchor="t" anchorCtr="0">
            <a:noAutofit/>
          </a:bodyPr>
          <a:lstStyle/>
          <a:p>
            <a:pPr algn="just">
              <a:spcAft>
                <a:spcPts val="0"/>
              </a:spcAft>
            </a:pPr>
            <a:r>
              <a:rPr lang="en-US" sz="2400" kern="100" dirty="0">
                <a:solidFill>
                  <a:srgbClr val="FF0000"/>
                </a:solidFill>
                <a:effectLst/>
                <a:latin typeface="Courier New"/>
                <a:ea typeface="ＭＳ 明朝"/>
                <a:cs typeface="Times New Roman"/>
              </a:rPr>
              <a:t>100%</a:t>
            </a:r>
            <a:endParaRPr lang="ja-JP" sz="2400" kern="100" dirty="0">
              <a:effectLst/>
              <a:latin typeface="Courier New"/>
              <a:ea typeface="ＭＳ 明朝"/>
              <a:cs typeface="Times New Roman"/>
            </a:endParaRPr>
          </a:p>
        </p:txBody>
      </p:sp>
      <p:sp>
        <p:nvSpPr>
          <p:cNvPr id="8" name="テキスト ボックス 2"/>
          <p:cNvSpPr txBox="1">
            <a:spLocks noChangeArrowheads="1"/>
          </p:cNvSpPr>
          <p:nvPr/>
        </p:nvSpPr>
        <p:spPr bwMode="auto">
          <a:xfrm>
            <a:off x="7956376" y="3217644"/>
            <a:ext cx="936104" cy="42738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gn="just">
              <a:spcAft>
                <a:spcPts val="0"/>
              </a:spcAft>
            </a:pPr>
            <a:r>
              <a:rPr lang="en-US" sz="2400" kern="100" dirty="0">
                <a:solidFill>
                  <a:srgbClr val="FF0000"/>
                </a:solidFill>
                <a:effectLst/>
                <a:latin typeface="Courier New"/>
                <a:ea typeface="ＭＳ 明朝"/>
                <a:cs typeface="Times New Roman"/>
              </a:rPr>
              <a:t>50%</a:t>
            </a:r>
            <a:endParaRPr lang="ja-JP" sz="2400" kern="100" dirty="0">
              <a:effectLst/>
              <a:latin typeface="Courier New"/>
              <a:ea typeface="ＭＳ 明朝"/>
              <a:cs typeface="Times New Roman"/>
            </a:endParaRPr>
          </a:p>
        </p:txBody>
      </p:sp>
      <p:sp>
        <p:nvSpPr>
          <p:cNvPr id="9" name="テキスト ボックス 2"/>
          <p:cNvSpPr txBox="1">
            <a:spLocks noChangeArrowheads="1"/>
          </p:cNvSpPr>
          <p:nvPr/>
        </p:nvSpPr>
        <p:spPr bwMode="auto">
          <a:xfrm>
            <a:off x="8048760" y="6021288"/>
            <a:ext cx="771711" cy="444371"/>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gn="just">
              <a:spcAft>
                <a:spcPts val="0"/>
              </a:spcAft>
            </a:pPr>
            <a:r>
              <a:rPr lang="en-US" sz="2400" kern="100" dirty="0">
                <a:solidFill>
                  <a:srgbClr val="FF0000"/>
                </a:solidFill>
                <a:effectLst/>
                <a:latin typeface="Courier New"/>
                <a:ea typeface="ＭＳ 明朝"/>
                <a:cs typeface="Times New Roman"/>
              </a:rPr>
              <a:t>50%</a:t>
            </a:r>
            <a:endParaRPr lang="ja-JP" sz="2400" kern="100" dirty="0">
              <a:effectLst/>
              <a:latin typeface="Courier New"/>
              <a:ea typeface="ＭＳ 明朝"/>
              <a:cs typeface="Times New Roman"/>
            </a:endParaRPr>
          </a:p>
        </p:txBody>
      </p:sp>
      <p:sp>
        <p:nvSpPr>
          <p:cNvPr id="10" name="テキスト ボックス 2"/>
          <p:cNvSpPr txBox="1">
            <a:spLocks noChangeArrowheads="1"/>
          </p:cNvSpPr>
          <p:nvPr/>
        </p:nvSpPr>
        <p:spPr bwMode="auto">
          <a:xfrm>
            <a:off x="8035622" y="5445224"/>
            <a:ext cx="784850" cy="35052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gn="just">
              <a:spcAft>
                <a:spcPts val="0"/>
              </a:spcAft>
            </a:pPr>
            <a:r>
              <a:rPr lang="en-US" sz="2400" kern="100" dirty="0">
                <a:solidFill>
                  <a:srgbClr val="FF0000"/>
                </a:solidFill>
                <a:effectLst/>
                <a:latin typeface="Courier New"/>
                <a:ea typeface="ＭＳ 明朝"/>
                <a:cs typeface="Times New Roman"/>
              </a:rPr>
              <a:t>50%</a:t>
            </a:r>
            <a:endParaRPr lang="ja-JP" sz="2400" kern="100" dirty="0">
              <a:effectLst/>
              <a:latin typeface="Courier New"/>
              <a:ea typeface="ＭＳ 明朝"/>
              <a:cs typeface="Times New Roman"/>
            </a:endParaRPr>
          </a:p>
        </p:txBody>
      </p:sp>
      <p:sp>
        <p:nvSpPr>
          <p:cNvPr id="11" name="テキスト ボックス 2"/>
          <p:cNvSpPr txBox="1">
            <a:spLocks noChangeArrowheads="1"/>
          </p:cNvSpPr>
          <p:nvPr/>
        </p:nvSpPr>
        <p:spPr bwMode="auto">
          <a:xfrm>
            <a:off x="7957692" y="4725144"/>
            <a:ext cx="862780" cy="36004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gn="just">
              <a:spcAft>
                <a:spcPts val="0"/>
              </a:spcAft>
            </a:pPr>
            <a:r>
              <a:rPr lang="en-US" sz="2400" kern="100" dirty="0">
                <a:solidFill>
                  <a:srgbClr val="FF0000"/>
                </a:solidFill>
                <a:effectLst/>
                <a:latin typeface="Courier New"/>
                <a:ea typeface="ＭＳ 明朝"/>
                <a:cs typeface="Times New Roman"/>
              </a:rPr>
              <a:t>0%</a:t>
            </a:r>
            <a:endParaRPr lang="ja-JP" sz="2400" kern="100" dirty="0">
              <a:effectLst/>
              <a:latin typeface="Courier New"/>
              <a:ea typeface="ＭＳ 明朝"/>
              <a:cs typeface="Times New Roman"/>
            </a:endParaRPr>
          </a:p>
        </p:txBody>
      </p:sp>
      <p:sp>
        <p:nvSpPr>
          <p:cNvPr id="12" name="テキスト ボックス 2"/>
          <p:cNvSpPr txBox="1">
            <a:spLocks noChangeArrowheads="1"/>
          </p:cNvSpPr>
          <p:nvPr/>
        </p:nvSpPr>
        <p:spPr bwMode="auto">
          <a:xfrm>
            <a:off x="8020186" y="4077072"/>
            <a:ext cx="872294" cy="36004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gn="just">
              <a:spcAft>
                <a:spcPts val="0"/>
              </a:spcAft>
            </a:pPr>
            <a:r>
              <a:rPr lang="en-US" sz="2400" kern="100" dirty="0">
                <a:solidFill>
                  <a:srgbClr val="FF0000"/>
                </a:solidFill>
                <a:effectLst/>
                <a:latin typeface="Courier New"/>
                <a:ea typeface="ＭＳ 明朝"/>
                <a:cs typeface="Times New Roman"/>
              </a:rPr>
              <a:t>50%</a:t>
            </a:r>
            <a:endParaRPr lang="ja-JP" sz="2400" kern="100" dirty="0">
              <a:effectLst/>
              <a:latin typeface="Courier New"/>
              <a:ea typeface="ＭＳ 明朝"/>
              <a:cs typeface="Times New Roman"/>
            </a:endParaRPr>
          </a:p>
        </p:txBody>
      </p:sp>
      <p:sp>
        <p:nvSpPr>
          <p:cNvPr id="13" name="Rectangle 10"/>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ja-JP" altLang="en-US"/>
          </a:p>
        </p:txBody>
      </p:sp>
      <p:sp>
        <p:nvSpPr>
          <p:cNvPr id="14" name="Rectangle 11"/>
          <p:cNvSpPr>
            <a:spLocks noChangeArrowheads="1"/>
          </p:cNvSpPr>
          <p:nvPr/>
        </p:nvSpPr>
        <p:spPr bwMode="auto">
          <a:xfrm>
            <a:off x="0" y="457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ja-JP" sz="600" b="0" i="0" u="none" strike="noStrike" cap="none" normalizeH="0" baseline="0" smtClean="0">
                <a:ln>
                  <a:noFill/>
                </a:ln>
                <a:solidFill>
                  <a:schemeClr val="tx1"/>
                </a:solidFill>
                <a:effectLst/>
                <a:latin typeface="Arial" pitchFamily="34" charset="0"/>
                <a:ea typeface="ＭＳ Ｐゴシック" pitchFamily="50" charset="-128"/>
                <a:cs typeface="ＭＳ Ｐゴシック" pitchFamily="50" charset="-128"/>
              </a:rPr>
              <a:t/>
            </a:r>
            <a:br>
              <a:rPr kumimoji="1" lang="ja-JP" altLang="ja-JP" sz="600" b="0" i="0" u="none" strike="noStrike" cap="none" normalizeH="0" baseline="0" smtClean="0">
                <a:ln>
                  <a:noFill/>
                </a:ln>
                <a:solidFill>
                  <a:schemeClr val="tx1"/>
                </a:solidFill>
                <a:effectLst/>
                <a:latin typeface="Arial" pitchFamily="34" charset="0"/>
                <a:ea typeface="ＭＳ Ｐゴシック" pitchFamily="50" charset="-128"/>
                <a:cs typeface="ＭＳ Ｐゴシック" pitchFamily="50" charset="-128"/>
              </a:rPr>
            </a:br>
            <a:endParaRPr kumimoji="1" lang="ja-JP" altLang="ja-JP" sz="1800" b="0" i="0" u="none" strike="noStrike" cap="none" normalizeH="0" baseline="0" smtClean="0">
              <a:ln>
                <a:noFill/>
              </a:ln>
              <a:solidFill>
                <a:schemeClr val="tx1"/>
              </a:solidFill>
              <a:effectLst/>
              <a:latin typeface="Arial" pitchFamily="34" charset="0"/>
              <a:ea typeface="ＭＳ Ｐゴシック" pitchFamily="50" charset="-128"/>
              <a:cs typeface="ＭＳ Ｐゴシック" pitchFamily="50" charset="-128"/>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1" lang="ja-JP" altLang="ja-JP" sz="1800" b="0" i="0" u="none" strike="noStrike" cap="none" normalizeH="0" baseline="0" smtClean="0">
              <a:ln>
                <a:noFill/>
              </a:ln>
              <a:solidFill>
                <a:schemeClr val="tx1"/>
              </a:solidFill>
              <a:effectLst/>
              <a:latin typeface="Arial" pitchFamily="34" charset="0"/>
              <a:ea typeface="ＭＳ Ｐゴシック" pitchFamily="50" charset="-128"/>
              <a:cs typeface="ＭＳ Ｐゴシック" pitchFamily="50" charset="-128"/>
            </a:endParaRPr>
          </a:p>
        </p:txBody>
      </p:sp>
      <p:sp>
        <p:nvSpPr>
          <p:cNvPr id="15" name="Rectangle 12"/>
          <p:cNvSpPr>
            <a:spLocks noChangeArrowheads="1"/>
          </p:cNvSpPr>
          <p:nvPr/>
        </p:nvSpPr>
        <p:spPr bwMode="auto">
          <a:xfrm>
            <a:off x="0" y="457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ja-JP" altLang="ja-JP" sz="1800" b="0" i="0" u="none" strike="noStrike" cap="none" normalizeH="0" baseline="0" smtClean="0">
              <a:ln>
                <a:noFill/>
              </a:ln>
              <a:solidFill>
                <a:schemeClr val="tx1"/>
              </a:solidFill>
              <a:effectLst/>
              <a:latin typeface="Arial" pitchFamily="34" charset="0"/>
              <a:ea typeface="ＭＳ Ｐゴシック" pitchFamily="50" charset="-128"/>
              <a:cs typeface="ＭＳ Ｐゴシック" pitchFamily="50" charset="-128"/>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1" lang="ja-JP" altLang="ja-JP" sz="1800" b="0" i="0" u="none" strike="noStrike" cap="none" normalizeH="0" baseline="0" smtClean="0">
              <a:ln>
                <a:noFill/>
              </a:ln>
              <a:solidFill>
                <a:schemeClr val="tx1"/>
              </a:solidFill>
              <a:effectLst/>
              <a:latin typeface="Arial" pitchFamily="34" charset="0"/>
              <a:ea typeface="ＭＳ Ｐゴシック" pitchFamily="50" charset="-128"/>
              <a:cs typeface="ＭＳ Ｐゴシック" pitchFamily="50" charset="-128"/>
            </a:endParaRPr>
          </a:p>
        </p:txBody>
      </p:sp>
      <p:sp>
        <p:nvSpPr>
          <p:cNvPr id="16" name="Rectangle 13"/>
          <p:cNvSpPr>
            <a:spLocks noChangeArrowheads="1"/>
          </p:cNvSpPr>
          <p:nvPr/>
        </p:nvSpPr>
        <p:spPr bwMode="auto">
          <a:xfrm>
            <a:off x="0" y="457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ja-JP" altLang="en-US"/>
          </a:p>
        </p:txBody>
      </p:sp>
      <p:sp>
        <p:nvSpPr>
          <p:cNvPr id="17" name="Rectangle 14"/>
          <p:cNvSpPr>
            <a:spLocks noChangeArrowheads="1"/>
          </p:cNvSpPr>
          <p:nvPr/>
        </p:nvSpPr>
        <p:spPr bwMode="auto">
          <a:xfrm>
            <a:off x="0" y="2419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ja-JP" altLang="ja-JP" sz="1800" b="0" i="0" u="none" strike="noStrike" cap="none" normalizeH="0" baseline="0" smtClean="0">
              <a:ln>
                <a:noFill/>
              </a:ln>
              <a:solidFill>
                <a:schemeClr val="tx1"/>
              </a:solidFill>
              <a:effectLst/>
              <a:latin typeface="Arial" pitchFamily="34" charset="0"/>
              <a:ea typeface="ＭＳ Ｐゴシック" pitchFamily="50" charset="-128"/>
              <a:cs typeface="ＭＳ Ｐゴシック" pitchFamily="50" charset="-128"/>
            </a:endParaRPr>
          </a:p>
        </p:txBody>
      </p:sp>
    </p:spTree>
    <p:extLst>
      <p:ext uri="{BB962C8B-B14F-4D97-AF65-F5344CB8AC3E}">
        <p14:creationId xmlns:p14="http://schemas.microsoft.com/office/powerpoint/2010/main" val="1988431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
                                        </p:tgtEl>
                                      </p:cBhvr>
                                    </p:animEffect>
                                    <p:animScale>
                                      <p:cBhvr>
                                        <p:cTn id="7" dur="250"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a:lstStyle/>
          <a:p>
            <a:r>
              <a:rPr kumimoji="1" lang="ja-JP" altLang="en-US" dirty="0" smtClean="0"/>
              <a:t>作業計画</a:t>
            </a:r>
            <a:endParaRPr kumimoji="1" lang="ja-JP" altLang="en-US" dirty="0"/>
          </a:p>
        </p:txBody>
      </p:sp>
      <p:graphicFrame>
        <p:nvGraphicFramePr>
          <p:cNvPr id="4" name="表 3"/>
          <p:cNvGraphicFramePr>
            <a:graphicFrameLocks noGrp="1"/>
          </p:cNvGraphicFramePr>
          <p:nvPr>
            <p:extLst>
              <p:ext uri="{D42A27DB-BD31-4B8C-83A1-F6EECF244321}">
                <p14:modId xmlns:p14="http://schemas.microsoft.com/office/powerpoint/2010/main" val="1938179472"/>
              </p:ext>
            </p:extLst>
          </p:nvPr>
        </p:nvGraphicFramePr>
        <p:xfrm>
          <a:off x="1475656" y="2564904"/>
          <a:ext cx="6120680" cy="3856078"/>
        </p:xfrm>
        <a:graphic>
          <a:graphicData uri="http://schemas.openxmlformats.org/drawingml/2006/table">
            <a:tbl>
              <a:tblPr firstRow="1" firstCol="1" bandRow="1">
                <a:tableStyleId>{5C22544A-7EE6-4342-B048-85BDC9FD1C3A}</a:tableStyleId>
              </a:tblPr>
              <a:tblGrid>
                <a:gridCol w="1221843"/>
                <a:gridCol w="4898837"/>
              </a:tblGrid>
              <a:tr h="1191708">
                <a:tc>
                  <a:txBody>
                    <a:bodyPr/>
                    <a:lstStyle/>
                    <a:p>
                      <a:pPr algn="just">
                        <a:spcAft>
                          <a:spcPts val="0"/>
                        </a:spcAft>
                      </a:pPr>
                      <a:r>
                        <a:rPr lang="en-US" sz="2800" kern="100" dirty="0">
                          <a:effectLst/>
                        </a:rPr>
                        <a:t>12</a:t>
                      </a:r>
                      <a:r>
                        <a:rPr lang="ja-JP" sz="2800" kern="100" dirty="0">
                          <a:effectLst/>
                        </a:rPr>
                        <a:t>月</a:t>
                      </a:r>
                      <a:endParaRPr lang="ja-JP" sz="2800" kern="100" dirty="0">
                        <a:effectLst/>
                        <a:latin typeface="Courier New"/>
                        <a:ea typeface="ＭＳ 明朝"/>
                        <a:cs typeface="Times New Roman"/>
                      </a:endParaRPr>
                    </a:p>
                  </a:txBody>
                  <a:tcPr marL="68580" marR="68580" marT="0" marB="0"/>
                </a:tc>
                <a:tc>
                  <a:txBody>
                    <a:bodyPr/>
                    <a:lstStyle/>
                    <a:p>
                      <a:pPr algn="just">
                        <a:spcAft>
                          <a:spcPts val="0"/>
                        </a:spcAft>
                      </a:pPr>
                      <a:r>
                        <a:rPr lang="ja-JP" sz="2800" kern="100" dirty="0">
                          <a:solidFill>
                            <a:schemeClr val="bg2">
                              <a:lumMod val="25000"/>
                            </a:schemeClr>
                          </a:solidFill>
                          <a:effectLst/>
                        </a:rPr>
                        <a:t>各ページの見直し</a:t>
                      </a:r>
                    </a:p>
                    <a:p>
                      <a:pPr algn="just">
                        <a:spcAft>
                          <a:spcPts val="0"/>
                        </a:spcAft>
                      </a:pPr>
                      <a:r>
                        <a:rPr lang="en-US" sz="2800" kern="100" dirty="0">
                          <a:solidFill>
                            <a:schemeClr val="bg2">
                              <a:lumMod val="25000"/>
                            </a:schemeClr>
                          </a:solidFill>
                          <a:effectLst/>
                        </a:rPr>
                        <a:t>PHP</a:t>
                      </a:r>
                      <a:r>
                        <a:rPr lang="ja-JP" sz="2800" kern="100" dirty="0">
                          <a:solidFill>
                            <a:schemeClr val="bg2">
                              <a:lumMod val="25000"/>
                            </a:schemeClr>
                          </a:solidFill>
                          <a:effectLst/>
                        </a:rPr>
                        <a:t>作成</a:t>
                      </a:r>
                      <a:endParaRPr lang="ja-JP" sz="2800" kern="100" dirty="0">
                        <a:solidFill>
                          <a:schemeClr val="bg2">
                            <a:lumMod val="25000"/>
                          </a:schemeClr>
                        </a:solidFill>
                        <a:effectLst/>
                        <a:latin typeface="Courier New"/>
                        <a:ea typeface="ＭＳ 明朝"/>
                        <a:cs typeface="Times New Roman"/>
                      </a:endParaRPr>
                    </a:p>
                  </a:txBody>
                  <a:tcPr marL="68580" marR="68580" marT="0" marB="0"/>
                </a:tc>
              </a:tr>
              <a:tr h="1191708">
                <a:tc>
                  <a:txBody>
                    <a:bodyPr/>
                    <a:lstStyle/>
                    <a:p>
                      <a:pPr algn="just">
                        <a:spcAft>
                          <a:spcPts val="0"/>
                        </a:spcAft>
                      </a:pPr>
                      <a:r>
                        <a:rPr lang="en-US" sz="2800" kern="100">
                          <a:effectLst/>
                        </a:rPr>
                        <a:t>1</a:t>
                      </a:r>
                      <a:r>
                        <a:rPr lang="ja-JP" sz="2800" kern="100">
                          <a:effectLst/>
                        </a:rPr>
                        <a:t>月</a:t>
                      </a:r>
                      <a:endParaRPr lang="ja-JP" sz="2800" kern="100">
                        <a:effectLst/>
                        <a:latin typeface="Courier New"/>
                        <a:ea typeface="ＭＳ 明朝"/>
                        <a:cs typeface="Times New Roman"/>
                      </a:endParaRPr>
                    </a:p>
                  </a:txBody>
                  <a:tcPr marL="68580" marR="68580" marT="0" marB="0"/>
                </a:tc>
                <a:tc>
                  <a:txBody>
                    <a:bodyPr/>
                    <a:lstStyle/>
                    <a:p>
                      <a:pPr algn="just">
                        <a:spcAft>
                          <a:spcPts val="0"/>
                        </a:spcAft>
                      </a:pPr>
                      <a:r>
                        <a:rPr lang="ja-JP" sz="2800" kern="100" dirty="0">
                          <a:solidFill>
                            <a:schemeClr val="bg2">
                              <a:lumMod val="25000"/>
                            </a:schemeClr>
                          </a:solidFill>
                          <a:effectLst/>
                        </a:rPr>
                        <a:t>管理者機能の作成</a:t>
                      </a:r>
                    </a:p>
                    <a:p>
                      <a:pPr algn="just">
                        <a:spcAft>
                          <a:spcPts val="0"/>
                        </a:spcAft>
                      </a:pPr>
                      <a:r>
                        <a:rPr lang="ja-JP" sz="2800" kern="100" dirty="0">
                          <a:solidFill>
                            <a:schemeClr val="bg2">
                              <a:lumMod val="25000"/>
                            </a:schemeClr>
                          </a:solidFill>
                          <a:effectLst/>
                        </a:rPr>
                        <a:t>データベース作成</a:t>
                      </a:r>
                      <a:endParaRPr lang="ja-JP" sz="2800" kern="100" dirty="0">
                        <a:solidFill>
                          <a:schemeClr val="bg2">
                            <a:lumMod val="25000"/>
                          </a:schemeClr>
                        </a:solidFill>
                        <a:effectLst/>
                        <a:latin typeface="Courier New"/>
                        <a:ea typeface="ＭＳ 明朝"/>
                        <a:cs typeface="Times New Roman"/>
                      </a:endParaRPr>
                    </a:p>
                  </a:txBody>
                  <a:tcPr marL="68580" marR="68580" marT="0" marB="0"/>
                </a:tc>
              </a:tr>
              <a:tr h="1472662">
                <a:tc>
                  <a:txBody>
                    <a:bodyPr/>
                    <a:lstStyle/>
                    <a:p>
                      <a:pPr algn="just">
                        <a:spcAft>
                          <a:spcPts val="0"/>
                        </a:spcAft>
                      </a:pPr>
                      <a:r>
                        <a:rPr lang="en-US" sz="2800" kern="100" dirty="0">
                          <a:effectLst/>
                        </a:rPr>
                        <a:t>2</a:t>
                      </a:r>
                      <a:r>
                        <a:rPr lang="ja-JP" sz="2800" kern="100" dirty="0">
                          <a:effectLst/>
                        </a:rPr>
                        <a:t>月</a:t>
                      </a:r>
                      <a:endParaRPr lang="ja-JP" sz="2800" kern="100" dirty="0">
                        <a:effectLst/>
                        <a:latin typeface="Courier New"/>
                        <a:ea typeface="ＭＳ 明朝"/>
                        <a:cs typeface="Times New Roman"/>
                      </a:endParaRPr>
                    </a:p>
                  </a:txBody>
                  <a:tcPr marL="68580" marR="68580" marT="0" marB="0"/>
                </a:tc>
                <a:tc>
                  <a:txBody>
                    <a:bodyPr/>
                    <a:lstStyle/>
                    <a:p>
                      <a:pPr algn="just">
                        <a:spcAft>
                          <a:spcPts val="0"/>
                        </a:spcAft>
                      </a:pPr>
                      <a:r>
                        <a:rPr lang="ja-JP" sz="2800" kern="100" dirty="0">
                          <a:solidFill>
                            <a:schemeClr val="bg2">
                              <a:lumMod val="25000"/>
                            </a:schemeClr>
                          </a:solidFill>
                          <a:effectLst/>
                        </a:rPr>
                        <a:t>各ページの見直し</a:t>
                      </a:r>
                    </a:p>
                    <a:p>
                      <a:pPr algn="just">
                        <a:spcAft>
                          <a:spcPts val="0"/>
                        </a:spcAft>
                      </a:pPr>
                      <a:r>
                        <a:rPr lang="ja-JP" sz="2800" kern="100" dirty="0">
                          <a:solidFill>
                            <a:schemeClr val="bg2">
                              <a:lumMod val="25000"/>
                            </a:schemeClr>
                          </a:solidFill>
                          <a:effectLst/>
                        </a:rPr>
                        <a:t>新刊</a:t>
                      </a:r>
                      <a:r>
                        <a:rPr lang="en-US" sz="2800" kern="100" dirty="0">
                          <a:solidFill>
                            <a:schemeClr val="bg2">
                              <a:lumMod val="25000"/>
                            </a:schemeClr>
                          </a:solidFill>
                          <a:effectLst/>
                        </a:rPr>
                        <a:t>, </a:t>
                      </a:r>
                      <a:r>
                        <a:rPr lang="ja-JP" sz="2800" kern="100" dirty="0">
                          <a:solidFill>
                            <a:schemeClr val="bg2">
                              <a:lumMod val="25000"/>
                            </a:schemeClr>
                          </a:solidFill>
                          <a:effectLst/>
                        </a:rPr>
                        <a:t>最近読んだ本の登録機能の確認</a:t>
                      </a:r>
                      <a:endParaRPr lang="ja-JP" sz="2800" kern="100" dirty="0">
                        <a:solidFill>
                          <a:schemeClr val="bg2">
                            <a:lumMod val="25000"/>
                          </a:schemeClr>
                        </a:solidFill>
                        <a:effectLst/>
                        <a:latin typeface="Courier New"/>
                        <a:ea typeface="ＭＳ 明朝"/>
                        <a:cs typeface="Times New Roman"/>
                      </a:endParaRPr>
                    </a:p>
                  </a:txBody>
                  <a:tcPr marL="68580" marR="68580" marT="0" marB="0"/>
                </a:tc>
              </a:tr>
            </a:tbl>
          </a:graphicData>
        </a:graphic>
      </p:graphicFrame>
    </p:spTree>
    <p:extLst>
      <p:ext uri="{BB962C8B-B14F-4D97-AF65-F5344CB8AC3E}">
        <p14:creationId xmlns:p14="http://schemas.microsoft.com/office/powerpoint/2010/main" val="4263256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
                                        </p:tgtEl>
                                      </p:cBhvr>
                                    </p:animEffect>
                                    <p:animScale>
                                      <p:cBhvr>
                                        <p:cTn id="7" dur="250" autoRev="1" fill="hold"/>
                                        <p:tgtEl>
                                          <p:spTgt spid="3"/>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p:cNvSpPr>
            <a:spLocks noGrp="1"/>
          </p:cNvSpPr>
          <p:nvPr>
            <p:ph idx="1"/>
          </p:nvPr>
        </p:nvSpPr>
        <p:spPr/>
        <p:txBody>
          <a:bodyPr/>
          <a:lstStyle/>
          <a:p>
            <a:r>
              <a:rPr lang="ja-JP" altLang="ja-JP" sz="2800" dirty="0"/>
              <a:t>①</a:t>
            </a:r>
            <a:r>
              <a:rPr lang="en-US" altLang="ja-JP" sz="2800" dirty="0" err="1"/>
              <a:t>PHP+MySQL</a:t>
            </a:r>
            <a:r>
              <a:rPr lang="ja-JP" altLang="ja-JP" sz="2800" dirty="0"/>
              <a:t>マスターブック</a:t>
            </a:r>
          </a:p>
          <a:p>
            <a:r>
              <a:rPr lang="ja-JP" altLang="ja-JP" sz="2800" dirty="0"/>
              <a:t>②</a:t>
            </a:r>
            <a:r>
              <a:rPr lang="en-US" altLang="ja-JP" sz="2800" dirty="0"/>
              <a:t>CSS</a:t>
            </a:r>
            <a:r>
              <a:rPr lang="ja-JP" altLang="ja-JP" sz="2800" dirty="0"/>
              <a:t>デザインのメソッド</a:t>
            </a:r>
          </a:p>
          <a:p>
            <a:r>
              <a:rPr lang="ja-JP" altLang="ja-JP" sz="2800" dirty="0"/>
              <a:t>③</a:t>
            </a:r>
            <a:r>
              <a:rPr lang="en-US" altLang="ja-JP" sz="2800" dirty="0"/>
              <a:t>Web</a:t>
            </a:r>
            <a:r>
              <a:rPr lang="ja-JP" altLang="ja-JP" sz="2800" dirty="0"/>
              <a:t>デザインテクニックブック</a:t>
            </a:r>
          </a:p>
          <a:p>
            <a:r>
              <a:rPr lang="ja-JP" altLang="ja-JP" sz="2800" dirty="0"/>
              <a:t>④</a:t>
            </a:r>
            <a:r>
              <a:rPr lang="en-US" altLang="ja-JP" sz="2800" dirty="0"/>
              <a:t>HTML5+CSS3</a:t>
            </a:r>
            <a:r>
              <a:rPr lang="ja-JP" altLang="ja-JP" sz="2800" dirty="0"/>
              <a:t>の新しい教科書</a:t>
            </a:r>
          </a:p>
          <a:p>
            <a:endParaRPr kumimoji="1" lang="ja-JP" altLang="en-US" dirty="0"/>
          </a:p>
        </p:txBody>
      </p:sp>
      <p:sp>
        <p:nvSpPr>
          <p:cNvPr id="3" name="タイトル 2"/>
          <p:cNvSpPr>
            <a:spLocks noGrp="1"/>
          </p:cNvSpPr>
          <p:nvPr>
            <p:ph type="title"/>
          </p:nvPr>
        </p:nvSpPr>
        <p:spPr/>
        <p:txBody>
          <a:bodyPr/>
          <a:lstStyle/>
          <a:p>
            <a:r>
              <a:rPr kumimoji="1" lang="ja-JP" altLang="en-US" dirty="0" smtClean="0"/>
              <a:t>参考文献</a:t>
            </a:r>
            <a:endParaRPr kumimoji="1" lang="ja-JP" altLang="en-US" dirty="0"/>
          </a:p>
        </p:txBody>
      </p:sp>
    </p:spTree>
    <p:extLst>
      <p:ext uri="{BB962C8B-B14F-4D97-AF65-F5344CB8AC3E}">
        <p14:creationId xmlns:p14="http://schemas.microsoft.com/office/powerpoint/2010/main" val="84262639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p:cNvSpPr txBox="1"/>
          <p:nvPr/>
        </p:nvSpPr>
        <p:spPr>
          <a:xfrm>
            <a:off x="323528" y="2924944"/>
            <a:ext cx="8428911" cy="923330"/>
          </a:xfrm>
          <a:prstGeom prst="rect">
            <a:avLst/>
          </a:prstGeom>
          <a:noFill/>
        </p:spPr>
        <p:txBody>
          <a:bodyPr wrap="none" rtlCol="0">
            <a:spAutoFit/>
          </a:bodyPr>
          <a:lstStyle/>
          <a:p>
            <a:r>
              <a:rPr kumimoji="1" lang="ja-JP" altLang="en-US" sz="5400" dirty="0" smtClean="0"/>
              <a:t>ご清聴ありがとうございました</a:t>
            </a:r>
            <a:endParaRPr kumimoji="1" lang="ja-JP" altLang="en-US" sz="5400" dirty="0"/>
          </a:p>
        </p:txBody>
      </p:sp>
    </p:spTree>
    <p:extLst>
      <p:ext uri="{BB962C8B-B14F-4D97-AF65-F5344CB8AC3E}">
        <p14:creationId xmlns:p14="http://schemas.microsoft.com/office/powerpoint/2010/main" val="1879635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ウェーブ">
  <a:themeElements>
    <a:clrScheme name="ウェーブ">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ウェーブ">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ウェーブ">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2352</TotalTime>
  <Words>801</Words>
  <Application>Microsoft Office PowerPoint</Application>
  <PresentationFormat>画面に合わせる (4:3)</PresentationFormat>
  <Paragraphs>175</Paragraphs>
  <Slides>20</Slides>
  <Notes>20</Notes>
  <HiddenSlides>0</HiddenSlides>
  <MMClips>0</MMClips>
  <ScaleCrop>false</ScaleCrop>
  <HeadingPairs>
    <vt:vector size="6" baseType="variant">
      <vt:variant>
        <vt:lpstr>テーマ</vt:lpstr>
      </vt:variant>
      <vt:variant>
        <vt:i4>1</vt:i4>
      </vt:variant>
      <vt:variant>
        <vt:lpstr>埋め込まれた OLE サーバー</vt:lpstr>
      </vt:variant>
      <vt:variant>
        <vt:i4>1</vt:i4>
      </vt:variant>
      <vt:variant>
        <vt:lpstr>スライド タイトル</vt:lpstr>
      </vt:variant>
      <vt:variant>
        <vt:i4>20</vt:i4>
      </vt:variant>
    </vt:vector>
  </HeadingPairs>
  <TitlesOfParts>
    <vt:vector size="22" baseType="lpstr">
      <vt:lpstr>ウェーブ</vt:lpstr>
      <vt:lpstr>Microsoft Visio 図面</vt:lpstr>
      <vt:lpstr>読書記録サイトの構築</vt:lpstr>
      <vt:lpstr>テーマ選定理由</vt:lpstr>
      <vt:lpstr>研究概要</vt:lpstr>
      <vt:lpstr>開発環境</vt:lpstr>
      <vt:lpstr>システム概要</vt:lpstr>
      <vt:lpstr>PowerPoint プレゼンテーション</vt:lpstr>
      <vt:lpstr>ログイン画面</vt:lpstr>
      <vt:lpstr>会員登録</vt:lpstr>
      <vt:lpstr>トップ画面(マイページ)</vt:lpstr>
      <vt:lpstr>最近読んだ本</vt:lpstr>
      <vt:lpstr>オススメの本</vt:lpstr>
      <vt:lpstr>新刊情報</vt:lpstr>
      <vt:lpstr>読書カレンダー</vt:lpstr>
      <vt:lpstr>本棚</vt:lpstr>
      <vt:lpstr>管理者機能・その他</vt:lpstr>
      <vt:lpstr>データベース</vt:lpstr>
      <vt:lpstr>システム全体の進行状況</vt:lpstr>
      <vt:lpstr>作業計画</vt:lpstr>
      <vt:lpstr>参考文献</vt:lpstr>
      <vt:lpstr>PowerPoint プレゼンテーション</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h27cis15</dc:creator>
  <cp:lastModifiedBy>h27cis15</cp:lastModifiedBy>
  <cp:revision>52</cp:revision>
  <cp:lastPrinted>2016-12-21T04:41:27Z</cp:lastPrinted>
  <dcterms:created xsi:type="dcterms:W3CDTF">2016-08-25T02:36:00Z</dcterms:created>
  <dcterms:modified xsi:type="dcterms:W3CDTF">2016-12-21T04:47:11Z</dcterms:modified>
</cp:coreProperties>
</file>