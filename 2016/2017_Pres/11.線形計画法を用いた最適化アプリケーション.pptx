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79" r:id="rId4"/>
    <p:sldId id="275" r:id="rId5"/>
    <p:sldId id="259" r:id="rId6"/>
    <p:sldId id="261" r:id="rId7"/>
    <p:sldId id="260" r:id="rId8"/>
    <p:sldId id="263" r:id="rId9"/>
    <p:sldId id="264" r:id="rId10"/>
    <p:sldId id="265" r:id="rId11"/>
    <p:sldId id="266" r:id="rId12"/>
    <p:sldId id="276" r:id="rId13"/>
    <p:sldId id="267" r:id="rId14"/>
    <p:sldId id="271" r:id="rId15"/>
    <p:sldId id="268" r:id="rId16"/>
    <p:sldId id="269" r:id="rId17"/>
    <p:sldId id="270" r:id="rId18"/>
    <p:sldId id="272" r:id="rId19"/>
    <p:sldId id="273" r:id="rId20"/>
    <p:sldId id="274" r:id="rId21"/>
    <p:sldId id="277" r:id="rId22"/>
    <p:sldId id="278" r:id="rId23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FD840-96B3-49C4-AF0E-102787898578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652C9-95C2-4F66-AF68-B05F7E655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41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5BFF9-1E25-42CC-B5F5-6FF61ABCC745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945FD-35A7-45A6-BE38-F3464675A2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757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945FD-35A7-45A6-BE38-F3464675A2A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909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945FD-35A7-45A6-BE38-F3464675A2A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5415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正方形/長方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正方形/長方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正方形/長方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正方形/長方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角丸四角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角丸四角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正方形/長方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正方形/長方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正方形/長方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正方形/長方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8" name="日付プレースホルダー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68A39B6-2B17-4AAA-B4D5-FD51A971888F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17" name="フッター プレースホルダー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9" name="スライド番号プレースホルダー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24-DB58-419A-AA8B-D0F493568A30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D18E-D29B-44A4-8178-6F29F2126907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736F-F17F-483E-A2BB-C600CC205547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26" name="日付プレースホルダー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00794E0-8845-452D-9186-F7B56566C102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8" name="フッター プレースホルダー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E2CC6E95-677F-43A4-A51E-C88AD5901694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2D20-21C8-446B-A446-CF5DD13AF1AC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EC96-723B-4AE8-A8A8-8B6B921D0DEB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43014-FE5E-4C06-812C-DB074632934F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8384-5B9C-430B-AB79-BBBD2BFC1FE3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FDAB-8F40-4F73-8091-3F953AD4FDB5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正方形/長方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正方形/長方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正方形/長方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正方形/長方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角丸四角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角丸四角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正方形/長方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正方形/長方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正方形/長方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正方形/長方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正方形/長方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正方形/長方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タイトル プレースホルダー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4" name="日付プレースホルダー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8B7B2FC-E5B4-4D45-AE87-E3EE5AAA977E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3" name="スライド番号プレースホルダー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C9ED1B0-1961-4958-AFA4-83560CEAEA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1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1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1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1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1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1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1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1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1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akura.co.jp/books/isbn/978-4-254-27556-8/" TargetMode="External"/><Relationship Id="rId2" Type="http://schemas.openxmlformats.org/officeDocument/2006/relationships/hyperlink" Target="http://www.asakura.co.jp/books/isbn/978-4-254-11786-8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1.bbiq.jp/takeharu/" TargetMode="External"/><Relationship Id="rId2" Type="http://schemas.openxmlformats.org/officeDocument/2006/relationships/hyperlink" Target="http://www.javadrive.j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線形計画法を用いた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最適化</a:t>
            </a:r>
            <a:r>
              <a:rPr lang="ja-JP" altLang="en-US" dirty="0"/>
              <a:t>アプリケーション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smtClean="0"/>
              <a:t>5</a:t>
            </a:r>
            <a:r>
              <a:rPr kumimoji="1" lang="ja-JP" altLang="en-US" dirty="0" smtClean="0"/>
              <a:t>番　菊池 晃弘</a:t>
            </a:r>
            <a:endParaRPr kumimoji="1" lang="en-US" altLang="ja-JP" dirty="0" smtClean="0"/>
          </a:p>
          <a:p>
            <a:r>
              <a:rPr lang="ja-JP" altLang="en-US" dirty="0" smtClean="0"/>
              <a:t>担当教員</a:t>
            </a:r>
            <a:r>
              <a:rPr lang="en-US" altLang="ja-JP" dirty="0" smtClean="0"/>
              <a:t>	</a:t>
            </a:r>
            <a:r>
              <a:rPr lang="ja-JP" altLang="en-US" dirty="0" smtClean="0"/>
              <a:t>佐々木 建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02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発表</a:t>
            </a:r>
            <a:r>
              <a:rPr lang="ja-JP" altLang="en-US" dirty="0"/>
              <a:t>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はじめに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2.</a:t>
            </a:r>
            <a:r>
              <a:rPr lang="ja-JP" altLang="en-US" dirty="0" smtClean="0"/>
              <a:t>研究概要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en-US" altLang="ja-JP" dirty="0" smtClean="0"/>
              <a:t>3.</a:t>
            </a:r>
            <a:r>
              <a:rPr kumimoji="1" lang="ja-JP" altLang="en-US" dirty="0" smtClean="0"/>
              <a:t>システム概要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4.</a:t>
            </a:r>
            <a:r>
              <a:rPr lang="ja-JP" altLang="en-US" dirty="0" smtClean="0"/>
              <a:t>進捗状況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en-US" altLang="ja-JP" dirty="0" smtClean="0"/>
              <a:t>5.</a:t>
            </a:r>
            <a:r>
              <a:rPr kumimoji="1" lang="ja-JP" altLang="en-US" dirty="0" smtClean="0"/>
              <a:t>今後の予定</a:t>
            </a:r>
            <a:endParaRPr kumimoji="1" lang="en-US" altLang="ja-JP" dirty="0" smtClean="0"/>
          </a:p>
          <a:p>
            <a:pPr marL="0" indent="0">
              <a:buNone/>
            </a:pPr>
            <a:r>
              <a:rPr kumimoji="1" lang="en-US" altLang="ja-JP" dirty="0" smtClean="0"/>
              <a:t>6.</a:t>
            </a:r>
            <a:r>
              <a:rPr kumimoji="1" lang="ja-JP" altLang="en-US" dirty="0" smtClean="0"/>
              <a:t>参考文献・参考サイト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37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はじめに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 smtClean="0"/>
              <a:t>・</a:t>
            </a:r>
            <a:r>
              <a:rPr lang="ja-JP" altLang="en-US" dirty="0"/>
              <a:t>線形計画問題の計算が複雑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その上多くの時間を要した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計算アプリケーションを作り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計算を楽にできないかと考えた</a:t>
            </a:r>
          </a:p>
          <a:p>
            <a:pPr marL="109728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22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はじめに　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32511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/>
              <a:t>Q.</a:t>
            </a:r>
            <a:r>
              <a:rPr lang="ja-JP" altLang="en-US" dirty="0" smtClean="0"/>
              <a:t>そもそも</a:t>
            </a:r>
            <a:r>
              <a:rPr lang="ja-JP" altLang="en-US" dirty="0" smtClean="0">
                <a:solidFill>
                  <a:srgbClr val="FF0000"/>
                </a:solidFill>
              </a:rPr>
              <a:t>線形計画問題</a:t>
            </a:r>
            <a:r>
              <a:rPr lang="ja-JP" altLang="en-US" dirty="0" smtClean="0"/>
              <a:t>とは？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 smtClean="0"/>
              <a:t>A.</a:t>
            </a:r>
            <a:r>
              <a:rPr lang="ja-JP" altLang="en-US" dirty="0" smtClean="0">
                <a:solidFill>
                  <a:srgbClr val="00B050"/>
                </a:solidFill>
              </a:rPr>
              <a:t>沢山の条件式</a:t>
            </a:r>
            <a:r>
              <a:rPr lang="ja-JP" altLang="en-US" dirty="0" smtClean="0"/>
              <a:t>から最適な答えを求める問題。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 smtClean="0"/>
              <a:t>Q.</a:t>
            </a:r>
            <a:r>
              <a:rPr lang="ja-JP" altLang="en-US" dirty="0" smtClean="0">
                <a:solidFill>
                  <a:srgbClr val="FF0000"/>
                </a:solidFill>
              </a:rPr>
              <a:t>線形計画法</a:t>
            </a:r>
            <a:r>
              <a:rPr lang="ja-JP" altLang="en-US" dirty="0" smtClean="0"/>
              <a:t>とは？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 smtClean="0"/>
              <a:t>A.</a:t>
            </a:r>
            <a:r>
              <a:rPr lang="ja-JP" altLang="en-US" dirty="0" smtClean="0"/>
              <a:t>線形計画問題を解く</a:t>
            </a:r>
            <a:r>
              <a:rPr lang="ja-JP" altLang="en-US" dirty="0" smtClean="0">
                <a:solidFill>
                  <a:srgbClr val="00B050"/>
                </a:solidFill>
              </a:rPr>
              <a:t>方法</a:t>
            </a:r>
            <a:r>
              <a:rPr lang="ja-JP" altLang="en-US" dirty="0" smtClean="0"/>
              <a:t>のこと。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料理のレシピや工業の材料計算などに用い</a:t>
            </a:r>
            <a:r>
              <a:rPr lang="ja-JP" altLang="en-US" dirty="0"/>
              <a:t>る</a:t>
            </a:r>
            <a:endParaRPr lang="en-US" altLang="ja-JP" dirty="0" smtClean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6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 smtClean="0"/>
              <a:t>目的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線形計画問題の計算を第一とし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/>
              <a:t>用途に</a:t>
            </a:r>
            <a:r>
              <a:rPr kumimoji="1" lang="ja-JP" altLang="en-US" dirty="0" smtClean="0"/>
              <a:t>沿った</a:t>
            </a:r>
            <a:r>
              <a:rPr kumimoji="1" lang="ja-JP" altLang="en-US" sz="3600" dirty="0" smtClean="0">
                <a:solidFill>
                  <a:srgbClr val="00B050"/>
                </a:solidFill>
              </a:rPr>
              <a:t>最適値の取得</a:t>
            </a:r>
            <a:r>
              <a:rPr kumimoji="1" lang="ja-JP" altLang="en-US" dirty="0" smtClean="0"/>
              <a:t>を目標とする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57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 smtClean="0"/>
              <a:t>開発環境</a:t>
            </a:r>
            <a:endParaRPr lang="en-US" altLang="ja-JP" dirty="0" smtClean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11057"/>
              </p:ext>
            </p:extLst>
          </p:nvPr>
        </p:nvGraphicFramePr>
        <p:xfrm>
          <a:off x="1763688" y="2924944"/>
          <a:ext cx="5688632" cy="3132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4316"/>
                <a:gridCol w="2844316"/>
              </a:tblGrid>
              <a:tr h="12166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300" kern="100" dirty="0">
                          <a:effectLst/>
                        </a:rPr>
                        <a:t>OS</a:t>
                      </a:r>
                      <a:endParaRPr lang="ja-JP" sz="33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57030" marR="5703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</a:rPr>
                        <a:t>Windows7</a:t>
                      </a:r>
                      <a:endParaRPr lang="ja-JP" sz="32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57030" marR="57030" marT="0" marB="0"/>
                </a:tc>
              </a:tr>
              <a:tr h="9580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3300" kern="100" dirty="0">
                          <a:effectLst/>
                        </a:rPr>
                        <a:t>開発言語</a:t>
                      </a:r>
                      <a:endParaRPr lang="ja-JP" sz="33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57030" marR="5703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</a:rPr>
                        <a:t>Java</a:t>
                      </a:r>
                      <a:endParaRPr lang="ja-JP" sz="32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57030" marR="57030" marT="0" marB="0"/>
                </a:tc>
              </a:tr>
              <a:tr h="9580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3300" kern="100" dirty="0">
                          <a:effectLst/>
                        </a:rPr>
                        <a:t>開発ソフト</a:t>
                      </a:r>
                      <a:endParaRPr lang="ja-JP" sz="33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57030" marR="5703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</a:rPr>
                        <a:t>Eclipse</a:t>
                      </a:r>
                      <a:endParaRPr lang="ja-JP" sz="32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57030" marR="57030" marT="0" marB="0"/>
                </a:tc>
              </a:tr>
            </a:tbl>
          </a:graphicData>
        </a:graphic>
      </p:graphicFrame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67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システム概要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 smtClean="0"/>
              <a:t>①制約条件</a:t>
            </a:r>
            <a:r>
              <a:rPr lang="ja-JP" altLang="en-US" dirty="0"/>
              <a:t>式</a:t>
            </a:r>
            <a:r>
              <a:rPr kumimoji="1" lang="ja-JP" altLang="en-US" dirty="0" smtClean="0"/>
              <a:t>が</a:t>
            </a:r>
            <a:r>
              <a:rPr kumimoji="1" lang="en-US" altLang="ja-JP" dirty="0" smtClean="0"/>
              <a:t>100</a:t>
            </a:r>
            <a:r>
              <a:rPr kumimoji="1" lang="ja-JP" altLang="en-US" dirty="0" smtClean="0"/>
              <a:t>個までの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　</a:t>
            </a:r>
            <a:r>
              <a:rPr kumimoji="1" lang="ja-JP" altLang="en-US" sz="3200" dirty="0" smtClean="0">
                <a:solidFill>
                  <a:srgbClr val="00B050"/>
                </a:solidFill>
              </a:rPr>
              <a:t>線形計画問題を解く</a:t>
            </a:r>
            <a:r>
              <a:rPr kumimoji="1" lang="ja-JP" altLang="en-US" dirty="0" smtClean="0"/>
              <a:t>ことが出来る</a:t>
            </a:r>
            <a:endParaRPr kumimoji="1" lang="en-US" altLang="ja-JP" dirty="0" smtClean="0"/>
          </a:p>
          <a:p>
            <a:pPr marL="0" indent="0">
              <a:buNone/>
            </a:pP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②解答の</a:t>
            </a:r>
            <a:r>
              <a:rPr lang="ja-JP" altLang="en-US" sz="3200" dirty="0" smtClean="0">
                <a:solidFill>
                  <a:srgbClr val="00B050"/>
                </a:solidFill>
              </a:rPr>
              <a:t>最大値 </a:t>
            </a:r>
            <a:r>
              <a:rPr lang="ja-JP" altLang="en-US" dirty="0" smtClean="0"/>
              <a:t>または</a:t>
            </a:r>
            <a:r>
              <a:rPr lang="ja-JP" altLang="en-US" sz="3200" dirty="0" smtClean="0">
                <a:solidFill>
                  <a:srgbClr val="00B050"/>
                </a:solidFill>
              </a:rPr>
              <a:t> 最小値を求める</a:t>
            </a:r>
            <a:endParaRPr kumimoji="1" lang="ja-JP" altLang="en-US" sz="3200" dirty="0">
              <a:solidFill>
                <a:srgbClr val="00B050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12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h27cis05\Pictures\kota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672535"/>
            <a:ext cx="5616625" cy="418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システム概要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2132856"/>
            <a:ext cx="8229600" cy="432511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①制約条件式が</a:t>
            </a:r>
            <a:r>
              <a:rPr lang="en-US" altLang="ja-JP" dirty="0">
                <a:solidFill>
                  <a:srgbClr val="FF0000"/>
                </a:solidFill>
              </a:rPr>
              <a:t>100</a:t>
            </a:r>
            <a:r>
              <a:rPr lang="ja-JP" altLang="en-US" dirty="0">
                <a:solidFill>
                  <a:srgbClr val="FF0000"/>
                </a:solidFill>
              </a:rPr>
              <a:t>個まで</a:t>
            </a:r>
            <a:r>
              <a:rPr lang="ja-JP" altLang="en-US" dirty="0"/>
              <a:t>の線形計画問題を解くことが出来る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8521-A566-440B-8F33-F0838121608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06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h27cis05\Pictures\kota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97433"/>
            <a:ext cx="5616625" cy="418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条件式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 smtClean="0"/>
              <a:t>				</a:t>
            </a:r>
            <a:r>
              <a:rPr lang="ja-JP" altLang="en-US" dirty="0" smtClean="0"/>
              <a:t>最適値条件式 </a:t>
            </a:r>
            <a:r>
              <a:rPr lang="en-US" altLang="ja-JP" dirty="0" smtClean="0"/>
              <a:t>z = 4x+3y</a:t>
            </a:r>
          </a:p>
          <a:p>
            <a:pPr marL="0" indent="0">
              <a:buNone/>
            </a:pPr>
            <a:r>
              <a:rPr lang="en-US" altLang="ja-JP" dirty="0" smtClean="0"/>
              <a:t>				</a:t>
            </a:r>
            <a:r>
              <a:rPr lang="ja-JP" altLang="en-US" dirty="0" smtClean="0"/>
              <a:t>制約条件式 </a:t>
            </a:r>
            <a:r>
              <a:rPr lang="en-US" altLang="ja-JP" dirty="0" smtClean="0"/>
              <a:t>x</a:t>
            </a:r>
            <a:r>
              <a:rPr lang="ja-JP" altLang="en-US" dirty="0" smtClean="0"/>
              <a:t>≧</a:t>
            </a:r>
            <a:r>
              <a:rPr lang="en-US" altLang="ja-JP" dirty="0" smtClean="0"/>
              <a:t>0,y</a:t>
            </a:r>
            <a:r>
              <a:rPr lang="ja-JP" altLang="en-US" dirty="0" smtClean="0"/>
              <a:t>≧</a:t>
            </a:r>
            <a:r>
              <a:rPr lang="en-US" altLang="ja-JP" dirty="0" smtClean="0"/>
              <a:t>0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                   		 		  x+2y &lt;= 26</a:t>
            </a:r>
          </a:p>
          <a:p>
            <a:pPr marL="0" indent="0">
              <a:buNone/>
            </a:pPr>
            <a:r>
              <a:rPr lang="en-US" altLang="ja-JP" dirty="0" smtClean="0"/>
              <a:t>                      		 		2x+  y &lt;= 39</a:t>
            </a:r>
          </a:p>
          <a:p>
            <a:pPr marL="0" indent="0">
              <a:buNone/>
            </a:pPr>
            <a:r>
              <a:rPr lang="en-US" altLang="ja-JP" dirty="0" smtClean="0"/>
              <a:t>                       				3x+4y &lt;= 60                 </a:t>
            </a: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8521-A566-440B-8F33-F08381216088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6" name="雲形吹き出し 5"/>
          <p:cNvSpPr/>
          <p:nvPr/>
        </p:nvSpPr>
        <p:spPr>
          <a:xfrm>
            <a:off x="6084168" y="4725144"/>
            <a:ext cx="2736304" cy="1872208"/>
          </a:xfrm>
          <a:prstGeom prst="cloudCallout">
            <a:avLst>
              <a:gd name="adj1" fmla="val -33780"/>
              <a:gd name="adj2" fmla="val -50823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制約条件式が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増えるほど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負荷が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かかってゆく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514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h27cis05\Pictures\kota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651112"/>
            <a:ext cx="5616625" cy="418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システム</a:t>
            </a:r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32511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②</a:t>
            </a:r>
            <a:r>
              <a:rPr lang="ja-JP" altLang="en-US" dirty="0" smtClean="0">
                <a:solidFill>
                  <a:srgbClr val="FF0000"/>
                </a:solidFill>
              </a:rPr>
              <a:t>最大値 </a:t>
            </a:r>
            <a:r>
              <a:rPr lang="ja-JP" altLang="en-US" sz="2400" dirty="0"/>
              <a:t>また</a:t>
            </a:r>
            <a:r>
              <a:rPr lang="ja-JP" altLang="en-US" sz="2400" dirty="0" smtClean="0"/>
              <a:t>は</a:t>
            </a:r>
            <a:r>
              <a:rPr lang="ja-JP" altLang="en-US" dirty="0" smtClean="0">
                <a:solidFill>
                  <a:srgbClr val="FF0000"/>
                </a:solidFill>
              </a:rPr>
              <a:t> 最小値</a:t>
            </a:r>
            <a:r>
              <a:rPr lang="ja-JP" altLang="en-US" dirty="0"/>
              <a:t>を選んで求めることが出来る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8521-A566-440B-8F33-F0838121608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83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h27cis05\Pictures\kota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560403"/>
            <a:ext cx="5616625" cy="418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システム</a:t>
            </a:r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2130516"/>
            <a:ext cx="8229600" cy="432511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 smtClean="0"/>
              <a:t>②</a:t>
            </a:r>
            <a:r>
              <a:rPr lang="ja-JP" altLang="en-US" dirty="0" smtClean="0">
                <a:solidFill>
                  <a:srgbClr val="FF0000"/>
                </a:solidFill>
              </a:rPr>
              <a:t>最大値 </a:t>
            </a:r>
            <a:r>
              <a:rPr lang="ja-JP" altLang="en-US" sz="2400" dirty="0" smtClean="0"/>
              <a:t>または</a:t>
            </a:r>
            <a:r>
              <a:rPr lang="ja-JP" altLang="en-US" dirty="0" smtClean="0">
                <a:solidFill>
                  <a:srgbClr val="FF0000"/>
                </a:solidFill>
              </a:rPr>
              <a:t> 最小値</a:t>
            </a:r>
            <a:r>
              <a:rPr lang="ja-JP" altLang="en-US" dirty="0" smtClean="0"/>
              <a:t>を選んで求めることが出来る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8521-A566-440B-8F33-F08381216088}" type="slidenum">
              <a:rPr kumimoji="1" lang="ja-JP" altLang="en-US" smtClean="0"/>
              <a:t>11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/>
        </p:nvCxnSpPr>
        <p:spPr>
          <a:xfrm flipV="1">
            <a:off x="4905233" y="3757214"/>
            <a:ext cx="1341742" cy="1183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円/楕円 4"/>
          <p:cNvSpPr/>
          <p:nvPr/>
        </p:nvSpPr>
        <p:spPr>
          <a:xfrm>
            <a:off x="4778442" y="4850454"/>
            <a:ext cx="216000" cy="21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3851920" y="4173374"/>
            <a:ext cx="216000" cy="21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/>
          <p:cNvCxnSpPr>
            <a:stCxn id="6" idx="2"/>
          </p:cNvCxnSpPr>
          <p:nvPr/>
        </p:nvCxnSpPr>
        <p:spPr>
          <a:xfrm flipH="1" flipV="1">
            <a:off x="1763688" y="4029358"/>
            <a:ext cx="2088232" cy="25201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246975" y="3541298"/>
            <a:ext cx="1152127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>
                <a:solidFill>
                  <a:srgbClr val="C00000"/>
                </a:solidFill>
              </a:rPr>
              <a:t>最大値</a:t>
            </a:r>
            <a:endParaRPr kumimoji="1" lang="ja-JP" altLang="en-US" sz="2400" dirty="0">
              <a:solidFill>
                <a:srgbClr val="C00000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11561" y="3711709"/>
            <a:ext cx="1152127" cy="46166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>
                <a:solidFill>
                  <a:srgbClr val="7030A0"/>
                </a:solidFill>
              </a:rPr>
              <a:t>最小値</a:t>
            </a:r>
            <a:endParaRPr kumimoji="1" lang="ja-JP" alt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システム概要</a:t>
            </a:r>
            <a:r>
              <a:rPr lang="en-US" altLang="ja-JP" dirty="0" smtClean="0"/>
              <a:t>(</a:t>
            </a:r>
            <a:r>
              <a:rPr lang="ja-JP" altLang="en-US" dirty="0" smtClean="0"/>
              <a:t>フローチャート例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4" name="コンテンツ プレースホルダー 3" descr="P:\新しいフォルダー\server\図3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9793" y="2132856"/>
            <a:ext cx="3888432" cy="44409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66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進捗</a:t>
            </a:r>
            <a:r>
              <a:rPr lang="ja-JP" altLang="en-US" dirty="0"/>
              <a:t>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en-US" altLang="ja-JP" dirty="0" smtClean="0"/>
              <a:t> </a:t>
            </a:r>
            <a:r>
              <a:rPr kumimoji="1" lang="ja-JP" altLang="en-US" sz="3200" dirty="0" smtClean="0"/>
              <a:t>実装済み内容</a:t>
            </a:r>
            <a:endParaRPr kumimoji="1" lang="en-US" altLang="ja-JP" sz="3200" dirty="0" smtClean="0"/>
          </a:p>
          <a:p>
            <a:pPr marL="109728" indent="0">
              <a:buNone/>
            </a:pPr>
            <a:endParaRPr kumimoji="1" lang="en-US" altLang="ja-JP" sz="3200" dirty="0" smtClean="0"/>
          </a:p>
          <a:p>
            <a:pPr marL="109728" indent="0">
              <a:buNone/>
            </a:pPr>
            <a:r>
              <a:rPr lang="ja-JP" altLang="en-US" dirty="0" smtClean="0"/>
              <a:t>・解答の</a:t>
            </a:r>
            <a:r>
              <a:rPr lang="ja-JP" altLang="en-US" dirty="0" smtClean="0">
                <a:solidFill>
                  <a:srgbClr val="0070C0"/>
                </a:solidFill>
              </a:rPr>
              <a:t>最大化 </a:t>
            </a:r>
            <a:r>
              <a:rPr lang="ja-JP" altLang="en-US" dirty="0" smtClean="0"/>
              <a:t>または</a:t>
            </a:r>
            <a:r>
              <a:rPr lang="ja-JP" altLang="en-US" dirty="0" smtClean="0">
                <a:solidFill>
                  <a:srgbClr val="0070C0"/>
                </a:solidFill>
              </a:rPr>
              <a:t> 最小化ボタン</a:t>
            </a:r>
            <a:r>
              <a:rPr lang="ja-JP" altLang="en-US" dirty="0" smtClean="0"/>
              <a:t>の追加</a:t>
            </a:r>
            <a:endParaRPr lang="en-US" altLang="ja-JP" dirty="0" smtClean="0"/>
          </a:p>
          <a:p>
            <a:pPr marL="109728" indent="0">
              <a:buNone/>
            </a:pPr>
            <a:r>
              <a:rPr kumimoji="1" lang="ja-JP" altLang="en-US" dirty="0" smtClean="0"/>
              <a:t>・制約式及び最適値条件式を</a:t>
            </a:r>
            <a:r>
              <a:rPr kumimoji="1" lang="ja-JP" altLang="en-US" dirty="0" smtClean="0">
                <a:solidFill>
                  <a:srgbClr val="00B050"/>
                </a:solidFill>
              </a:rPr>
              <a:t>グラフ表示</a:t>
            </a:r>
            <a:endParaRPr kumimoji="1" lang="en-US" altLang="ja-JP" dirty="0" smtClean="0">
              <a:solidFill>
                <a:srgbClr val="00B050"/>
              </a:solidFill>
            </a:endParaRPr>
          </a:p>
          <a:p>
            <a:pPr marL="109728" indent="0">
              <a:buNone/>
            </a:pPr>
            <a:r>
              <a:rPr lang="ja-JP" altLang="en-US" dirty="0" smtClean="0"/>
              <a:t>・グラフの</a:t>
            </a:r>
            <a:r>
              <a:rPr lang="ja-JP" altLang="en-US" dirty="0" smtClean="0">
                <a:solidFill>
                  <a:srgbClr val="7030A0"/>
                </a:solidFill>
              </a:rPr>
              <a:t>拡大・縮小</a:t>
            </a:r>
            <a:r>
              <a:rPr lang="ja-JP" altLang="en-US" dirty="0" smtClean="0"/>
              <a:t>機能</a:t>
            </a:r>
            <a:endParaRPr lang="en-US" altLang="ja-JP" dirty="0" smtClean="0"/>
          </a:p>
          <a:p>
            <a:pPr marL="109728" indent="0">
              <a:buNone/>
            </a:pPr>
            <a:r>
              <a:rPr kumimoji="1" lang="ja-JP" altLang="en-US" dirty="0" smtClean="0"/>
              <a:t>・最適値条件式の</a:t>
            </a:r>
            <a:r>
              <a:rPr kumimoji="1" lang="ja-JP" altLang="en-US" dirty="0" smtClean="0">
                <a:solidFill>
                  <a:schemeClr val="accent4"/>
                </a:solidFill>
              </a:rPr>
              <a:t>増減ボタン</a:t>
            </a:r>
            <a:r>
              <a:rPr kumimoji="1" lang="ja-JP" altLang="en-US" dirty="0" smtClean="0"/>
              <a:t>の追加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54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ja-JP" altLang="en-US" dirty="0" smtClean="0"/>
              <a:t>・</a:t>
            </a:r>
            <a:r>
              <a:rPr lang="ja-JP" altLang="en-US" dirty="0"/>
              <a:t>アプリケーション</a:t>
            </a:r>
            <a:r>
              <a:rPr kumimoji="1" lang="ja-JP" altLang="en-US" dirty="0" smtClean="0"/>
              <a:t>実行例</a:t>
            </a:r>
            <a:endParaRPr kumimoji="1" lang="en-US" altLang="ja-JP" dirty="0" smtClean="0"/>
          </a:p>
          <a:p>
            <a:pPr marL="109728" indent="0">
              <a:buNone/>
            </a:pPr>
            <a:endParaRPr kumimoji="1" lang="ja-JP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158" y="2924944"/>
            <a:ext cx="8833226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81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ja-JP" altLang="en-US" dirty="0" smtClean="0"/>
              <a:t>・最適値の</a:t>
            </a:r>
            <a:r>
              <a:rPr lang="ja-JP" altLang="en-US" dirty="0" smtClean="0">
                <a:solidFill>
                  <a:srgbClr val="0070C0"/>
                </a:solidFill>
              </a:rPr>
              <a:t>最大化 </a:t>
            </a:r>
            <a:r>
              <a:rPr lang="ja-JP" altLang="en-US" dirty="0" smtClean="0"/>
              <a:t>または</a:t>
            </a:r>
            <a:r>
              <a:rPr lang="ja-JP" altLang="en-US" dirty="0" smtClean="0">
                <a:solidFill>
                  <a:srgbClr val="0070C0"/>
                </a:solidFill>
              </a:rPr>
              <a:t> 最小化ボタン</a:t>
            </a:r>
            <a:r>
              <a:rPr lang="ja-JP" altLang="en-US" dirty="0" smtClean="0"/>
              <a:t>の実装</a:t>
            </a:r>
            <a:endParaRPr kumimoji="1" lang="ja-JP" altLang="en-US" dirty="0"/>
          </a:p>
        </p:txBody>
      </p:sp>
      <p:pic>
        <p:nvPicPr>
          <p:cNvPr id="2050" name="Picture 2" descr="C:\Users\h27cis05\Pictures\liner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852935"/>
            <a:ext cx="5897562" cy="3381375"/>
          </a:xfrm>
          <a:prstGeom prst="rect">
            <a:avLst/>
          </a:prstGeom>
          <a:ln w="19050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19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ja-JP" altLang="en-US" dirty="0" smtClean="0"/>
              <a:t>・制約式及び最適値条件式を</a:t>
            </a:r>
            <a:r>
              <a:rPr kumimoji="1" lang="ja-JP" altLang="en-US" dirty="0" smtClean="0">
                <a:solidFill>
                  <a:srgbClr val="00B050"/>
                </a:solidFill>
              </a:rPr>
              <a:t>グラフ表示</a:t>
            </a:r>
            <a:endParaRPr kumimoji="1" lang="en-US" altLang="ja-JP" dirty="0" smtClean="0">
              <a:solidFill>
                <a:srgbClr val="00B050"/>
              </a:solidFill>
            </a:endParaRPr>
          </a:p>
          <a:p>
            <a:pPr marL="109728" indent="0">
              <a:buNone/>
            </a:pPr>
            <a:endParaRPr kumimoji="1" lang="ja-JP" altLang="en-US" dirty="0"/>
          </a:p>
        </p:txBody>
      </p:sp>
      <p:pic>
        <p:nvPicPr>
          <p:cNvPr id="3074" name="Picture 2" descr="C:\Users\h27cis05\Pictures\liner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780928"/>
            <a:ext cx="4761904" cy="3946731"/>
          </a:xfrm>
          <a:prstGeom prst="rect">
            <a:avLst/>
          </a:prstGeom>
          <a:ln w="28575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32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ja-JP" altLang="en-US" dirty="0" smtClean="0"/>
              <a:t>・グラフの</a:t>
            </a:r>
            <a:r>
              <a:rPr kumimoji="1" lang="ja-JP" altLang="en-US" dirty="0" smtClean="0">
                <a:solidFill>
                  <a:srgbClr val="7030A0"/>
                </a:solidFill>
              </a:rPr>
              <a:t>拡大・縮小</a:t>
            </a:r>
            <a:r>
              <a:rPr kumimoji="1" lang="ja-JP" altLang="en-US" dirty="0" smtClean="0"/>
              <a:t>機能を実装</a:t>
            </a:r>
            <a:endParaRPr kumimoji="1" lang="en-US" altLang="ja-JP" dirty="0" smtClean="0"/>
          </a:p>
          <a:p>
            <a:pPr marL="109728" indent="0">
              <a:buNone/>
            </a:pPr>
            <a:endParaRPr kumimoji="1" lang="en-US" altLang="ja-JP" dirty="0" smtClean="0"/>
          </a:p>
          <a:p>
            <a:pPr marL="109728" indent="0">
              <a:buNone/>
            </a:pPr>
            <a:endParaRPr kumimoji="1" lang="ja-JP" altLang="en-US" dirty="0"/>
          </a:p>
        </p:txBody>
      </p:sp>
      <p:pic>
        <p:nvPicPr>
          <p:cNvPr id="4098" name="Picture 2" descr="C:\Users\h27cis05\Pictures\kiner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817142"/>
            <a:ext cx="3761937" cy="3060130"/>
          </a:xfrm>
          <a:prstGeom prst="rect">
            <a:avLst/>
          </a:prstGeom>
          <a:ln w="28575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h27cis05\Pictures\liner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852935"/>
            <a:ext cx="3816424" cy="3042233"/>
          </a:xfrm>
          <a:prstGeom prst="rect">
            <a:avLst/>
          </a:prstGeom>
          <a:ln w="28575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2241370" y="6093296"/>
            <a:ext cx="64633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拡大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272440" y="6093296"/>
            <a:ext cx="64633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縮小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97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h27cis05\Pictures\liner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12584"/>
            <a:ext cx="3724138" cy="3781425"/>
          </a:xfrm>
          <a:prstGeom prst="rect">
            <a:avLst/>
          </a:prstGeom>
          <a:ln w="28575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h27cis05\Pictures\liner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797200"/>
            <a:ext cx="3724138" cy="3780000"/>
          </a:xfrm>
          <a:prstGeom prst="rect">
            <a:avLst/>
          </a:prstGeom>
          <a:ln w="28575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ja-JP" altLang="en-US" dirty="0" smtClean="0"/>
              <a:t>・最適値条件式の</a:t>
            </a:r>
            <a:r>
              <a:rPr kumimoji="1" lang="ja-JP" altLang="en-US" dirty="0" smtClean="0">
                <a:solidFill>
                  <a:schemeClr val="accent4"/>
                </a:solidFill>
              </a:rPr>
              <a:t>増減ボタン</a:t>
            </a:r>
            <a:r>
              <a:rPr kumimoji="1" lang="ja-JP" altLang="en-US" dirty="0" smtClean="0"/>
              <a:t>機能を実装</a:t>
            </a:r>
            <a:endParaRPr kumimoji="1" lang="en-US" altLang="ja-JP" dirty="0" smtClean="0"/>
          </a:p>
          <a:p>
            <a:pPr marL="109728" indent="0">
              <a:buNone/>
            </a:pPr>
            <a:endParaRPr kumimoji="1" lang="ja-JP" altLang="en-US" dirty="0"/>
          </a:p>
        </p:txBody>
      </p:sp>
      <p:pic>
        <p:nvPicPr>
          <p:cNvPr id="6146" name="Picture 2" descr="C:\Users\h27cis05\Pictures\liner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12583"/>
            <a:ext cx="3724138" cy="3781425"/>
          </a:xfrm>
          <a:prstGeom prst="rect">
            <a:avLst/>
          </a:prstGeom>
          <a:ln w="28575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h27cis05\Pictures\liner0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22" r="52794"/>
          <a:stretch/>
        </p:blipFill>
        <p:spPr bwMode="auto">
          <a:xfrm>
            <a:off x="5148064" y="3640440"/>
            <a:ext cx="2808312" cy="1585118"/>
          </a:xfrm>
          <a:prstGeom prst="rect">
            <a:avLst/>
          </a:prstGeom>
          <a:ln w="19050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5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ja-JP" altLang="en-US" sz="3200" dirty="0" smtClean="0"/>
              <a:t>実装予定内容</a:t>
            </a:r>
            <a:endParaRPr kumimoji="1" lang="en-US" altLang="ja-JP" sz="3200" dirty="0" smtClean="0"/>
          </a:p>
          <a:p>
            <a:pPr marL="109728" indent="0">
              <a:buNone/>
            </a:pPr>
            <a:endParaRPr kumimoji="1" lang="en-US" altLang="ja-JP" sz="3200" dirty="0" smtClean="0"/>
          </a:p>
          <a:p>
            <a:pPr marL="109728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・追加用の制約条件式実装</a:t>
            </a:r>
            <a:r>
              <a:rPr lang="en-US" altLang="ja-JP" dirty="0" smtClean="0"/>
              <a:t>(</a:t>
            </a:r>
            <a:r>
              <a:rPr lang="ja-JP" altLang="en-US" dirty="0" smtClean="0"/>
              <a:t>システム概要①</a:t>
            </a:r>
            <a:r>
              <a:rPr lang="en-US" altLang="ja-JP" dirty="0" smtClean="0"/>
              <a:t>)</a:t>
            </a:r>
          </a:p>
          <a:p>
            <a:pPr marL="109728" indent="0">
              <a:buNone/>
            </a:pPr>
            <a:r>
              <a:rPr lang="ja-JP" altLang="en-US" dirty="0" smtClean="0"/>
              <a:t>　・最適値条件式グラフの微変更</a:t>
            </a:r>
            <a:endParaRPr kumimoji="1" lang="en-US" altLang="ja-JP" dirty="0" smtClean="0"/>
          </a:p>
          <a:p>
            <a:pPr marL="109728" indent="0">
              <a:buNone/>
            </a:pPr>
            <a:r>
              <a:rPr kumimoji="1" lang="ja-JP" altLang="en-US" dirty="0" smtClean="0"/>
              <a:t>　 </a:t>
            </a:r>
            <a:r>
              <a:rPr kumimoji="1" lang="en-US" altLang="ja-JP" dirty="0" smtClean="0"/>
              <a:t>(2D</a:t>
            </a:r>
            <a:r>
              <a:rPr kumimoji="1" lang="ja-JP" altLang="en-US" dirty="0" smtClean="0"/>
              <a:t>グラフの色変更や領域表示</a:t>
            </a:r>
            <a:r>
              <a:rPr kumimoji="1" lang="en-US" altLang="ja-JP" dirty="0" smtClean="0"/>
              <a:t>,</a:t>
            </a:r>
            <a:r>
              <a:rPr kumimoji="1" lang="ja-JP" altLang="en-US" dirty="0" smtClean="0"/>
              <a:t>交点表示など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33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今後の予定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kumimoji="1" lang="ja-JP" altLang="en-US" dirty="0" smtClean="0"/>
              <a:t>・</a:t>
            </a:r>
            <a:r>
              <a:rPr kumimoji="1" lang="en-US" altLang="ja-JP" sz="3200" dirty="0" smtClean="0"/>
              <a:t>”</a:t>
            </a:r>
            <a:r>
              <a:rPr kumimoji="1" lang="ja-JP" altLang="en-US" sz="3200" dirty="0" smtClean="0"/>
              <a:t>実装予定内容</a:t>
            </a:r>
            <a:r>
              <a:rPr kumimoji="1" lang="en-US" altLang="ja-JP" sz="3200" dirty="0" smtClean="0"/>
              <a:t>”</a:t>
            </a:r>
            <a:r>
              <a:rPr kumimoji="1" lang="ja-JP" altLang="en-US" dirty="0" smtClean="0"/>
              <a:t>を主とし研究を続ける</a:t>
            </a:r>
            <a:endParaRPr kumimoji="1" lang="en-US" altLang="ja-JP" dirty="0" smtClean="0"/>
          </a:p>
          <a:p>
            <a:pPr marL="109728" indent="0">
              <a:buNone/>
            </a:pPr>
            <a:endParaRPr kumimoji="1" lang="en-US" altLang="ja-JP" dirty="0" smtClean="0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389202"/>
              </p:ext>
            </p:extLst>
          </p:nvPr>
        </p:nvGraphicFramePr>
        <p:xfrm>
          <a:off x="899592" y="3068961"/>
          <a:ext cx="7412712" cy="2736303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3706356"/>
                <a:gridCol w="3706356"/>
              </a:tblGrid>
              <a:tr h="5472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500" kern="100" dirty="0">
                          <a:effectLst/>
                        </a:rPr>
                        <a:t>12</a:t>
                      </a:r>
                      <a:r>
                        <a:rPr lang="ja-JP" sz="2500" kern="100" dirty="0">
                          <a:effectLst/>
                        </a:rPr>
                        <a:t>月</a:t>
                      </a:r>
                      <a:endParaRPr lang="ja-JP" sz="25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166647" marR="1666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500" kern="100" dirty="0">
                          <a:effectLst/>
                        </a:rPr>
                        <a:t>制約条件式の改良</a:t>
                      </a:r>
                      <a:endParaRPr lang="ja-JP" sz="25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166647" marR="166647" marT="0" marB="0"/>
                </a:tc>
              </a:tr>
              <a:tr h="16417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500" kern="100">
                          <a:effectLst/>
                        </a:rPr>
                        <a:t>1</a:t>
                      </a:r>
                      <a:r>
                        <a:rPr lang="ja-JP" sz="2500" kern="100">
                          <a:effectLst/>
                        </a:rPr>
                        <a:t>月</a:t>
                      </a:r>
                      <a:endParaRPr lang="ja-JP" sz="2500" kern="10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166647" marR="1666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500" kern="100" dirty="0">
                          <a:effectLst/>
                        </a:rPr>
                        <a:t>最適値条件式グラフ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500" kern="100" dirty="0">
                          <a:effectLst/>
                        </a:rPr>
                        <a:t>その他グラフの改良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500" kern="100" dirty="0">
                          <a:effectLst/>
                        </a:rPr>
                        <a:t>卒業論文・発表準備</a:t>
                      </a:r>
                      <a:endParaRPr lang="ja-JP" sz="25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166647" marR="166647" marT="0" marB="0"/>
                </a:tc>
              </a:tr>
              <a:tr h="5472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500" kern="100">
                          <a:effectLst/>
                        </a:rPr>
                        <a:t>2</a:t>
                      </a:r>
                      <a:r>
                        <a:rPr lang="ja-JP" sz="2500" kern="100">
                          <a:effectLst/>
                        </a:rPr>
                        <a:t>月</a:t>
                      </a:r>
                      <a:endParaRPr lang="ja-JP" sz="2500" kern="10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166647" marR="1666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500" kern="100" dirty="0">
                          <a:effectLst/>
                        </a:rPr>
                        <a:t>卒業論文・発表準備</a:t>
                      </a:r>
                      <a:endParaRPr lang="ja-JP" sz="2500" kern="100" dirty="0">
                        <a:effectLst/>
                        <a:latin typeface="Courier New"/>
                        <a:ea typeface="ＭＳ 明朝"/>
                        <a:cs typeface="Times New Roman"/>
                      </a:endParaRPr>
                    </a:p>
                  </a:txBody>
                  <a:tcPr marL="166647" marR="166647" marT="0" marB="0"/>
                </a:tc>
              </a:tr>
            </a:tbl>
          </a:graphicData>
        </a:graphic>
      </p:graphicFrame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26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参考文献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/>
              <a:t>線形計画法 著者</a:t>
            </a:r>
            <a:r>
              <a:rPr lang="en-US" altLang="ja-JP" sz="2000" dirty="0"/>
              <a:t>:</a:t>
            </a:r>
            <a:r>
              <a:rPr lang="ja-JP" altLang="ja-JP" sz="2000" dirty="0"/>
              <a:t>並木 誠</a:t>
            </a:r>
          </a:p>
          <a:p>
            <a:pPr marL="0" indent="0">
              <a:buNone/>
            </a:pPr>
            <a:r>
              <a:rPr lang="en-US" altLang="ja-JP" sz="2000" dirty="0"/>
              <a:t>(</a:t>
            </a:r>
            <a:r>
              <a:rPr lang="en-US" altLang="ja-JP" sz="2000" u="sng" dirty="0">
                <a:hlinkClick r:id="rId2"/>
              </a:rPr>
              <a:t>http://www.asakura.co.jp/books/isbn/978-4-254-11786-8/</a:t>
            </a:r>
            <a:r>
              <a:rPr lang="en-US" altLang="ja-JP" sz="2000" dirty="0"/>
              <a:t>)</a:t>
            </a:r>
            <a:endParaRPr lang="ja-JP" altLang="ja-JP" sz="2000" dirty="0"/>
          </a:p>
          <a:p>
            <a:r>
              <a:rPr lang="ja-JP" altLang="ja-JP" sz="2000" dirty="0"/>
              <a:t>線形計画法の基礎と応用　著者</a:t>
            </a:r>
            <a:r>
              <a:rPr lang="en-US" altLang="ja-JP" sz="2000" dirty="0"/>
              <a:t>:</a:t>
            </a:r>
            <a:r>
              <a:rPr lang="ja-JP" altLang="ja-JP" sz="2000" dirty="0"/>
              <a:t>坂和 正敏</a:t>
            </a:r>
          </a:p>
          <a:p>
            <a:pPr marL="0" indent="0">
              <a:buNone/>
            </a:pPr>
            <a:r>
              <a:rPr lang="en-US" altLang="ja-JP" sz="2000" dirty="0"/>
              <a:t>(</a:t>
            </a:r>
            <a:r>
              <a:rPr lang="en-US" altLang="ja-JP" sz="2000" u="sng" dirty="0">
                <a:hlinkClick r:id="rId3"/>
              </a:rPr>
              <a:t>http://www.asakura.co.jp/books/isbn/978-4-254-27556-8</a:t>
            </a:r>
            <a:r>
              <a:rPr lang="en-US" altLang="ja-JP" sz="2800" u="sng" dirty="0">
                <a:hlinkClick r:id="rId3"/>
              </a:rPr>
              <a:t>/</a:t>
            </a:r>
            <a:r>
              <a:rPr lang="en-US" altLang="ja-JP" sz="2800" dirty="0"/>
              <a:t>)</a:t>
            </a:r>
            <a:endParaRPr lang="ja-JP" altLang="ja-JP" sz="2800" dirty="0"/>
          </a:p>
          <a:p>
            <a:endParaRPr kumimoji="1" lang="ja-JP" altLang="en-US" dirty="0"/>
          </a:p>
        </p:txBody>
      </p:sp>
      <p:pic>
        <p:nvPicPr>
          <p:cNvPr id="4" name="図 3" descr="C:\Users\h27cis05\Pictures\41zMZsX3gLL._SX298_BO1,204,203,200_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83022"/>
            <a:ext cx="1728192" cy="243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 descr="C:\Users\h27cis05\Pictures\9784254275568.jp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996735"/>
            <a:ext cx="1825486" cy="26048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0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参考サイト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Java Drive</a:t>
            </a:r>
          </a:p>
          <a:p>
            <a:pPr marL="109728" indent="0">
              <a:buNone/>
            </a:pPr>
            <a:r>
              <a:rPr lang="ja-JP" altLang="en-US" dirty="0"/>
              <a:t>　</a:t>
            </a:r>
            <a:r>
              <a:rPr kumimoji="1" lang="en-US" altLang="ja-JP" dirty="0" smtClean="0"/>
              <a:t>(</a:t>
            </a:r>
            <a:r>
              <a:rPr kumimoji="1" lang="en-US" altLang="ja-JP" dirty="0" smtClean="0">
                <a:hlinkClick r:id="rId2"/>
              </a:rPr>
              <a:t>http://www.javadrive.jp/</a:t>
            </a:r>
            <a:r>
              <a:rPr kumimoji="1" lang="en-US" altLang="ja-JP" dirty="0" smtClean="0"/>
              <a:t>)</a:t>
            </a:r>
          </a:p>
          <a:p>
            <a:endParaRPr lang="en-US" altLang="ja-JP" dirty="0"/>
          </a:p>
          <a:p>
            <a:r>
              <a:rPr kumimoji="1" lang="ja-JP" altLang="en-US" dirty="0" smtClean="0"/>
              <a:t>はじめての</a:t>
            </a:r>
            <a:r>
              <a:rPr kumimoji="1" lang="en-US" altLang="ja-JP" dirty="0" smtClean="0"/>
              <a:t>Java</a:t>
            </a:r>
            <a:r>
              <a:rPr kumimoji="1" lang="ja-JP" altLang="en-US" dirty="0" smtClean="0"/>
              <a:t>入門</a:t>
            </a:r>
            <a:r>
              <a:rPr kumimoji="1" lang="en-US" altLang="ja-JP" dirty="0" smtClean="0"/>
              <a:t>(</a:t>
            </a:r>
            <a:r>
              <a:rPr kumimoji="1" lang="en-US" altLang="ja-JP" dirty="0" smtClean="0">
                <a:hlinkClick r:id="rId3"/>
              </a:rPr>
              <a:t>http://www1.bbiq.jp/takeharu/</a:t>
            </a:r>
            <a:r>
              <a:rPr kumimoji="1" lang="en-US" altLang="ja-JP" dirty="0" smtClean="0"/>
              <a:t>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D1B0-1961-4958-AFA4-83560CEAEA0F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61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アーバン">
  <a:themeElements>
    <a:clrScheme name="アーバン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アーバン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アーバン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1103</TotalTime>
  <Words>358</Words>
  <Application>Microsoft Office PowerPoint</Application>
  <PresentationFormat>画面に合わせる (4:3)</PresentationFormat>
  <Paragraphs>131</Paragraphs>
  <Slides>22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3" baseType="lpstr">
      <vt:lpstr>アーバン</vt:lpstr>
      <vt:lpstr>線形計画法を用いた 最適化アプリケーション</vt:lpstr>
      <vt:lpstr>発表内容</vt:lpstr>
      <vt:lpstr>はじめに</vt:lpstr>
      <vt:lpstr>はじめに　</vt:lpstr>
      <vt:lpstr>研究概要</vt:lpstr>
      <vt:lpstr>研究概要</vt:lpstr>
      <vt:lpstr>システム概要</vt:lpstr>
      <vt:lpstr>システム概要</vt:lpstr>
      <vt:lpstr>条件式</vt:lpstr>
      <vt:lpstr>システム概要</vt:lpstr>
      <vt:lpstr>システム概要</vt:lpstr>
      <vt:lpstr>システム概要(フローチャート例)</vt:lpstr>
      <vt:lpstr>進捗状況</vt:lpstr>
      <vt:lpstr>進捗状況</vt:lpstr>
      <vt:lpstr>進捗状況</vt:lpstr>
      <vt:lpstr>進捗状況</vt:lpstr>
      <vt:lpstr>進捗状況</vt:lpstr>
      <vt:lpstr>進捗状況</vt:lpstr>
      <vt:lpstr>進捗状況</vt:lpstr>
      <vt:lpstr>今後の予定</vt:lpstr>
      <vt:lpstr>参考文献</vt:lpstr>
      <vt:lpstr>参考サイト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線形計画法を用いた 最適化アプリケーション</dc:title>
  <dc:creator>h27cis05</dc:creator>
  <cp:lastModifiedBy>h27cis05</cp:lastModifiedBy>
  <cp:revision>23</cp:revision>
  <cp:lastPrinted>2016-12-21T07:01:55Z</cp:lastPrinted>
  <dcterms:created xsi:type="dcterms:W3CDTF">2016-12-13T00:17:01Z</dcterms:created>
  <dcterms:modified xsi:type="dcterms:W3CDTF">2016-12-22T01:22:06Z</dcterms:modified>
</cp:coreProperties>
</file>